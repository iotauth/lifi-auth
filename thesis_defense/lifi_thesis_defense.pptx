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15.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3" r:id="rId1"/>
    <p:sldMasterId id="2147483815" r:id="rId2"/>
  </p:sldMasterIdLst>
  <p:notesMasterIdLst>
    <p:notesMasterId r:id="rId41"/>
  </p:notesMasterIdLst>
  <p:sldIdLst>
    <p:sldId id="256" r:id="rId3"/>
    <p:sldId id="295" r:id="rId4"/>
    <p:sldId id="297" r:id="rId5"/>
    <p:sldId id="301" r:id="rId6"/>
    <p:sldId id="310" r:id="rId7"/>
    <p:sldId id="258" r:id="rId8"/>
    <p:sldId id="259" r:id="rId9"/>
    <p:sldId id="260" r:id="rId10"/>
    <p:sldId id="347" r:id="rId11"/>
    <p:sldId id="349" r:id="rId12"/>
    <p:sldId id="263" r:id="rId13"/>
    <p:sldId id="264" r:id="rId14"/>
    <p:sldId id="265" r:id="rId15"/>
    <p:sldId id="336" r:id="rId16"/>
    <p:sldId id="266" r:id="rId17"/>
    <p:sldId id="267" r:id="rId18"/>
    <p:sldId id="268" r:id="rId19"/>
    <p:sldId id="269" r:id="rId20"/>
    <p:sldId id="270" r:id="rId21"/>
    <p:sldId id="271" r:id="rId22"/>
    <p:sldId id="272" r:id="rId23"/>
    <p:sldId id="337" r:id="rId24"/>
    <p:sldId id="338" r:id="rId25"/>
    <p:sldId id="274" r:id="rId26"/>
    <p:sldId id="273" r:id="rId27"/>
    <p:sldId id="275" r:id="rId28"/>
    <p:sldId id="276" r:id="rId29"/>
    <p:sldId id="277" r:id="rId30"/>
    <p:sldId id="335" r:id="rId31"/>
    <p:sldId id="278" r:id="rId32"/>
    <p:sldId id="279" r:id="rId33"/>
    <p:sldId id="280" r:id="rId34"/>
    <p:sldId id="281" r:id="rId35"/>
    <p:sldId id="282" r:id="rId36"/>
    <p:sldId id="283" r:id="rId37"/>
    <p:sldId id="284" r:id="rId38"/>
    <p:sldId id="285" r:id="rId39"/>
    <p:sldId id="28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BE4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83715" autoAdjust="0"/>
  </p:normalViewPr>
  <p:slideViewPr>
    <p:cSldViewPr snapToGrid="0" snapToObjects="1">
      <p:cViewPr varScale="1">
        <p:scale>
          <a:sx n="92" d="100"/>
          <a:sy n="92" d="100"/>
        </p:scale>
        <p:origin x="836"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5975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A393-18D5-EDE7-CD35-995024067B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5084F-E59A-FF53-B187-FB4D2939B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FE8F625-E999-FDD4-5304-8EE2DE2DF312}"/>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5922F708-56AD-89A9-08FB-33CC95A44669}"/>
              </a:ext>
            </a:extLst>
          </p:cNvPr>
          <p:cNvSpPr>
            <a:spLocks noGrp="1"/>
          </p:cNvSpPr>
          <p:nvPr>
            <p:ph type="sldNum" sz="quarter" idx="5"/>
          </p:nvPr>
        </p:nvSpPr>
        <p:spPr/>
      </p:sp>
    </p:spTree>
    <p:extLst>
      <p:ext uri="{BB962C8B-B14F-4D97-AF65-F5344CB8AC3E}">
        <p14:creationId xmlns:p14="http://schemas.microsoft.com/office/powerpoint/2010/main" val="4195695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0F04A-A1DF-F3EB-015D-143269160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5A51D-9F5C-F36B-A51B-53FC63150B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0E5A8D-85AC-836B-BE82-FE843B4C9EC1}"/>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BFBDEE52-874E-31DC-2C65-3848C8F5F549}"/>
              </a:ext>
            </a:extLst>
          </p:cNvPr>
          <p:cNvSpPr>
            <a:spLocks noGrp="1"/>
          </p:cNvSpPr>
          <p:nvPr>
            <p:ph type="sldNum" sz="quarter" idx="5"/>
          </p:nvPr>
        </p:nvSpPr>
        <p:spPr/>
      </p:sp>
    </p:spTree>
    <p:extLst>
      <p:ext uri="{BB962C8B-B14F-4D97-AF65-F5344CB8AC3E}">
        <p14:creationId xmlns:p14="http://schemas.microsoft.com/office/powerpoint/2010/main" val="2300523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399AE-44A9-7D49-F942-97AE1D699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62C7B-B517-639E-6E7A-2025FE315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D1A2B8-C87B-9192-ED39-99A15105FD20}"/>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8B367D80-5365-A9D8-2A47-CA5D77A8A204}"/>
              </a:ext>
            </a:extLst>
          </p:cNvPr>
          <p:cNvSpPr>
            <a:spLocks noGrp="1"/>
          </p:cNvSpPr>
          <p:nvPr>
            <p:ph type="sldNum" sz="quarter" idx="5"/>
          </p:nvPr>
        </p:nvSpPr>
        <p:spPr/>
      </p:sp>
    </p:spTree>
    <p:extLst>
      <p:ext uri="{BB962C8B-B14F-4D97-AF65-F5344CB8AC3E}">
        <p14:creationId xmlns:p14="http://schemas.microsoft.com/office/powerpoint/2010/main" val="2098819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 the IoTAuth host is used only at provisioning time, not in the runtime data path. The orange arrow is the one that matters: the optical channel, one-way, is the whole security argument. Below the divider is the on-device monitoring path — the receiver makes its own revocation decision in firmware and reports it over USB serial — drawn separately and grayed out on purpose, because it is implementation, not part of the security model above it. Flag here that the reported occlusion-test numbers predate this on-device decision logic — you'll return to why on the methodology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things happen with Auth in the loop that are easy to miss if you only think of provisioning as a one-time boot-up handshake. Phase one: a device entering a room broadcasts only its non-secret 8-byte key ID over light — never the session key itself. If the receiver doesn't already recognize that ID locally, it performs what the code literally calls a roaming lookup — get_session_key_by_ID over mutual TLS to the Auth server. Auth can return the session key for a valid, registered device, or reject the request outright for an unknown or revoked one. That rejection path is a second, distinct revocation mechanism from G4: G4 revokes because the physical light signal stopped; this revokes because Auth, administratively, said no — identity-layer revocation versus physical-layer revocation, and they're complementary, not redundant. Phase two: at any point after that, the receiver can issue a live HMAC challenge to the sender over the same optical or UART link — a fresh random challenge, HMAC-SHA256 under the session MAC key, AES-GCM-encrypted response, compared locally. That's a stronger, on-demand proof of live key possession, layered on top of the passive 'this frame decrypted successfully' freshness check the whole G1/G4 evaluation is built on. If asked why both mechanisms exist: the passive heartbeat check is what's continuously measured in the evaluation section; the active challenge is available whenever a stronger, interactive proof is warranted, without adding new hardware or a new channel.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measurement-provenance caveat proactively and plainly, in the same tone as every other sentence on this slide — don't let your delivery shift when you get to it. The frame-level parsing and crypto were always on-device; only the revocation decision (the Δ timer) was external at measurement time, mirroring the same logic that's now been moved on-device. If pressed: this was a deliberate sequencing choice — get clean, directly-instrumented protocol events first, then move the decision itself on-device once the wire-level logic was validated.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strip plots: time-to-revoke on the left, time-to-reverify on the right, two trial batches each. Blue is the as-deployed condition, 5-second external-monitor polling — 21 trials. Orange is fine-grained 0.2-second polling —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 essentially exactly the 15-second freshness window plus about a tenth of a second of fixed processing overhead. That's the G4 evidence: revocation on interruption, enforced precisely. On the right, re-verification after unblocking is consistently under 1.5 seconds in both batches, bounded above by the 2.5-second heartbeat interval as expected.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in one timeline.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back to slide 10's scorecard, now with evidence in the last column instead of just mechanism. Read it goal by goal, evidence-first: this is the moment to sound confident, because everything in the 'evidence' column is a number you already showed them on the previous four slides — you're not introducing anything new here, just tying it together.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limitations, read at the same pace and volume as everything else in the talk — don't rush through this slide to get past it. The last bullet is the one to make sure lands clearly: it's not a hedge, it's a specific, named, checkable pending item, and you should be ready to say what 'confirming' it concretely means — rerunning the occlusion test against the receiver's on-device presence decision (presence_check_decay()), which was ported onto receiver_pico/src/main.c after these numbers were collected.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and the grouping itself is the point: the left column closes gaps you already admitted to earlier in the talk — G3's distance-bounding, the on-device confirmation, formal verification — while the right column extends capability the system already has. Say the grouping out loud rather than just reading bullets: it signals you know what matters most next, rather than reciting a flat wish list.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DDC8F-3F9B-FAF2-D627-9F1A7DF59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ED9F6-4412-0D6D-B382-95221179D5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D87C97-12D5-9BA8-C5A7-F5DA643CB913}"/>
              </a:ext>
            </a:extLst>
          </p:cNvPr>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a:extLst>
              <a:ext uri="{FF2B5EF4-FFF2-40B4-BE49-F238E27FC236}">
                <a16:creationId xmlns:a16="http://schemas.microsoft.com/office/drawing/2014/main" id="{023BFCE3-00FC-F104-073A-FE7407711B20}"/>
              </a:ext>
            </a:extLst>
          </p:cNvPr>
          <p:cNvSpPr>
            <a:spLocks noGrp="1"/>
          </p:cNvSpPr>
          <p:nvPr>
            <p:ph type="sldNum" sz="quarter" idx="5"/>
          </p:nvPr>
        </p:nvSpPr>
        <p:spPr/>
      </p:sp>
    </p:spTree>
    <p:extLst>
      <p:ext uri="{BB962C8B-B14F-4D97-AF65-F5344CB8AC3E}">
        <p14:creationId xmlns:p14="http://schemas.microsoft.com/office/powerpoint/2010/main" val="2613336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needed if asked to justify why three separate receiver binaries exist rather than one. The honest answer: they correspond to three different Auth interaction models that were useful to isolate during development and evaluation — a proactive key-manager, a full combined session app, and a pure discovery/roaming client — not three independent implementations of the security logic, which is shared underneath via the same SST C API and the same replay/freshness code paths.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8.png"/><Relationship Id="rId9" Type="http://schemas.openxmlformats.org/officeDocument/2006/relationships/image" Target="../media/image9.svg"/><Relationship Id="rId10" Type="http://schemas.openxmlformats.org/officeDocument/2006/relationships/image" Target="../media/image10.png"/><Relationship Id="rId11" Type="http://schemas.openxmlformats.org/officeDocument/2006/relationships/image" Target="../media/image11.svg"/><Relationship Id="rId12" Type="http://schemas.openxmlformats.org/officeDocument/2006/relationships/image" Target="../media/image12.png"/><Relationship Id="rId13" Type="http://schemas.openxmlformats.org/officeDocument/2006/relationships/image" Target="../media/image13.svg"/><Relationship Id="rId14" Type="http://schemas.openxmlformats.org/officeDocument/2006/relationships/image" Target="../media/image14.png"/><Relationship Id="rId15"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2"/>
          <p:cNvSpPr txBox="1"/>
          <p:nvPr/>
        </p:nvSpPr>
        <p:spPr>
          <a:xfrm>
            <a:off x="822960" y="1965959"/>
            <a:ext cx="41010840" cy="1477328"/>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pic>
        <p:nvPicPr>
          <p:cNvPr id="7" name="Picture 6" descr="A white background with text&#10;&#10;AI-generated content may be incorrect.">
            <a:extLst>
              <a:ext uri="{FF2B5EF4-FFF2-40B4-BE49-F238E27FC236}">
                <a16:creationId xmlns:a16="http://schemas.microsoft.com/office/drawing/2014/main" id="{2DFD8899-2D82-E291-5E54-99E985244C48}"/>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EFA42346-6719-6C5D-7757-8C68151DFFD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10D0B216-0C5E-0478-D42C-13260F089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6E05FE2-52ED-43F1-99C7-F5E03453C43E}"/>
              </a:ext>
            </a:extLst>
          </p:cNvPr>
          <p:cNvSpPr txBox="1"/>
          <p:nvPr/>
        </p:nvSpPr>
        <p:spPr>
          <a:xfrm>
            <a:off x="518160" y="873400"/>
            <a:ext cx="11155680" cy="538609"/>
          </a:xfrm>
          <a:prstGeom prst="rect">
            <a:avLst/>
          </a:prstGeom>
          <a:noFill/>
        </p:spPr>
        <p:txBody>
          <a:bodyPr wrap="square">
            <a:spAutoFit/>
          </a:bodyPr>
          <a:lstStyle/>
          <a:p>
            <a:r>
              <a:rPr lang="en-US" sz="2900" b="1" dirty="0">
                <a:solidFill>
                  <a:srgbClr val="0B0B0B"/>
                </a:solidFill>
                <a:latin typeface="Calibri"/>
              </a:rPr>
              <a:t>Outline</a:t>
            </a:r>
            <a:endParaRPr sz="2900" b="1" dirty="0">
              <a:solidFill>
                <a:srgbClr val="0B0B0B"/>
              </a:solidFill>
              <a:latin typeface="Calibri"/>
            </a:endParaRPr>
          </a:p>
        </p:txBody>
      </p:sp>
      <p:pic>
        <p:nvPicPr>
          <p:cNvPr id="5" name="Picture 4" descr="A white background with text&#10;&#10;AI-generated content may be incorrect.">
            <a:extLst>
              <a:ext uri="{FF2B5EF4-FFF2-40B4-BE49-F238E27FC236}">
                <a16:creationId xmlns:a16="http://schemas.microsoft.com/office/drawing/2014/main" id="{42A61C13-D085-DFC5-9AEA-C90D5199DE51}"/>
              </a:ext>
            </a:extLst>
          </p:cNvPr>
          <p:cNvPicPr>
            <a:picLocks noChangeAspect="1"/>
          </p:cNvPicPr>
          <p:nvPr/>
        </p:nvPicPr>
        <p:blipFill>
          <a:blip r:embed="rId3"/>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06761257-14A6-2378-ED68-4FF7DBB9C84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90" name="Rule"/>
          <p:cNvSpPr/>
          <p:nvPr/>
        </p:nvSpPr>
        <p:spPr>
          <a:xfrm>
            <a:off x="762000" y="1524000"/>
            <a:ext cx="1397000" cy="50800"/>
          </a:xfrm>
          <a:prstGeom prst="rect">
            <a:avLst/>
          </a:prstGeom>
          <a:solidFill>
            <a:srgbClr val="8C1D40"/>
          </a:solidFill>
          <a:ln>
            <a:noFill/>
          </a:ln>
        </p:spPr>
        <p:txBody>
          <a:bodyPr/>
          <a:lstStyle/>
          <a:p>
            <a:endParaRPr lang="en-US"/>
          </a:p>
        </p:txBody>
      </p:sp>
      <p:sp>
        <p:nvSpPr>
          <p:cNvPr id="100" name="Card 100"/>
          <p:cNvSpPr/>
          <p:nvPr/>
        </p:nvSpPr>
        <p:spPr>
          <a:xfrm>
            <a:off x="762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LiFi Channel Background</a:t>
            </a:r>
          </a:p>
        </p:txBody>
      </p:sp>
      <p:sp>
        <p:nvSpPr>
          <p:cNvPr id="101" name="Badge 101"/>
          <p:cNvSpPr/>
          <p:nvPr/>
        </p:nvSpPr>
        <p:spPr>
          <a:xfrm>
            <a:off x="990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1</a:t>
            </a:r>
          </a:p>
        </p:txBody>
      </p:sp>
      <p:sp>
        <p:nvSpPr>
          <p:cNvPr id="102" name="Card 102"/>
          <p:cNvSpPr/>
          <p:nvPr/>
        </p:nvSpPr>
        <p:spPr>
          <a:xfrm>
            <a:off x="3492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Motivation</a:t>
            </a:r>
          </a:p>
        </p:txBody>
      </p:sp>
      <p:sp>
        <p:nvSpPr>
          <p:cNvPr id="103" name="Badge 103"/>
          <p:cNvSpPr/>
          <p:nvPr/>
        </p:nvSpPr>
        <p:spPr>
          <a:xfrm>
            <a:off x="3721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2</a:t>
            </a:r>
          </a:p>
        </p:txBody>
      </p:sp>
      <p:sp>
        <p:nvSpPr>
          <p:cNvPr id="104" name="Card 104"/>
          <p:cNvSpPr/>
          <p:nvPr/>
        </p:nvSpPr>
        <p:spPr>
          <a:xfrm>
            <a:off x="6223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Problem Statement / Gap</a:t>
            </a:r>
          </a:p>
        </p:txBody>
      </p:sp>
      <p:sp>
        <p:nvSpPr>
          <p:cNvPr id="105" name="Badge 105"/>
          <p:cNvSpPr/>
          <p:nvPr/>
        </p:nvSpPr>
        <p:spPr>
          <a:xfrm>
            <a:off x="6451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3</a:t>
            </a:r>
          </a:p>
        </p:txBody>
      </p:sp>
      <p:sp>
        <p:nvSpPr>
          <p:cNvPr id="106" name="Card 106"/>
          <p:cNvSpPr/>
          <p:nvPr/>
        </p:nvSpPr>
        <p:spPr>
          <a:xfrm>
            <a:off x="8953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Related Work</a:t>
            </a:r>
          </a:p>
        </p:txBody>
      </p:sp>
      <p:sp>
        <p:nvSpPr>
          <p:cNvPr id="107" name="Badge 107"/>
          <p:cNvSpPr/>
          <p:nvPr/>
        </p:nvSpPr>
        <p:spPr>
          <a:xfrm>
            <a:off x="9182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4</a:t>
            </a:r>
          </a:p>
        </p:txBody>
      </p:sp>
      <p:sp>
        <p:nvSpPr>
          <p:cNvPr id="108" name="Card 108"/>
          <p:cNvSpPr/>
          <p:nvPr/>
        </p:nvSpPr>
        <p:spPr>
          <a:xfrm>
            <a:off x="762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System Design: LiFi-auth</a:t>
            </a:r>
          </a:p>
        </p:txBody>
      </p:sp>
      <p:sp>
        <p:nvSpPr>
          <p:cNvPr id="109" name="Badge 109"/>
          <p:cNvSpPr/>
          <p:nvPr/>
        </p:nvSpPr>
        <p:spPr>
          <a:xfrm>
            <a:off x="990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5</a:t>
            </a:r>
          </a:p>
        </p:txBody>
      </p:sp>
      <p:sp>
        <p:nvSpPr>
          <p:cNvPr id="110" name="Card 110"/>
          <p:cNvSpPr/>
          <p:nvPr/>
        </p:nvSpPr>
        <p:spPr>
          <a:xfrm>
            <a:off x="34925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Implementation Details</a:t>
            </a:r>
          </a:p>
        </p:txBody>
      </p:sp>
      <p:sp>
        <p:nvSpPr>
          <p:cNvPr id="111" name="Badge 111"/>
          <p:cNvSpPr/>
          <p:nvPr/>
        </p:nvSpPr>
        <p:spPr>
          <a:xfrm>
            <a:off x="37211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6</a:t>
            </a:r>
          </a:p>
        </p:txBody>
      </p:sp>
      <p:sp>
        <p:nvSpPr>
          <p:cNvPr id="112" name="Card 112"/>
          <p:cNvSpPr/>
          <p:nvPr/>
        </p:nvSpPr>
        <p:spPr>
          <a:xfrm>
            <a:off x="6223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Evaluation / Results</a:t>
            </a:r>
          </a:p>
        </p:txBody>
      </p:sp>
      <p:sp>
        <p:nvSpPr>
          <p:cNvPr id="113" name="Badge 113"/>
          <p:cNvSpPr/>
          <p:nvPr/>
        </p:nvSpPr>
        <p:spPr>
          <a:xfrm>
            <a:off x="6451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7</a:t>
            </a:r>
          </a:p>
        </p:txBody>
      </p:sp>
    </p:spTree>
    <p:extLst>
      <p:ext uri="{BB962C8B-B14F-4D97-AF65-F5344CB8AC3E}">
        <p14:creationId xmlns:p14="http://schemas.microsoft.com/office/powerpoint/2010/main" val="1417810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F81C4F5C-CFE8-9C95-A50D-71E170EBA4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3986E0-BE82-AB20-A8C0-AA0E891A3C5F}"/>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What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6" name="Picture 5">
            <a:extLst>
              <a:ext uri="{FF2B5EF4-FFF2-40B4-BE49-F238E27FC236}">
                <a16:creationId xmlns:a16="http://schemas.microsoft.com/office/drawing/2014/main" id="{7694BFC2-C73A-9E25-BE1D-780FB8C2FAA7}"/>
              </a:ext>
            </a:extLst>
          </p:cNvPr>
          <p:cNvPicPr>
            <a:picLocks noChangeAspect="1"/>
          </p:cNvPicPr>
          <p:nvPr/>
        </p:nvPicPr>
        <p:blipFill>
          <a:blip r:embed="rId3"/>
          <a:stretch>
            <a:fillRect/>
          </a:stretch>
        </p:blipFill>
        <p:spPr>
          <a:xfrm>
            <a:off x="6070600" y="1879600"/>
            <a:ext cx="5486400" cy="3352800"/>
          </a:xfrm>
          <a:prstGeom prst="rect">
            <a:avLst/>
          </a:prstGeom>
        </p:spPr>
      </p:pic>
      <p:sp>
        <p:nvSpPr>
          <p:cNvPr id="8" name="TextBox 7">
            <a:extLst>
              <a:ext uri="{FF2B5EF4-FFF2-40B4-BE49-F238E27FC236}">
                <a16:creationId xmlns:a16="http://schemas.microsoft.com/office/drawing/2014/main" id="{4F89115C-AB0D-9204-A5E5-97DE970990AA}"/>
              </a:ext>
            </a:extLst>
          </p:cNvPr>
          <p:cNvSpPr txBox="1"/>
          <p:nvPr/>
        </p:nvSpPr>
        <p:spPr>
          <a:xfrm>
            <a:off x="571500" y="1879600"/>
            <a:ext cx="5207000" cy="3454400"/>
          </a:xfrm>
          <a:prstGeom prst="rect">
            <a:avLst/>
          </a:prstGeom>
          <a:noFill/>
        </p:spPr>
        <p:txBody>
          <a:bodyPr wrap="square" anchor="t">
            <a:spAutoFit/>
          </a:bodyPr>
          <a:lstStyle/>
          <a:p>
            <a:pPr marL="228600" indent="-228600">
              <a:lnSpc>
                <a:spcPct val="100000"/>
              </a:lnSpc>
              <a:spcAft>
                <a:spcPts val="1800"/>
              </a:spcAft>
              <a:buFont typeface="Arial"/>
              <a:buChar char="•"/>
            </a:pPr>
            <a:r>
              <a:rPr lang="en-US" sz="1700" dirty="0">
                <a:solidFill>
                  <a:srgbClr val="2E2E2E"/>
                </a:solidFill>
              </a:rPr>
              <a:t>Wireless data carried on light instead of radio waves</a:t>
            </a:r>
          </a:p>
          <a:p>
            <a:pPr marL="228600" indent="-228600">
              <a:lnSpc>
                <a:spcPct val="100000"/>
              </a:lnSpc>
              <a:spcAft>
                <a:spcPts val="1800"/>
              </a:spcAft>
              <a:buFont typeface="Arial"/>
              <a:buChar char="•"/>
            </a:pPr>
            <a:r>
              <a:rPr lang="en-US" sz="1700" dirty="0">
                <a:solidFill>
                  <a:srgbClr val="2E2E2E"/>
                </a:solidFill>
              </a:rPr>
              <a:t>LEDs switched on and off (OOK) far faster than the eye can perceive</a:t>
            </a:r>
          </a:p>
          <a:p>
            <a:pPr marL="228600" indent="-228600">
              <a:lnSpc>
                <a:spcPct val="100000"/>
              </a:lnSpc>
              <a:spcAft>
                <a:spcPts val="1800"/>
              </a:spcAft>
              <a:buFont typeface="Arial"/>
              <a:buChar char="•"/>
            </a:pPr>
            <a:r>
              <a:rPr lang="en-US" sz="1700" dirty="0">
                <a:solidFill>
                  <a:srgbClr val="2E2E2E"/>
                </a:solidFill>
              </a:rPr>
              <a:t>Light is confined by walls and surfaces — the channel ends at the room boundary</a:t>
            </a:r>
          </a:p>
          <a:p>
            <a:pPr marL="228600" indent="-228600">
              <a:lnSpc>
                <a:spcPct val="100000"/>
              </a:lnSpc>
              <a:spcAft>
                <a:spcPts val="1800"/>
              </a:spcAft>
              <a:buFont typeface="Arial"/>
              <a:buChar char="•"/>
            </a:pPr>
            <a:r>
              <a:rPr lang="en-US" sz="1700" dirty="0">
                <a:solidFill>
                  <a:srgbClr val="2E2E2E"/>
                </a:solidFill>
              </a:rPr>
              <a:t>Line-of-sight link: LED downlink, photodiode uplink</a:t>
            </a:r>
          </a:p>
          <a:p>
            <a:pPr marL="228600" indent="-228600">
              <a:lnSpc>
                <a:spcPct val="100000"/>
              </a:lnSpc>
              <a:spcAft>
                <a:spcPts val="1800"/>
              </a:spcAft>
              <a:buFont typeface="Arial"/>
              <a:buChar char="•"/>
            </a:pPr>
            <a:r>
              <a:rPr lang="en-US" sz="1700" dirty="0">
                <a:solidFill>
                  <a:srgbClr val="2E2E2E"/>
                </a:solidFill>
              </a:rPr>
              <a:t>Standardized as IEEE 802.11bb, ratified June 2023</a:t>
            </a:r>
          </a:p>
        </p:txBody>
      </p:sp>
      <p:pic>
        <p:nvPicPr>
          <p:cNvPr id="11" name="Picture 10" descr="A white background with text&#10;&#10;AI-generated content may be incorrect.">
            <a:extLst>
              <a:ext uri="{FF2B5EF4-FFF2-40B4-BE49-F238E27FC236}">
                <a16:creationId xmlns:a16="http://schemas.microsoft.com/office/drawing/2014/main" id="{087D9B69-0AF3-08B2-82DB-03A226902BC6}"/>
              </a:ext>
            </a:extLst>
          </p:cNvPr>
          <p:cNvPicPr>
            <a:picLocks noChangeAspect="1"/>
          </p:cNvPicPr>
          <p:nvPr/>
        </p:nvPicPr>
        <p:blipFill>
          <a:blip r:embed="rId4"/>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A324EBA9-69DF-7F9A-CF41-9F62096826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00" name="Stat 200"/>
          <p:cNvSpPr/>
          <p:nvPr/>
        </p:nvSpPr>
        <p:spPr>
          <a:xfrm>
            <a:off x="5207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800–1000 nm</a:t>
            </a:r>
          </a:p>
          <a:p>
            <a:pPr algn="l">
              <a:buNone/>
            </a:pPr>
            <a:r>
              <a:rPr lang="en-US" sz="1400" dirty="0">
                <a:solidFill>
                  <a:srgbClr val="4A4A4A"/>
                </a:solidFill>
              </a:rPr>
              <a:t>802.11bb operating waveband</a:t>
            </a:r>
          </a:p>
        </p:txBody>
      </p:sp>
      <p:sp>
        <p:nvSpPr>
          <p:cNvPr id="201" name="Stat 201"/>
          <p:cNvSpPr/>
          <p:nvPr/>
        </p:nvSpPr>
        <p:spPr>
          <a:xfrm>
            <a:off x="42926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10 Mb/s – 9.6 Gb/s</a:t>
            </a:r>
          </a:p>
          <a:p>
            <a:pPr algn="l">
              <a:buNone/>
            </a:pPr>
            <a:r>
              <a:rPr lang="en-US" sz="1400" dirty="0">
                <a:solidFill>
                  <a:srgbClr val="4A4A4A"/>
                </a:solidFill>
              </a:rPr>
              <a:t>Standardized PHY data rates</a:t>
            </a:r>
          </a:p>
        </p:txBody>
      </p:sp>
      <p:sp>
        <p:nvSpPr>
          <p:cNvPr id="202" name="Stat 202"/>
          <p:cNvSpPr/>
          <p:nvPr/>
        </p:nvSpPr>
        <p:spPr>
          <a:xfrm>
            <a:off x="80645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Room-bound</a:t>
            </a:r>
          </a:p>
          <a:p>
            <a:pPr algn="l">
              <a:buNone/>
            </a:pPr>
            <a:r>
              <a:rPr lang="en-US" sz="1400" dirty="0">
                <a:solidFill>
                  <a:srgbClr val="4A4A4A"/>
                </a:solidFill>
              </a:rPr>
              <a:t>No signal propagates through walls</a:t>
            </a:r>
          </a:p>
        </p:txBody>
      </p:sp>
    </p:spTree>
    <p:extLst>
      <p:ext uri="{BB962C8B-B14F-4D97-AF65-F5344CB8AC3E}">
        <p14:creationId xmlns:p14="http://schemas.microsoft.com/office/powerpoint/2010/main" val="423782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E6660-6270-1916-A99F-6E20A75BB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EC0F69-66AE-75EF-901E-43A2D4AB83A0}"/>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Where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11" name="Picture 10" descr="A white background with text&#10;&#10;AI-generated content may be incorrect.">
            <a:extLst>
              <a:ext uri="{FF2B5EF4-FFF2-40B4-BE49-F238E27FC236}">
                <a16:creationId xmlns:a16="http://schemas.microsoft.com/office/drawing/2014/main" id="{A4461E7D-7A94-E522-EAD3-BC9AC2FD6958}"/>
              </a:ext>
            </a:extLst>
          </p:cNvPr>
          <p:cNvPicPr>
            <a:picLocks noChangeAspect="1"/>
          </p:cNvPicPr>
          <p:nvPr/>
        </p:nvPicPr>
        <p:blipFill>
          <a:blip r:embed="rId3"/>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1C95E7F5-D291-A85D-42A6-C5BBB9E8A68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pic>
        <p:nvPicPr>
          <p:cNvPr id="4" name="Picture 3">
            <a:extLst>
              <a:ext uri="{FF2B5EF4-FFF2-40B4-BE49-F238E27FC236}">
                <a16:creationId xmlns:a16="http://schemas.microsoft.com/office/drawing/2014/main" id="{7B31DEA5-EFB6-8524-01CA-DFF4204DE3C6}"/>
              </a:ext>
            </a:extLst>
          </p:cNvPr>
          <p:cNvPicPr>
            <a:picLocks noChangeAspect="1"/>
          </p:cNvPicPr>
          <p:nvPr/>
        </p:nvPicPr>
        <p:blipFill>
          <a:blip r:embed="rId4"/>
          <a:stretch>
            <a:fillRect/>
          </a:stretch>
        </p:blipFill>
        <p:spPr>
          <a:xfrm>
            <a:off x="5969000" y="1905000"/>
            <a:ext cx="5715000" cy="3124200"/>
          </a:xfrm>
          <a:prstGeom prst="rect">
            <a:avLst/>
          </a:prstGeom>
        </p:spPr>
      </p:pic>
      <p:sp>
        <p:nvSpPr>
          <p:cNvPr id="5" name="TextBox 4">
            <a:extLst>
              <a:ext uri="{FF2B5EF4-FFF2-40B4-BE49-F238E27FC236}">
                <a16:creationId xmlns:a16="http://schemas.microsoft.com/office/drawing/2014/main" id="{D6F368A2-3C2E-5F3E-147D-F897D330F327}"/>
              </a:ext>
            </a:extLst>
          </p:cNvPr>
          <p:cNvSpPr txBox="1"/>
          <p:nvPr/>
        </p:nvSpPr>
        <p:spPr>
          <a:xfrm>
            <a:off x="571500" y="2006600"/>
            <a:ext cx="5232400" cy="889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LOS (orange) vs NLOS/reflected (dashed red) paths — link strength depends on which dominates</a:t>
            </a:r>
          </a:p>
        </p:txBody>
      </p:sp>
      <p:sp>
        <p:nvSpPr>
          <p:cNvPr id="7" name="TextBox 6">
            <a:extLst>
              <a:ext uri="{FF2B5EF4-FFF2-40B4-BE49-F238E27FC236}">
                <a16:creationId xmlns:a16="http://schemas.microsoft.com/office/drawing/2014/main" id="{EAC0693C-95CC-087E-E64E-A3089630A066}"/>
              </a:ext>
            </a:extLst>
          </p:cNvPr>
          <p:cNvSpPr txBox="1"/>
          <p:nvPr/>
        </p:nvSpPr>
        <p:spPr>
          <a:xfrm>
            <a:off x="5969000" y="5080000"/>
            <a:ext cx="5715000" cy="457200"/>
          </a:xfrm>
          <a:prstGeom prst="rect">
            <a:avLst/>
          </a:prstGeom>
          <a:noFill/>
        </p:spPr>
        <p:txBody>
          <a:bodyPr wrap="square" rtlCol="0"/>
          <a:lstStyle/>
          <a:p>
            <a:r>
              <a:rPr lang="en-US" sz="1000" dirty="0"/>
              <a:t>Source: S. Ma et al., "Feasibility Conditions for Mobile </a:t>
            </a:r>
            <a:r>
              <a:rPr lang="en-US" sz="1000" dirty="0" err="1"/>
              <a:t>LiFi</a:t>
            </a:r>
            <a:r>
              <a:rPr lang="en-US" sz="1000" dirty="0"/>
              <a:t>," </a:t>
            </a:r>
            <a:r>
              <a:rPr lang="en-US" sz="1000" i="1" dirty="0"/>
              <a:t>IEEE Trans. Wireless Commun.</a:t>
            </a:r>
            <a:r>
              <a:rPr lang="en-US" sz="1000" dirty="0"/>
              <a:t>, vol. 23, no. 7, pp. 7911–7923, Jul. 2024.</a:t>
            </a:r>
          </a:p>
        </p:txBody>
      </p:sp>
      <p:sp>
        <p:nvSpPr>
          <p:cNvPr id="15" name="TextBox 14">
            <a:extLst>
              <a:ext uri="{FF2B5EF4-FFF2-40B4-BE49-F238E27FC236}">
                <a16:creationId xmlns:a16="http://schemas.microsoft.com/office/drawing/2014/main" id="{02CA43BE-8487-89EE-B003-4734D4AD2353}"/>
              </a:ext>
            </a:extLst>
          </p:cNvPr>
          <p:cNvSpPr txBox="1"/>
          <p:nvPr/>
        </p:nvSpPr>
        <p:spPr>
          <a:xfrm>
            <a:off x="571500" y="33274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Receiver has a limited field-of-view (FOV) — outside that cone, no signal</a:t>
            </a:r>
          </a:p>
        </p:txBody>
      </p:sp>
      <p:sp>
        <p:nvSpPr>
          <p:cNvPr id="16" name="TextBox 15">
            <a:extLst>
              <a:ext uri="{FF2B5EF4-FFF2-40B4-BE49-F238E27FC236}">
                <a16:creationId xmlns:a16="http://schemas.microsoft.com/office/drawing/2014/main" id="{F28B9106-9E67-4FD4-2DF8-82103AA99EE1}"/>
              </a:ext>
            </a:extLst>
          </p:cNvPr>
          <p:cNvSpPr txBox="1"/>
          <p:nvPr/>
        </p:nvSpPr>
        <p:spPr>
          <a:xfrm>
            <a:off x="571500" y="45466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Both LED and photodiode (PD) orientation matter, not just distance</a:t>
            </a:r>
          </a:p>
        </p:txBody>
      </p:sp>
      <p:sp>
        <p:nvSpPr>
          <p:cNvPr id="3" name="Takeaway Card">
            <a:extLst>
              <a:ext uri="{FF2B5EF4-FFF2-40B4-BE49-F238E27FC236}">
                <a16:creationId xmlns:a16="http://schemas.microsoft.com/office/drawing/2014/main" id="{09713310-6B6E-4681-BD8D-093557E6862D}"/>
              </a:ext>
            </a:extLst>
          </p:cNvPr>
          <p:cNvSpPr/>
          <p:nvPr/>
        </p:nvSpPr>
        <p:spPr>
          <a:xfrm>
            <a:off x="571500" y="5638800"/>
            <a:ext cx="11112500" cy="787400"/>
          </a:xfrm>
          <a:prstGeom prst="roundRect">
            <a:avLst/>
          </a:prstGeom>
          <a:solidFill>
            <a:srgbClr val="F5E9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b="1">
                <a:solidFill>
                  <a:srgbClr val="8C1D40"/>
                </a:solidFill>
              </a:rPr>
              <a:t>Why it matters: LOS geometry shapes the trust and access-control assumptions in LiFi-auth</a:t>
            </a:r>
          </a:p>
        </p:txBody>
      </p:sp>
      <p:sp>
        <p:nvSpPr>
          <p:cNvPr id="6" name="Takeaway Bar">
            <a:extLst>
              <a:ext uri="{FF2B5EF4-FFF2-40B4-BE49-F238E27FC236}">
                <a16:creationId xmlns:a16="http://schemas.microsoft.com/office/drawing/2014/main" id="{3E5D7E63-A94A-4A0A-BEC2-B3BB9C799074}"/>
              </a:ext>
            </a:extLst>
          </p:cNvPr>
          <p:cNvSpPr/>
          <p:nvPr/>
        </p:nvSpPr>
        <p:spPr>
          <a:xfrm>
            <a:off x="571500" y="5638800"/>
            <a:ext cx="88900" cy="787400"/>
          </a:xfrm>
          <a:prstGeom prst="rect">
            <a:avLst/>
          </a:prstGeom>
          <a:solidFill>
            <a:srgbClr val="8C1D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723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482600" y="365125"/>
            <a:ext cx="5387502"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dirty="0">
                <a:latin typeface="+mj-lt"/>
                <a:ea typeface="+mj-ea"/>
                <a:cs typeface="+mj-cs"/>
              </a:rPr>
              <a:t>Motivation</a:t>
            </a:r>
          </a:p>
        </p:txBody>
      </p:sp>
      <p:sp>
        <p:nvSpPr>
          <p:cNvPr id="3" name="TextBox 2"/>
          <p:cNvSpPr txBox="1"/>
          <p:nvPr/>
        </p:nvSpPr>
        <p:spPr>
          <a:xfrm>
            <a:off x="571500" y="1625600"/>
            <a:ext cx="11155680" cy="307777"/>
          </a:xfrm>
          <a:prstGeom prst="rect">
            <a:avLst/>
          </a:prstGeom>
          <a:noFill/>
        </p:spPr>
        <p:txBody>
          <a:bodyPr wrap="square" lIns="0">
            <a:spAutoFit/>
          </a:bodyPr>
          <a:lstStyle/>
          <a:p>
            <a:pPr>
              <a:spcAft>
                <a:spcPts val="600"/>
              </a:spcAft>
            </a:pPr>
            <a:r>
              <a:rPr lang="en-US" sz="1400" i="1" dirty="0">
                <a:solidFill>
                  <a:srgbClr val="595959"/>
                </a:solidFill>
                <a:latin typeface="Calibri"/>
              </a:rPr>
              <a:t>RF security is an architecture problem. Optical confinement is a physics problem.</a:t>
            </a:r>
          </a:p>
        </p:txBody>
      </p:sp>
      <p:pic>
        <p:nvPicPr>
          <p:cNvPr id="20" name="Picture 19" descr="A white background with text&#10;&#10;AI-generated content may be incorrect.">
            <a:extLst>
              <a:ext uri="{FF2B5EF4-FFF2-40B4-BE49-F238E27FC236}">
                <a16:creationId xmlns:a16="http://schemas.microsoft.com/office/drawing/2014/main" id="{5B96CDD0-174A-A82C-1CE9-4BEE0A371DEA}"/>
              </a:ext>
            </a:extLst>
          </p:cNvPr>
          <p:cNvPicPr>
            <a:picLocks noChangeAspect="1"/>
          </p:cNvPicPr>
          <p:nvPr/>
        </p:nvPicPr>
        <p:blipFill>
          <a:blip r:embed="rId3"/>
          <a:stretch>
            <a:fillRect/>
          </a:stretch>
        </p:blipFill>
        <p:spPr>
          <a:xfrm>
            <a:off x="9545121" y="-4718"/>
            <a:ext cx="2646879" cy="1477328"/>
          </a:xfrm>
          <a:prstGeom prst="rect">
            <a:avLst/>
          </a:prstGeom>
        </p:spPr>
      </p:pic>
      <p:sp>
        <p:nvSpPr>
          <p:cNvPr id="22" name="Rectangle 21">
            <a:extLst>
              <a:ext uri="{FF2B5EF4-FFF2-40B4-BE49-F238E27FC236}">
                <a16:creationId xmlns:a16="http://schemas.microsoft.com/office/drawing/2014/main" id="{B5E46029-7B1F-EF65-0EE0-0E1F2E55DC3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300" name="Group Label"/>
          <p:cNvSpPr txBox="1"/>
          <p:nvPr/>
        </p:nvSpPr>
        <p:spPr>
          <a:xfrm>
            <a:off x="571500" y="2032000"/>
            <a:ext cx="5080000" cy="254000"/>
          </a:xfrm>
          <a:prstGeom prst="rect">
            <a:avLst/>
          </a:prstGeom>
          <a:noFill/>
        </p:spPr>
        <p:txBody>
          <a:bodyPr wrap="square" lIns="0" tIns="0" rIns="0" bIns="0" anchor="t"/>
          <a:lstStyle/>
          <a:p>
            <a:pPr algn="l">
              <a:buNone/>
            </a:pPr>
            <a:r>
              <a:rPr lang="en-US" sz="1500" b="1" spc="200" dirty="0">
                <a:solidFill>
                  <a:srgbClr val="8C1D40"/>
                </a:solidFill>
              </a:rPr>
              <a:t>THE RF PROBLEM</a:t>
            </a:r>
          </a:p>
        </p:txBody>
      </p:sp>
      <p:sp>
        <p:nvSpPr>
          <p:cNvPr id="301" name="Motivation Card"/>
          <p:cNvSpPr/>
          <p:nvPr/>
        </p:nvSpPr>
        <p:spPr>
          <a:xfrm>
            <a:off x="5715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RF wireless (WiFi, Bluetooth, Zigbee) propagates through walls, floors, and physical barriers by design</a:t>
            </a:r>
          </a:p>
        </p:txBody>
      </p:sp>
      <p:sp>
        <p:nvSpPr>
          <p:cNvPr id="302" name="Motivation Card"/>
          <p:cNvSpPr/>
          <p:nvPr/>
        </p:nvSpPr>
        <p:spPr>
          <a:xfrm>
            <a:off x="44069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An attacker need not be physically present to intercept, relay, or replay an RF authorization credential</a:t>
            </a:r>
          </a:p>
        </p:txBody>
      </p:sp>
      <p:sp>
        <p:nvSpPr>
          <p:cNvPr id="303" name="Motivation Card"/>
          <p:cNvSpPr/>
          <p:nvPr/>
        </p:nvSpPr>
        <p:spPr>
          <a:xfrm>
            <a:off x="82423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Enforcing a physical boundary on RF requires costly countermeasures — shielding, Faraday enclosures, attenuation</a:t>
            </a:r>
          </a:p>
        </p:txBody>
      </p:sp>
      <p:sp>
        <p:nvSpPr>
          <p:cNvPr id="304" name="Group Label"/>
          <p:cNvSpPr txBox="1"/>
          <p:nvPr/>
        </p:nvSpPr>
        <p:spPr>
          <a:xfrm>
            <a:off x="571500" y="4216400"/>
            <a:ext cx="5080000" cy="254000"/>
          </a:xfrm>
          <a:prstGeom prst="rect">
            <a:avLst/>
          </a:prstGeom>
          <a:noFill/>
        </p:spPr>
        <p:txBody>
          <a:bodyPr wrap="square" lIns="0" tIns="0" rIns="0" bIns="0" anchor="t"/>
          <a:lstStyle/>
          <a:p>
            <a:pPr algn="l">
              <a:buNone/>
            </a:pPr>
            <a:r>
              <a:rPr lang="en-US" sz="1500" b="1" spc="200" dirty="0">
                <a:solidFill>
                  <a:srgbClr val="8C1D40"/>
                </a:solidFill>
              </a:rPr>
              <a:t>THE OPTICAL OPPORTUNITY</a:t>
            </a:r>
          </a:p>
        </p:txBody>
      </p:sp>
      <p:sp>
        <p:nvSpPr>
          <p:cNvPr id="305" name="Motivation Card"/>
          <p:cNvSpPr/>
          <p:nvPr/>
        </p:nvSpPr>
        <p:spPr>
          <a:xfrm>
            <a:off x="5715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LEDs have become the dominant lighting technology in nearly every indoor environment — hospitals, schools, offices</a:t>
            </a:r>
          </a:p>
        </p:txBody>
      </p:sp>
      <p:sp>
        <p:nvSpPr>
          <p:cNvPr id="306" name="Motivation Card"/>
          <p:cNvSpPr/>
          <p:nvPr/>
        </p:nvSpPr>
        <p:spPr>
          <a:xfrm>
            <a:off x="44069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That installed, already-powered, already-trusted infrastructure can modulate data imperceptibly to the human eye</a:t>
            </a:r>
          </a:p>
        </p:txBody>
      </p:sp>
      <p:sp>
        <p:nvSpPr>
          <p:cNvPr id="307" name="Motivation Card"/>
          <p:cNvSpPr/>
          <p:nvPr/>
        </p:nvSpPr>
        <p:spPr>
          <a:xfrm>
            <a:off x="82423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Light does not pass through opaque walls or bend around corners — confinement by construction, not by policy</a:t>
            </a:r>
          </a:p>
        </p:txBody>
      </p:sp>
      <p:pic>
        <p:nvPicPr>
          <p:cNvPr id="308" name="Graphic 308" descr="RF propagates through wall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4700" y="2565400"/>
            <a:ext cx="406400" cy="406400"/>
          </a:xfrm>
          <a:prstGeom prst="rect">
            <a:avLst/>
          </a:prstGeom>
        </p:spPr>
      </p:pic>
      <p:pic>
        <p:nvPicPr>
          <p:cNvPr id="309" name="Graphic 309" descr="Remote interception of credential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10100" y="2565400"/>
            <a:ext cx="406400" cy="406400"/>
          </a:xfrm>
          <a:prstGeom prst="rect">
            <a:avLst/>
          </a:prstGeom>
        </p:spPr>
      </p:pic>
      <p:pic>
        <p:nvPicPr>
          <p:cNvPr id="310" name="Graphic 310" descr="Shielding and Faraday enclosure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45500" y="2565400"/>
            <a:ext cx="406400" cy="406400"/>
          </a:xfrm>
          <a:prstGeom prst="rect">
            <a:avLst/>
          </a:prstGeom>
        </p:spPr>
      </p:pic>
      <p:pic>
        <p:nvPicPr>
          <p:cNvPr id="311" name="Graphic 311" descr="LED lighting ubiquity"/>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4700" y="4749800"/>
            <a:ext cx="406400" cy="406400"/>
          </a:xfrm>
          <a:prstGeom prst="rect">
            <a:avLst/>
          </a:prstGeom>
        </p:spPr>
      </p:pic>
      <p:pic>
        <p:nvPicPr>
          <p:cNvPr id="312" name="Graphic 312" descr="Existing infrastructure modulates data"/>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610100" y="4749800"/>
            <a:ext cx="406400" cy="406400"/>
          </a:xfrm>
          <a:prstGeom prst="rect">
            <a:avLst/>
          </a:prstGeom>
        </p:spPr>
      </p:pic>
      <p:pic>
        <p:nvPicPr>
          <p:cNvPr id="313" name="Graphic 313" descr="Confinement by constructi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45500" y="4749800"/>
            <a:ext cx="406400" cy="406400"/>
          </a:xfrm>
          <a:prstGeom prst="rect">
            <a:avLst/>
          </a:prstGeom>
        </p:spPr>
      </p:pic>
    </p:spTree>
    <p:extLst>
      <p:ext uri="{BB962C8B-B14F-4D97-AF65-F5344CB8AC3E}">
        <p14:creationId xmlns:p14="http://schemas.microsoft.com/office/powerpoint/2010/main" val="202394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822960"/>
          </a:xfrm>
          <a:prstGeom prst="rect">
            <a:avLst/>
          </a:prstGeom>
          <a:noFill/>
        </p:spPr>
        <p:txBody>
          <a:bodyPr wrap="square">
            <a:spAutoFit/>
          </a:bodyPr>
          <a:lstStyle/>
          <a:p>
            <a:r>
              <a:rPr sz="2900" b="1" dirty="0">
                <a:solidFill>
                  <a:srgbClr val="0B0B0B"/>
                </a:solidFill>
                <a:latin typeface="Calibri"/>
              </a:rPr>
              <a:t>The Gap This Thesis Addresses</a:t>
            </a:r>
          </a:p>
        </p:txBody>
      </p:sp>
      <p:sp>
        <p:nvSpPr>
          <p:cNvPr id="3" name="TextBox 2"/>
          <p:cNvSpPr txBox="1"/>
          <p:nvPr/>
        </p:nvSpPr>
        <p:spPr>
          <a:xfrm>
            <a:off x="502920" y="1299300"/>
            <a:ext cx="11155680" cy="457200"/>
          </a:xfrm>
          <a:prstGeom prst="rect">
            <a:avLst/>
          </a:prstGeom>
          <a:noFill/>
        </p:spPr>
        <p:txBody>
          <a:bodyPr wrap="square">
            <a:spAutoFit/>
          </a:bodyPr>
          <a:lstStyle/>
          <a:p>
            <a:r>
              <a:rPr sz="1350" i="1" dirty="0">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No existing work binds authorization to continuous, time-bounded optical reception with automatic revocation</a:t>
            </a:r>
          </a:p>
          <a:p>
            <a:pPr>
              <a:spcAft>
                <a:spcPts val="1100"/>
              </a:spcAft>
            </a:pPr>
            <a:r>
              <a:rPr sz="1700" dirty="0">
                <a:solidFill>
                  <a:srgbClr val="0B0B0B"/>
                </a:solidFill>
                <a:latin typeface="Calibri"/>
              </a:rPr>
              <a:t>●   This thesis reframes the optical signal as an active security primitive — not just a higher-bandwidth data channel</a:t>
            </a:r>
          </a:p>
          <a:p>
            <a:pPr>
              <a:spcAft>
                <a:spcPts val="1100"/>
              </a:spcAft>
            </a:pPr>
            <a:r>
              <a:rPr sz="1700" dirty="0">
                <a:solidFill>
                  <a:srgbClr val="0B0B0B"/>
                </a:solidFill>
                <a:latin typeface="Calibri"/>
              </a:rPr>
              <a:t>●   The optical signal is continuously asserted, continuously verified, and automatically revoked the instant the optical path breaks</a:t>
            </a:r>
          </a:p>
          <a:p>
            <a:pPr>
              <a:spcAft>
                <a:spcPts val="1100"/>
              </a:spcAft>
            </a:pPr>
            <a:r>
              <a:rPr sz="1700" dirty="0">
                <a:solidFill>
                  <a:srgbClr val="0B0B0B"/>
                </a:solidFill>
                <a:latin typeface="Calibri"/>
              </a:rPr>
              <a:t>●   Formalized as four concrete security goals:</a:t>
            </a:r>
          </a:p>
          <a:p>
            <a:pPr lvl="1">
              <a:spcAft>
                <a:spcPts val="700"/>
              </a:spcAft>
            </a:pPr>
            <a:r>
              <a:rPr sz="1450" dirty="0">
                <a:solidFill>
                  <a:srgbClr val="52514E"/>
                </a:solidFill>
                <a:latin typeface="Calibri"/>
              </a:rPr>
              <a:t>‒   G1 — Freshness &amp; Expiration</a:t>
            </a:r>
          </a:p>
          <a:p>
            <a:pPr lvl="1">
              <a:spcAft>
                <a:spcPts val="700"/>
              </a:spcAft>
            </a:pPr>
            <a:r>
              <a:rPr sz="1450" dirty="0">
                <a:solidFill>
                  <a:srgbClr val="52514E"/>
                </a:solidFill>
                <a:latin typeface="Calibri"/>
              </a:rPr>
              <a:t>‒   G2 — Replay Resistance</a:t>
            </a:r>
          </a:p>
          <a:p>
            <a:pPr lvl="1">
              <a:spcAft>
                <a:spcPts val="700"/>
              </a:spcAft>
            </a:pPr>
            <a:r>
              <a:rPr sz="1450" dirty="0">
                <a:solidFill>
                  <a:srgbClr val="52514E"/>
                </a:solidFill>
                <a:latin typeface="Calibri"/>
              </a:rPr>
              <a:t>‒   G3 — Relay-Bounded Authorization</a:t>
            </a:r>
          </a:p>
          <a:p>
            <a:pPr lvl="1">
              <a:spcAft>
                <a:spcPts val="700"/>
              </a:spcAft>
            </a:pPr>
            <a:r>
              <a:rPr sz="1450" dirty="0">
                <a:solidFill>
                  <a:srgbClr val="52514E"/>
                </a:solidFill>
                <a:latin typeface="Calibri"/>
              </a:rPr>
              <a:t>‒   G4 — Revocation on Interruption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85800" y="82296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658368">
                <a:tc>
                  <a:txBody>
                    <a:bodyPr/>
                    <a:lstStyle/>
                    <a:p>
                      <a:pPr algn="l"/>
                      <a:r>
                        <a:rPr sz="1350" b="1">
                          <a:solidFill>
                            <a:srgbClr val="FFFFFF"/>
                          </a:solidFill>
                          <a:latin typeface="Calibri"/>
                        </a:rPr>
                        <a:t>Category</a:t>
                      </a:r>
                    </a:p>
                  </a:txBody>
                  <a:tcPr anchor="ctr">
                    <a:solidFill>
                      <a:srgbClr val="0B0B0B"/>
                    </a:solidFill>
                  </a:tcPr>
                </a:tc>
                <a:tc>
                  <a:txBody>
                    <a:bodyPr/>
                    <a:lstStyle/>
                    <a:p>
                      <a:pPr algn="ctr"/>
                      <a:r>
                        <a:rPr sz="1350" b="1">
                          <a:solidFill>
                            <a:srgbClr val="FFFFFF"/>
                          </a:solidFill>
                          <a:latin typeface="Calibri"/>
                        </a:rPr>
                        <a:t>What it does</a:t>
                      </a:r>
                    </a:p>
                  </a:txBody>
                  <a:tcPr anchor="ctr">
                    <a:solidFill>
                      <a:srgbClr val="0B0B0B"/>
                    </a:solidFill>
                  </a:tcPr>
                </a:tc>
                <a:tc>
                  <a:txBody>
                    <a:bodyPr/>
                    <a:lstStyle/>
                    <a:p>
                      <a:pPr algn="ctr"/>
                      <a:r>
                        <a:rPr sz="1350" b="1">
                          <a:solidFill>
                            <a:srgbClr val="FFFFFF"/>
                          </a:solidFill>
                          <a:latin typeface="Calibri"/>
                        </a:rPr>
                        <a:t>What it doesn't do</a:t>
                      </a:r>
                    </a:p>
                  </a:txBody>
                  <a:tcPr anchor="ctr">
                    <a:solidFill>
                      <a:srgbClr val="0B0B0B"/>
                    </a:solidFill>
                  </a:tcPr>
                </a:tc>
                <a:extLst>
                  <a:ext uri="{0D108BD9-81ED-4DB2-BD59-A6C34878D82A}">
                    <a16:rowId xmlns:a16="http://schemas.microsoft.com/office/drawing/2014/main" val="10000"/>
                  </a:ext>
                </a:extLst>
              </a:tr>
              <a:tr h="658368">
                <a:tc>
                  <a:txBody>
                    <a:bodyPr/>
                    <a:lstStyle/>
                    <a:p>
                      <a:pPr algn="l"/>
                      <a:r>
                        <a:rPr sz="1250" b="0">
                          <a:solidFill>
                            <a:srgbClr val="0B0B0B"/>
                          </a:solidFill>
                          <a:latin typeface="Calibri"/>
                        </a:rPr>
                        <a:t>Info-theoretic PLS</a:t>
                      </a:r>
                    </a:p>
                  </a:txBody>
                  <a:tcPr anchor="ctr">
                    <a:solidFill>
                      <a:srgbClr val="FFFFFF"/>
                    </a:solidFill>
                  </a:tcPr>
                </a:tc>
                <a:tc>
                  <a:txBody>
                    <a:bodyPr/>
                    <a:lstStyle/>
                    <a:p>
                      <a:pPr algn="ctr"/>
                      <a:r>
                        <a:rPr sz="1250" b="0">
                          <a:solidFill>
                            <a:srgbClr val="0B0B0B"/>
                          </a:solidFill>
                          <a:latin typeface="Calibri"/>
                        </a:rPr>
                        <a:t>Statistical eavesdropper disadvantage (Wyner wiretap model)</a:t>
                      </a:r>
                    </a:p>
                  </a:txBody>
                  <a:tcPr anchor="ctr">
                    <a:solidFill>
                      <a:srgbClr val="FFFFFF"/>
                    </a:solidFill>
                  </a:tcPr>
                </a:tc>
                <a:tc>
                  <a:txBody>
                    <a:bodyPr/>
                    <a:lstStyle/>
                    <a:p>
                      <a:pPr algn="ctr"/>
                      <a:r>
                        <a:rPr sz="1250" b="0">
                          <a:solidFill>
                            <a:srgbClr val="0B0B0B"/>
                          </a:solidFill>
                          <a:latin typeface="Calibri"/>
                        </a:rPr>
                        <a:t>No real-time authorization decision</a:t>
                      </a:r>
                    </a:p>
                  </a:txBody>
                  <a:tcPr anchor="ctr">
                    <a:solidFill>
                      <a:srgbClr val="FFFFFF"/>
                    </a:solidFill>
                  </a:tcPr>
                </a:tc>
                <a:extLst>
                  <a:ext uri="{0D108BD9-81ED-4DB2-BD59-A6C34878D82A}">
                    <a16:rowId xmlns:a16="http://schemas.microsoft.com/office/drawing/2014/main" val="10001"/>
                  </a:ext>
                </a:extLst>
              </a:tr>
              <a:tr h="658368">
                <a:tc>
                  <a:txBody>
                    <a:bodyPr/>
                    <a:lstStyle/>
                    <a:p>
                      <a:pPr algn="l"/>
                      <a:r>
                        <a:rPr sz="1250" b="0">
                          <a:solidFill>
                            <a:srgbClr val="0B0B0B"/>
                          </a:solidFill>
                          <a:latin typeface="Calibri"/>
                        </a:rPr>
                        <a:t>Physical-layer key generation</a:t>
                      </a:r>
                    </a:p>
                  </a:txBody>
                  <a:tcPr anchor="ctr">
                    <a:solidFill>
                      <a:srgbClr val="F0EFEC"/>
                    </a:solidFill>
                  </a:tcPr>
                </a:tc>
                <a:tc>
                  <a:txBody>
                    <a:bodyPr/>
                    <a:lstStyle/>
                    <a:p>
                      <a:pPr algn="ctr"/>
                      <a:r>
                        <a:rPr sz="1250" b="0">
                          <a:solidFill>
                            <a:srgbClr val="0B0B0B"/>
                          </a:solidFill>
                          <a:latin typeface="Calibri"/>
                        </a:rPr>
                        <a:t>Bootstraps a shared secret from channel measurements</a:t>
                      </a:r>
                    </a:p>
                  </a:txBody>
                  <a:tcPr anchor="ctr">
                    <a:solidFill>
                      <a:srgbClr val="F0EFEC"/>
                    </a:solidFill>
                  </a:tcPr>
                </a:tc>
                <a:tc>
                  <a:txBody>
                    <a:bodyPr/>
                    <a:lstStyle/>
                    <a:p>
                      <a:pPr algn="ctr"/>
                      <a:r>
                        <a:rPr sz="1250" b="0">
                          <a:solidFill>
                            <a:srgbClr val="0B0B0B"/>
                          </a:solidFill>
                          <a:latin typeface="Calibri"/>
                        </a:rPr>
                        <a:t>Key persists after the optical link ends</a:t>
                      </a:r>
                    </a:p>
                  </a:txBody>
                  <a:tcPr anchor="ctr">
                    <a:solidFill>
                      <a:srgbClr val="F0EFEC"/>
                    </a:solidFill>
                  </a:tcPr>
                </a:tc>
                <a:extLst>
                  <a:ext uri="{0D108BD9-81ED-4DB2-BD59-A6C34878D82A}">
                    <a16:rowId xmlns:a16="http://schemas.microsoft.com/office/drawing/2014/main" val="10002"/>
                  </a:ext>
                </a:extLst>
              </a:tr>
              <a:tr h="658368">
                <a:tc>
                  <a:txBody>
                    <a:bodyPr/>
                    <a:lstStyle/>
                    <a:p>
                      <a:pPr algn="l"/>
                      <a:r>
                        <a:rPr sz="1250" b="0">
                          <a:solidFill>
                            <a:srgbClr val="0B0B0B"/>
                          </a:solidFill>
                          <a:latin typeface="Calibri"/>
                        </a:rPr>
                        <a:t>Encrypted VLC implementations</a:t>
                      </a:r>
                    </a:p>
                  </a:txBody>
                  <a:tcPr anchor="ctr">
                    <a:solidFill>
                      <a:srgbClr val="FFFFFF"/>
                    </a:solidFill>
                  </a:tcPr>
                </a:tc>
                <a:tc>
                  <a:txBody>
                    <a:bodyPr/>
                    <a:lstStyle/>
                    <a:p>
                      <a:pPr algn="ctr"/>
                      <a:r>
                        <a:rPr sz="1250" b="0">
                          <a:solidFill>
                            <a:srgbClr val="0B0B0B"/>
                          </a:solidFill>
                          <a:latin typeface="Calibri"/>
                        </a:rPr>
                        <a:t>Protects data in transit (RSA/chaos-synchronized links)</a:t>
                      </a:r>
                    </a:p>
                  </a:txBody>
                  <a:tcPr anchor="ctr">
                    <a:solidFill>
                      <a:srgbClr val="FFFFFF"/>
                    </a:solidFill>
                  </a:tcPr>
                </a:tc>
                <a:tc>
                  <a:txBody>
                    <a:bodyPr/>
                    <a:lstStyle/>
                    <a:p>
                      <a:pPr algn="ctr"/>
                      <a:r>
                        <a:rPr sz="1250" b="0">
                          <a:solidFill>
                            <a:srgbClr val="0B0B0B"/>
                          </a:solidFill>
                          <a:latin typeface="Calibri"/>
                        </a:rPr>
                        <a:t>Optical channel not used for access control</a:t>
                      </a:r>
                    </a:p>
                  </a:txBody>
                  <a:tcPr anchor="ctr">
                    <a:solidFill>
                      <a:srgbClr val="FFFFFF"/>
                    </a:solidFill>
                  </a:tcPr>
                </a:tc>
                <a:extLst>
                  <a:ext uri="{0D108BD9-81ED-4DB2-BD59-A6C34878D82A}">
                    <a16:rowId xmlns:a16="http://schemas.microsoft.com/office/drawing/2014/main" val="10003"/>
                  </a:ext>
                </a:extLst>
              </a:tr>
              <a:tr h="658368">
                <a:tc>
                  <a:txBody>
                    <a:bodyPr/>
                    <a:lstStyle/>
                    <a:p>
                      <a:pPr algn="l"/>
                      <a:r>
                        <a:rPr sz="1250" b="0">
                          <a:solidFill>
                            <a:srgbClr val="0B0B0B"/>
                          </a:solidFill>
                          <a:latin typeface="Calibri"/>
                        </a:rPr>
                        <a:t>Commercial LiFi (Signify, Oledcomm)</a:t>
                      </a:r>
                    </a:p>
                  </a:txBody>
                  <a:tcPr anchor="ctr">
                    <a:solidFill>
                      <a:srgbClr val="F0EFEC"/>
                    </a:solidFill>
                  </a:tcPr>
                </a:tc>
                <a:tc>
                  <a:txBody>
                    <a:bodyPr/>
                    <a:lstStyle/>
                    <a:p>
                      <a:pPr algn="ctr"/>
                      <a:r>
                        <a:rPr sz="1250" b="0">
                          <a:solidFill>
                            <a:srgbClr val="0B0B0B"/>
                          </a:solidFill>
                          <a:latin typeface="Calibri"/>
                        </a:rPr>
                        <a:t>Markets spatial confinement as a security feature</a:t>
                      </a:r>
                    </a:p>
                  </a:txBody>
                  <a:tcPr anchor="ctr">
                    <a:solidFill>
                      <a:srgbClr val="F0EFEC"/>
                    </a:solidFill>
                  </a:tcPr>
                </a:tc>
                <a:tc>
                  <a:txBody>
                    <a:bodyPr/>
                    <a:lstStyle/>
                    <a:p>
                      <a:pPr algn="ctr"/>
                      <a:r>
                        <a:rPr sz="1250" b="0">
                          <a:solidFill>
                            <a:srgbClr val="0B0B0B"/>
                          </a:solidFill>
                          <a:latin typeface="Calibri"/>
                        </a:rPr>
                        <a:t>One-time authentication, not continuous</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b="1" i="0">
                <a:solidFill>
                  <a:srgbClr val="0B0B0B"/>
                </a:solidFill>
                <a:latin typeface="Calibri"/>
              </a:rPr>
              <a:t>Gap: no work formalizes, implements, and evaluates continuous optical-presence authorization with automatic revocation on signal loss.</a:t>
            </a:r>
          </a:p>
        </p:txBody>
      </p:sp>
      <p:pic>
        <p:nvPicPr>
          <p:cNvPr id="7" name="Picture 6" descr="A white background with text&#10;&#10;AI-generated content may be incorrect.">
            <a:extLst>
              <a:ext uri="{FF2B5EF4-FFF2-40B4-BE49-F238E27FC236}">
                <a16:creationId xmlns:a16="http://schemas.microsoft.com/office/drawing/2014/main" id="{4F43F1C0-7A04-87AE-E959-AAE2FF598F26}"/>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C375DA98-D59B-9295-CB69-B7F965D4BB7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9920" y="840740"/>
            <a:ext cx="11155680" cy="822960"/>
          </a:xfrm>
          <a:prstGeom prst="rect">
            <a:avLst/>
          </a:prstGeom>
          <a:noFill/>
        </p:spPr>
        <p:txBody>
          <a:bodyPr wrap="square">
            <a:spAutoFit/>
          </a:bodyPr>
          <a:lstStyle/>
          <a:p>
            <a:r>
              <a:rPr sz="2900" b="1" dirty="0">
                <a:solidFill>
                  <a:srgbClr val="0B0B0B"/>
                </a:solidFill>
                <a:latin typeface="Calibri"/>
              </a:rPr>
              <a:t>System Architecture</a:t>
            </a:r>
          </a:p>
        </p:txBody>
      </p:sp>
      <p:pic>
        <p:nvPicPr>
          <p:cNvPr id="3" name="Picture 2" descr="system_block_diagram.png"/>
          <p:cNvPicPr>
            <a:picLocks noChangeAspect="1"/>
          </p:cNvPicPr>
          <p:nvPr/>
        </p:nvPicPr>
        <p:blipFill>
          <a:blip r:embed="rId3"/>
          <a:stretch>
            <a:fillRect/>
          </a:stretch>
        </p:blipFill>
        <p:spPr>
          <a:xfrm>
            <a:off x="1755455" y="1417320"/>
            <a:ext cx="8680784" cy="5074920"/>
          </a:xfrm>
          <a:prstGeom prst="rect">
            <a:avLst/>
          </a:prstGeom>
        </p:spPr>
      </p:pic>
      <p:pic>
        <p:nvPicPr>
          <p:cNvPr id="6" name="Picture 5" descr="A white background with text&#10;&#10;AI-generated content may be incorrect.">
            <a:extLst>
              <a:ext uri="{FF2B5EF4-FFF2-40B4-BE49-F238E27FC236}">
                <a16:creationId xmlns:a16="http://schemas.microsoft.com/office/drawing/2014/main" id="{49F3415E-64DE-7F3C-75B2-B77F6CEC910B}"/>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F9063284-4A8D-B9A4-02CC-2276ACF2D9F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Optical Beacon (Sender)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H · RP2040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sender_pcb.png"/>
          <p:cNvPicPr>
            <a:picLocks noChangeAspect="1"/>
          </p:cNvPicPr>
          <p:nvPr/>
        </p:nvPicPr>
        <p:blipFill>
          <a:blip r:embed="rId3"/>
          <a:stretch>
            <a:fillRect/>
          </a:stretch>
        </p:blipFill>
        <p:spPr>
          <a:xfrm>
            <a:off x="965200" y="2032000"/>
            <a:ext cx="4927600" cy="41910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2200"/>
              </a:spcAft>
              <a:buClr>
                <a:srgbClr val="ECBE44"/>
              </a:buClr>
              <a:buFont typeface="Arial"/>
              <a:buChar char="•"/>
            </a:pPr>
            <a:r>
              <a:rPr lang="en-US" sz="1600" b="1" dirty="0">
                <a:solidFill>
                  <a:srgbClr val="0B0B0B"/>
                </a:solidFill>
                <a:latin typeface="Calibri"/>
              </a:rPr>
              <a:t>AES-128-GCM</a:t>
            </a:r>
            <a:r>
              <a:rPr lang="en-US" sz="1600" dirty="0">
                <a:solidFill>
                  <a:srgbClr val="3A3A38"/>
                </a:solidFill>
                <a:latin typeface="Calibri"/>
              </a:rPr>
              <a:t> encrypt → nonce construction → frame → modulate</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Nonce</a:t>
            </a:r>
            <a:r>
              <a:rPr lang="en-US" sz="1600" dirty="0">
                <a:solidFill>
                  <a:srgbClr val="3A3A38"/>
                </a:solidFill>
                <a:latin typeface="Calibri"/>
              </a:rPr>
              <a:t> = 8-byte random boot salt (CTR_DRBG) + 4-byte monotonic counter</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PIO state machine</a:t>
            </a:r>
            <a:r>
              <a:rPr lang="en-US" sz="1600" dirty="0">
                <a:solidFill>
                  <a:srgbClr val="3A3A38"/>
                </a:solidFill>
                <a:latin typeface="Calibri"/>
              </a:rPr>
              <a:t> drives 4 LED channels in lockstep, 1 Mbps, zero CPU overhead during TX</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Frame:</a:t>
            </a:r>
            <a:r>
              <a:rPr lang="en-US" sz="1600" dirty="0">
                <a:solidFill>
                  <a:srgbClr val="3A3A38"/>
                </a:solidFill>
                <a:latin typeface="Calibri"/>
              </a:rPr>
              <a:t> preamble · type · length · nonce · ciphertext · 16B GCM tag · CRC16</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Dual-slot A/B flash key storage,</a:t>
            </a:r>
            <a:r>
              <a:rPr lang="en-US" sz="1600" dirty="0">
                <a:solidFill>
                  <a:srgbClr val="3A3A38"/>
                </a:solidFill>
                <a:latin typeface="Calibri"/>
              </a:rPr>
              <a:t> SHA-256 integrity hash, secure_zero() RAM clearing</a:t>
            </a:r>
          </a:p>
        </p:txBody>
      </p:sp>
      <p:pic>
        <p:nvPicPr>
          <p:cNvPr id="10" name="Picture 9" descr="A white background with text&#10;&#10;AI-generated content may be incorrect.">
            <a:extLst>
              <a:ext uri="{FF2B5EF4-FFF2-40B4-BE49-F238E27FC236}">
                <a16:creationId xmlns:a16="http://schemas.microsoft.com/office/drawing/2014/main" id="{34E6A257-91F6-7226-7C72-ED83C89189E1}"/>
              </a:ext>
            </a:extLst>
          </p:cNvPr>
          <p:cNvPicPr>
            <a:picLocks noChangeAspect="1"/>
          </p:cNvPicPr>
          <p:nvPr/>
        </p:nvPicPr>
        <p:blipFill>
          <a:blip r:embed="rId4"/>
          <a:stretch>
            <a:fillRect/>
          </a:stretch>
        </p:blipFill>
        <p:spPr>
          <a:xfrm>
            <a:off x="9545121" y="-4718"/>
            <a:ext cx="2646879" cy="1477328"/>
          </a:xfrm>
          <a:prstGeom prst="rect">
            <a:avLst/>
          </a:prstGeom>
        </p:spPr>
      </p:pic>
      <p:sp>
        <p:nvSpPr>
          <p:cNvPr id="11" name="Rectangle 10">
            <a:extLst>
              <a:ext uri="{FF2B5EF4-FFF2-40B4-BE49-F238E27FC236}">
                <a16:creationId xmlns:a16="http://schemas.microsoft.com/office/drawing/2014/main" id="{8819F131-0369-0035-1152-064B70696DB2}"/>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267430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Client Device (Receiver)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2 H · RP2350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receiver_pcb.png"/>
          <p:cNvPicPr>
            <a:picLocks noChangeAspect="1"/>
          </p:cNvPicPr>
          <p:nvPr/>
        </p:nvPicPr>
        <p:blipFill>
          <a:blip r:embed="rId3"/>
          <a:stretch>
            <a:fillRect/>
          </a:stretch>
        </p:blipFill>
        <p:spPr>
          <a:xfrm>
            <a:off x="736600" y="2654300"/>
            <a:ext cx="5384800" cy="29337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3000"/>
              </a:spcAft>
              <a:buClr>
                <a:srgbClr val="ECBE44"/>
              </a:buClr>
              <a:buFont typeface="Arial"/>
              <a:buChar char="•"/>
            </a:pPr>
            <a:r>
              <a:rPr lang="en-US" sz="1600" b="1" dirty="0">
                <a:solidFill>
                  <a:srgbClr val="0B0B0B"/>
                </a:solidFill>
                <a:latin typeface="Calibri"/>
              </a:rPr>
              <a:t>Photodiode (SFH 2400)</a:t>
            </a:r>
            <a:r>
              <a:rPr lang="en-US" sz="1600" dirty="0">
                <a:solidFill>
                  <a:srgbClr val="3A3A38"/>
                </a:solidFill>
                <a:latin typeface="Calibri"/>
              </a:rPr>
              <a:t> → OPA381 TIA → TLV3501 comparator → PIO UART RX</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Programmable threshold</a:t>
            </a:r>
            <a:r>
              <a:rPr lang="en-US" sz="1600" dirty="0">
                <a:solidFill>
                  <a:srgbClr val="3A3A38"/>
                </a:solidFill>
                <a:latin typeface="Calibri"/>
              </a:rPr>
              <a:t> via MCP4725 12-bit DAC, tuned each boot (~0.8V)</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64-entry nonce window</a:t>
            </a:r>
            <a:r>
              <a:rPr lang="en-US" sz="1600" dirty="0">
                <a:solidFill>
                  <a:srgbClr val="3A3A38"/>
                </a:solidFill>
                <a:latin typeface="Calibri"/>
              </a:rPr>
              <a:t> checked before decryption is ever attempted</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Robotic integration:</a:t>
            </a:r>
            <a:r>
              <a:rPr lang="en-US" sz="1600" dirty="0">
                <a:solidFill>
                  <a:srgbClr val="3A3A38"/>
                </a:solidFill>
                <a:latin typeface="Calibri"/>
              </a:rPr>
              <a:t> built for Pololu 3pi+ headers, LiPo + buck-boost, USB-C charging</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Untethered operation</a:t>
            </a:r>
            <a:r>
              <a:rPr lang="en-US" sz="1600" dirty="0">
                <a:solidFill>
                  <a:srgbClr val="3A3A38"/>
                </a:solidFill>
                <a:latin typeface="Calibri"/>
              </a:rPr>
              <a:t> — same board runs aboard a mobile CPS platform</a:t>
            </a:r>
          </a:p>
        </p:txBody>
      </p:sp>
      <p:pic>
        <p:nvPicPr>
          <p:cNvPr id="6" name="Picture 5" descr="A white background with text&#10;&#10;AI-generated content may be incorrect.">
            <a:extLst>
              <a:ext uri="{FF2B5EF4-FFF2-40B4-BE49-F238E27FC236}">
                <a16:creationId xmlns:a16="http://schemas.microsoft.com/office/drawing/2014/main" id="{69822B9B-F03E-64DC-FFAD-541EFB29C299}"/>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42872188-DCB7-EBC2-8999-11FB8AEE3D0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3616645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932688"/>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18160" y="1499616"/>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701040" y="2121408"/>
            <a:ext cx="10789920" cy="2762295"/>
          </a:xfrm>
          <a:prstGeom prst="rect">
            <a:avLst/>
          </a:prstGeom>
          <a:noFill/>
        </p:spPr>
        <p:txBody>
          <a:bodyPr wrap="square">
            <a:spAutoFit/>
          </a:bodyPr>
          <a:lstStyle/>
          <a:p>
            <a:pPr>
              <a:spcAft>
                <a:spcPts val="1100"/>
              </a:spcAft>
            </a:pPr>
            <a:r>
              <a:rPr sz="1500" dirty="0">
                <a:solidFill>
                  <a:srgbClr val="0B0B0B"/>
                </a:solidFill>
                <a:latin typeface="Calibri"/>
              </a:rPr>
              <a:t>●   SST (Secure Swarm Toolkit): open-source authentication &amp; authorization framework for distributed IoT systems</a:t>
            </a:r>
          </a:p>
          <a:p>
            <a:pPr>
              <a:spcAft>
                <a:spcPts val="1100"/>
              </a:spcAft>
            </a:pPr>
            <a:r>
              <a:rPr sz="1500" dirty="0">
                <a:solidFill>
                  <a:srgbClr val="0B0B0B"/>
                </a:solidFill>
                <a:latin typeface="Calibri"/>
              </a:rPr>
              <a:t>●   Auth = the local, automated point of authorization — two roles:</a:t>
            </a:r>
          </a:p>
          <a:p>
            <a:pPr lvl="1">
              <a:spcAft>
                <a:spcPts val="700"/>
              </a:spcAft>
            </a:pPr>
            <a:r>
              <a:rPr sz="1300" dirty="0">
                <a:solidFill>
                  <a:srgbClr val="52514E"/>
                </a:solidFill>
                <a:latin typeface="Calibri"/>
              </a:rPr>
              <a:t>‒   Authenticates/authorizes its own locally registered entities</a:t>
            </a:r>
          </a:p>
          <a:p>
            <a:pPr lvl="1">
              <a:spcAft>
                <a:spcPts val="700"/>
              </a:spcAft>
            </a:pPr>
            <a:r>
              <a:rPr sz="1300" dirty="0">
                <a:solidFill>
                  <a:srgbClr val="52514E"/>
                </a:solidFill>
                <a:latin typeface="Calibri"/>
              </a:rPr>
              <a:t>‒   Bridges authorization between local entities and the wider network</a:t>
            </a:r>
          </a:p>
          <a:p>
            <a:pPr>
              <a:spcAft>
                <a:spcPts val="1100"/>
              </a:spcAft>
            </a:pPr>
            <a:r>
              <a:rPr sz="1500" dirty="0">
                <a:solidFill>
                  <a:srgbClr val="0B0B0B"/>
                </a:solidFill>
                <a:latin typeface="Calibri"/>
              </a:rPr>
              <a:t>●   Architectural concept: “locally centralized, globally distributed” authentication and authorization</a:t>
            </a:r>
          </a:p>
          <a:p>
            <a:pPr>
              <a:spcAft>
                <a:spcPts val="1100"/>
              </a:spcAft>
            </a:pPr>
            <a:r>
              <a:rPr sz="1500" dirty="0">
                <a:solidFill>
                  <a:srgbClr val="0B0B0B"/>
                </a:solidFill>
                <a:latin typeface="Calibri"/>
              </a:rPr>
              <a:t>●   Published research lineage spanning a decade: </a:t>
            </a:r>
            <a:r>
              <a:rPr sz="1500" dirty="0" err="1">
                <a:solidFill>
                  <a:srgbClr val="0B0B0B"/>
                </a:solidFill>
                <a:latin typeface="Calibri"/>
              </a:rPr>
              <a:t>IoTDI</a:t>
            </a:r>
            <a:r>
              <a:rPr sz="1500" dirty="0">
                <a:solidFill>
                  <a:srgbClr val="0B0B0B"/>
                </a:solidFill>
                <a:latin typeface="Calibri"/>
              </a:rPr>
              <a:t> '17, </a:t>
            </a:r>
            <a:r>
              <a:rPr sz="1500" dirty="0" err="1">
                <a:solidFill>
                  <a:srgbClr val="0B0B0B"/>
                </a:solidFill>
                <a:latin typeface="Calibri"/>
              </a:rPr>
              <a:t>FiCloud</a:t>
            </a:r>
            <a:r>
              <a:rPr sz="1500" dirty="0">
                <a:solidFill>
                  <a:srgbClr val="0B0B0B"/>
                </a:solidFill>
                <a:latin typeface="Calibri"/>
              </a:rPr>
              <a:t> '16, IT Professional '17, ACM TIOT '20, </a:t>
            </a:r>
            <a:r>
              <a:rPr sz="1500" dirty="0" err="1">
                <a:solidFill>
                  <a:srgbClr val="0B0B0B"/>
                </a:solidFill>
                <a:latin typeface="Calibri"/>
              </a:rPr>
              <a:t>SoftwareX</a:t>
            </a:r>
            <a:r>
              <a:rPr sz="1500" dirty="0">
                <a:solidFill>
                  <a:srgbClr val="0B0B0B"/>
                </a:solidFill>
                <a:latin typeface="Calibri"/>
              </a:rPr>
              <a:t> '23</a:t>
            </a:r>
          </a:p>
          <a:p>
            <a:pPr>
              <a:spcAft>
                <a:spcPts val="1100"/>
              </a:spcAft>
            </a:pPr>
            <a:r>
              <a:rPr sz="1500" dirty="0">
                <a:solidFill>
                  <a:srgbClr val="0B0B0B"/>
                </a:solidFill>
                <a:latin typeface="Calibri"/>
              </a:rPr>
              <a:t>●   Built and maintained at ASU KIM Labs </a:t>
            </a:r>
            <a:endParaRPr lang="en-US" sz="1500" dirty="0">
              <a:solidFill>
                <a:srgbClr val="0B0B0B"/>
              </a:solidFill>
              <a:latin typeface="Calibri"/>
            </a:endParaRPr>
          </a:p>
          <a:p>
            <a:pPr>
              <a:spcAft>
                <a:spcPts val="1100"/>
              </a:spcAft>
            </a:pPr>
            <a:r>
              <a:rPr sz="1500" dirty="0">
                <a:solidFill>
                  <a:srgbClr val="0B0B0B"/>
                </a:solidFill>
                <a:latin typeface="Calibri"/>
              </a:rPr>
              <a:t>●   This work integrates via the </a:t>
            </a:r>
            <a:r>
              <a:rPr sz="1500" dirty="0" err="1">
                <a:solidFill>
                  <a:srgbClr val="0B0B0B"/>
                </a:solidFill>
                <a:latin typeface="Calibri"/>
              </a:rPr>
              <a:t>sst</a:t>
            </a:r>
            <a:r>
              <a:rPr sz="1500" dirty="0">
                <a:solidFill>
                  <a:srgbClr val="0B0B0B"/>
                </a:solidFill>
                <a:latin typeface="Calibri"/>
              </a:rPr>
              <a:t>-c-</a:t>
            </a:r>
            <a:r>
              <a:rPr sz="1500" dirty="0" err="1">
                <a:solidFill>
                  <a:srgbClr val="0B0B0B"/>
                </a:solidFill>
                <a:latin typeface="Calibri"/>
              </a:rPr>
              <a:t>api</a:t>
            </a:r>
            <a:r>
              <a:rPr sz="1500" dirty="0">
                <a:solidFill>
                  <a:srgbClr val="0B0B0B"/>
                </a:solidFill>
                <a:latin typeface="Calibri"/>
              </a:rPr>
              <a:t> C library, rather than reimplementing key distribution from scratch</a:t>
            </a:r>
          </a:p>
        </p:txBody>
      </p:sp>
      <p:pic>
        <p:nvPicPr>
          <p:cNvPr id="5" name="Picture 4" descr="A white background with text&#10;&#10;AI-generated content may be incorrect.">
            <a:extLst>
              <a:ext uri="{FF2B5EF4-FFF2-40B4-BE49-F238E27FC236}">
                <a16:creationId xmlns:a16="http://schemas.microsoft.com/office/drawing/2014/main" id="{FD186EBB-D5B1-D227-8BA2-572D39B76F41}"/>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C360D6C2-2345-AF65-F8EC-35635716C6A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127352"/>
            <a:ext cx="11155680" cy="822960"/>
          </a:xfrm>
          <a:prstGeom prst="rect">
            <a:avLst/>
          </a:prstGeom>
          <a:noFill/>
        </p:spPr>
        <p:txBody>
          <a:bodyPr wrap="square">
            <a:spAutoFit/>
          </a:bodyPr>
          <a:lstStyle/>
          <a:p>
            <a:r>
              <a:rPr sz="2900" b="1" dirty="0">
                <a:solidFill>
                  <a:srgbClr val="0B0B0B"/>
                </a:solidFill>
                <a:latin typeface="Calibri"/>
              </a:rPr>
              <a:t>Sender Provisioning &amp; Key Rotation</a:t>
            </a:r>
          </a:p>
        </p:txBody>
      </p:sp>
      <p:sp>
        <p:nvSpPr>
          <p:cNvPr id="3" name="TextBox 2"/>
          <p:cNvSpPr txBox="1"/>
          <p:nvPr/>
        </p:nvSpPr>
        <p:spPr>
          <a:xfrm>
            <a:off x="701040" y="1879600"/>
            <a:ext cx="10789920" cy="4846320"/>
          </a:xfrm>
          <a:prstGeom prst="rect">
            <a:avLst/>
          </a:prstGeom>
          <a:noFill/>
        </p:spPr>
        <p:txBody>
          <a:bodyPr wrap="square">
            <a:spAutoFit/>
          </a:bodyPr>
          <a:lstStyle/>
          <a:p>
            <a:pPr>
              <a:spcAft>
                <a:spcPts val="1100"/>
              </a:spcAft>
            </a:pPr>
            <a:r>
              <a:rPr sz="1550" dirty="0">
                <a:solidFill>
                  <a:srgbClr val="0B0B0B"/>
                </a:solidFill>
                <a:latin typeface="Calibri"/>
              </a:rPr>
              <a:t>●   </a:t>
            </a:r>
            <a:r>
              <a:rPr sz="1550" dirty="0" err="1">
                <a:solidFill>
                  <a:srgbClr val="0B0B0B"/>
                </a:solidFill>
                <a:latin typeface="Calibri"/>
              </a:rPr>
              <a:t>IoTAuth</a:t>
            </a:r>
            <a:r>
              <a:rPr sz="1550" dirty="0">
                <a:solidFill>
                  <a:srgbClr val="0B0B0B"/>
                </a:solidFill>
                <a:latin typeface="Calibri"/>
              </a:rPr>
              <a:t> Server (Java, TLS-protected) ↔ </a:t>
            </a:r>
            <a:r>
              <a:rPr sz="1550" dirty="0" err="1">
                <a:solidFill>
                  <a:srgbClr val="0B0B0B"/>
                </a:solidFill>
                <a:latin typeface="Calibri"/>
              </a:rPr>
              <a:t>keys_receiver</a:t>
            </a:r>
            <a:r>
              <a:rPr sz="1550" dirty="0">
                <a:solidFill>
                  <a:srgbClr val="0B0B0B"/>
                </a:solidFill>
                <a:latin typeface="Calibri"/>
              </a:rPr>
              <a:t> (Linux host) via the SST C API</a:t>
            </a:r>
          </a:p>
          <a:p>
            <a:pPr lvl="1">
              <a:spcAft>
                <a:spcPts val="700"/>
              </a:spcAft>
            </a:pPr>
            <a:r>
              <a:rPr sz="1350" dirty="0">
                <a:solidFill>
                  <a:srgbClr val="52514E"/>
                </a:solidFill>
                <a:latin typeface="Calibri"/>
              </a:rPr>
              <a:t>‒   </a:t>
            </a:r>
            <a:r>
              <a:rPr sz="1350" dirty="0" err="1">
                <a:solidFill>
                  <a:srgbClr val="52514E"/>
                </a:solidFill>
                <a:latin typeface="Calibri"/>
              </a:rPr>
              <a:t>init_SST</a:t>
            </a:r>
            <a:r>
              <a:rPr sz="1350" dirty="0">
                <a:solidFill>
                  <a:srgbClr val="52514E"/>
                </a:solidFill>
                <a:latin typeface="Calibri"/>
              </a:rPr>
              <a:t>() → </a:t>
            </a:r>
            <a:r>
              <a:rPr sz="1350" dirty="0" err="1">
                <a:solidFill>
                  <a:srgbClr val="52514E"/>
                </a:solidFill>
                <a:latin typeface="Calibri"/>
              </a:rPr>
              <a:t>get_session_key</a:t>
            </a:r>
            <a:r>
              <a:rPr sz="1350" dirty="0">
                <a:solidFill>
                  <a:srgbClr val="52514E"/>
                </a:solidFill>
                <a:latin typeface="Calibri"/>
              </a:rPr>
              <a:t>() → </a:t>
            </a:r>
            <a:r>
              <a:rPr sz="1350" dirty="0" err="1">
                <a:solidFill>
                  <a:srgbClr val="52514E"/>
                </a:solidFill>
                <a:latin typeface="Calibri"/>
              </a:rPr>
              <a:t>session_key_t</a:t>
            </a:r>
            <a:r>
              <a:rPr sz="1350" dirty="0">
                <a:solidFill>
                  <a:srgbClr val="52514E"/>
                </a:solidFill>
                <a:latin typeface="Calibri"/>
              </a:rPr>
              <a:t> { key ID, cipher key, MAC key, mode, validity }</a:t>
            </a:r>
          </a:p>
          <a:p>
            <a:pPr>
              <a:spcAft>
                <a:spcPts val="1100"/>
              </a:spcAft>
            </a:pPr>
            <a:r>
              <a:rPr sz="1550" dirty="0">
                <a:solidFill>
                  <a:srgbClr val="0B0B0B"/>
                </a:solidFill>
                <a:latin typeface="Calibri"/>
              </a:rPr>
              <a:t>●   Session key delivered to the Pico sender over a dedicated UART channel (1 Mbps)</a:t>
            </a:r>
          </a:p>
          <a:p>
            <a:pPr>
              <a:spcAft>
                <a:spcPts val="1100"/>
              </a:spcAft>
            </a:pPr>
            <a:r>
              <a:rPr sz="1550" dirty="0">
                <a:solidFill>
                  <a:srgbClr val="0B0B0B"/>
                </a:solidFill>
                <a:latin typeface="Calibri"/>
              </a:rPr>
              <a:t>●   Delivery is confirmed, not assumed — a 4-state HMAC handshake between host and sender:</a:t>
            </a:r>
          </a:p>
          <a:p>
            <a:pPr lvl="1">
              <a:spcAft>
                <a:spcPts val="700"/>
              </a:spcAft>
            </a:pPr>
            <a:r>
              <a:rPr sz="1350" dirty="0">
                <a:solidFill>
                  <a:srgbClr val="52514E"/>
                </a:solidFill>
                <a:latin typeface="Calibri"/>
              </a:rPr>
              <a:t>‒   IDLE → send challenge → WAITING_FOR_YES (ACK) → WAITING_FOR_ACK (KEY_OK) → WAITING_FOR_HMAC_RESP → verified</a:t>
            </a:r>
          </a:p>
          <a:p>
            <a:pPr>
              <a:spcAft>
                <a:spcPts val="1100"/>
              </a:spcAft>
            </a:pPr>
            <a:r>
              <a:rPr sz="1550" dirty="0">
                <a:solidFill>
                  <a:srgbClr val="0B0B0B"/>
                </a:solidFill>
                <a:latin typeface="Calibri"/>
              </a:rPr>
              <a:t>●   Only once the HMAC response matches does the host consider the key genuinely loaded</a:t>
            </a:r>
          </a:p>
          <a:p>
            <a:pPr>
              <a:spcAft>
                <a:spcPts val="1100"/>
              </a:spcAft>
            </a:pPr>
            <a:r>
              <a:rPr sz="1550" dirty="0">
                <a:solidFill>
                  <a:srgbClr val="0B0B0B"/>
                </a:solidFill>
                <a:latin typeface="Calibri"/>
              </a:rPr>
              <a:t>●   Keys persist in dual-slot (A/B) flash, SHA-256 integrity-checked — rotation writes the inactive slot first, old slot kept as rollback</a:t>
            </a:r>
          </a:p>
        </p:txBody>
      </p:sp>
      <p:pic>
        <p:nvPicPr>
          <p:cNvPr id="4" name="Picture 3" descr="A white background with text&#10;&#10;AI-generated content may be incorrect.">
            <a:extLst>
              <a:ext uri="{FF2B5EF4-FFF2-40B4-BE49-F238E27FC236}">
                <a16:creationId xmlns:a16="http://schemas.microsoft.com/office/drawing/2014/main" id="{60378733-A5B4-5FB6-E2A7-C4B05769043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DC2415C6-7601-AB30-B6A9-E5502E0068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01303"/>
            <a:ext cx="11155680" cy="822960"/>
          </a:xfrm>
          <a:prstGeom prst="rect">
            <a:avLst/>
          </a:prstGeom>
          <a:noFill/>
        </p:spPr>
        <p:txBody>
          <a:bodyPr wrap="square">
            <a:spAutoFit/>
          </a:bodyPr>
          <a:lstStyle/>
          <a:p>
            <a:r>
              <a:rPr sz="2900" b="1" dirty="0">
                <a:solidFill>
                  <a:srgbClr val="0B0B0B"/>
                </a:solidFill>
                <a:latin typeface="Calibri"/>
              </a:rPr>
              <a:t>Auth's Role Doesn't Stop After Provisioning</a:t>
            </a:r>
          </a:p>
        </p:txBody>
      </p:sp>
      <p:pic>
        <p:nvPicPr>
          <p:cNvPr id="3" name="Picture 2" descr="sst_auth_role.png"/>
          <p:cNvPicPr>
            <a:picLocks noChangeAspect="1"/>
          </p:cNvPicPr>
          <p:nvPr/>
        </p:nvPicPr>
        <p:blipFill>
          <a:blip r:embed="rId3"/>
          <a:stretch>
            <a:fillRect/>
          </a:stretch>
        </p:blipFill>
        <p:spPr>
          <a:xfrm>
            <a:off x="2818295" y="1417320"/>
            <a:ext cx="6555105" cy="5074920"/>
          </a:xfrm>
          <a:prstGeom prst="rect">
            <a:avLst/>
          </a:prstGeom>
        </p:spPr>
      </p:pic>
      <p:pic>
        <p:nvPicPr>
          <p:cNvPr id="4" name="Picture 3" descr="A white background with text&#10;&#10;AI-generated content may be incorrect.">
            <a:extLst>
              <a:ext uri="{FF2B5EF4-FFF2-40B4-BE49-F238E27FC236}">
                <a16:creationId xmlns:a16="http://schemas.microsoft.com/office/drawing/2014/main" id="{842F10B3-DB57-3EBF-10AD-BD6C1B2514DF}"/>
              </a:ext>
            </a:extLst>
          </p:cNvPr>
          <p:cNvPicPr>
            <a:picLocks noChangeAspect="1"/>
          </p:cNvPicPr>
          <p:nvPr/>
        </p:nvPicPr>
        <p:blipFill>
          <a:blip r:embed="rId4"/>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A9039314-DA31-4692-9C1D-F224572C01C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Protocol Flow — Beacon to Authorization Grant</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One authorization round: what crosses the optical link, what crosses the network, and what Auth decides.</a:t>
            </a:r>
          </a:p>
        </p:txBody>
      </p:sp>
      <p:sp>
        <p:nvSpPr>
          <p:cNvPr id="4" name="TextBox 3"/>
          <p:cNvSpPr txBox="1"/>
          <p:nvPr/>
        </p:nvSpPr>
        <p:spPr>
          <a:xfrm>
            <a:off x="685800" y="1600200"/>
            <a:ext cx="10789920" cy="3452227"/>
          </a:xfrm>
          <a:prstGeom prst="rect">
            <a:avLst/>
          </a:prstGeom>
          <a:noFill/>
        </p:spPr>
        <p:txBody>
          <a:bodyPr wrap="square">
            <a:spAutoFit/>
          </a:bodyPr>
          <a:lstStyle/>
          <a:p>
            <a:pPr marL="228600" indent="-228600">
              <a:spcAft>
                <a:spcPts val="300"/>
              </a:spcAft>
            </a:pPr>
            <a:r>
              <a:rPr lang="en-US" sz="1700" dirty="0">
                <a:solidFill>
                  <a:srgbClr val="0B0B0B"/>
                </a:solidFill>
                <a:latin typeface="Calibri"/>
              </a:rPr>
              <a:t>①  Beacon → Device (optical, one-way)</a:t>
            </a:r>
          </a:p>
          <a:p>
            <a:pPr marL="685800" lvl="1" indent="-228600">
              <a:spcAft>
                <a:spcPts val="1300"/>
              </a:spcAft>
            </a:pPr>
            <a:r>
              <a:rPr lang="en-US" sz="1500" dirty="0">
                <a:solidFill>
                  <a:srgbClr val="52514E"/>
                </a:solidFill>
                <a:latin typeface="Calibri"/>
              </a:rPr>
              <a:t>Sender broadcasts signed beacon B = { room_id, nonce N, timestamp t, MAC_k(·) } over the LED at fixed interval.</a:t>
            </a:r>
          </a:p>
          <a:p>
            <a:pPr marL="228600" indent="-228600">
              <a:spcAft>
                <a:spcPts val="300"/>
              </a:spcAft>
            </a:pPr>
            <a:r>
              <a:rPr lang="en-US" sz="1700" dirty="0">
                <a:solidFill>
                  <a:srgbClr val="0B0B0B"/>
                </a:solidFill>
                <a:latin typeface="Calibri"/>
              </a:rPr>
              <a:t>②  Device → Auth (network)</a:t>
            </a:r>
          </a:p>
          <a:p>
            <a:pPr marL="685800" lvl="1" indent="-228600">
              <a:spcAft>
                <a:spcPts val="1300"/>
              </a:spcAft>
            </a:pPr>
            <a:r>
              <a:rPr lang="en-US" sz="1500" dirty="0">
                <a:solidFill>
                  <a:srgbClr val="52514E"/>
                </a:solidFill>
                <a:latin typeface="Calibri"/>
              </a:rPr>
              <a:t>Device forwards the beacon it observed plus its own identity; it cannot forge N because it never held k.</a:t>
            </a:r>
          </a:p>
          <a:p>
            <a:pPr marL="228600" indent="-228600">
              <a:spcAft>
                <a:spcPts val="300"/>
              </a:spcAft>
            </a:pPr>
            <a:r>
              <a:rPr lang="en-US" sz="1700" dirty="0">
                <a:solidFill>
                  <a:srgbClr val="0B0B0B"/>
                </a:solidFill>
                <a:latin typeface="Calibri"/>
              </a:rPr>
              <a:t>③  Auth validates freshness and origin</a:t>
            </a:r>
          </a:p>
          <a:p>
            <a:pPr marL="685800" lvl="1" indent="-228600">
              <a:spcAft>
                <a:spcPts val="1300"/>
              </a:spcAft>
            </a:pPr>
            <a:r>
              <a:rPr lang="en-US" sz="1500" dirty="0">
                <a:solidFill>
                  <a:srgbClr val="52514E"/>
                </a:solidFill>
                <a:latin typeface="Calibri"/>
              </a:rPr>
              <a:t>Checks MAC under the sender's rotating key, then checks t is inside the acceptance window W and N is unseen.</a:t>
            </a:r>
          </a:p>
          <a:p>
            <a:pPr marL="228600" indent="-228600">
              <a:spcAft>
                <a:spcPts val="300"/>
              </a:spcAft>
            </a:pPr>
            <a:r>
              <a:rPr lang="en-US" sz="1700" dirty="0">
                <a:solidFill>
                  <a:srgbClr val="0B0B0B"/>
                </a:solidFill>
                <a:latin typeface="Calibri"/>
              </a:rPr>
              <a:t>④  Auth → Device: session credential</a:t>
            </a:r>
          </a:p>
          <a:p>
            <a:pPr marL="685800" lvl="1" indent="-228600">
              <a:spcAft>
                <a:spcPts val="1300"/>
              </a:spcAft>
            </a:pPr>
            <a:r>
              <a:rPr lang="en-US" sz="1500" dirty="0">
                <a:solidFill>
                  <a:srgbClr val="52514E"/>
                </a:solidFill>
                <a:latin typeface="Calibri"/>
              </a:rPr>
              <a:t>On success, Auth issues a short-lived SST session key scoped to room_id — physical presence becomes an access decision.</a:t>
            </a:r>
          </a:p>
          <a:p>
            <a:pPr marL="228600" indent="-228600">
              <a:spcAft>
                <a:spcPts val="300"/>
              </a:spcAft>
            </a:pPr>
            <a:r>
              <a:rPr lang="en-US" sz="1700" dirty="0">
                <a:solidFill>
                  <a:srgbClr val="0B0B0B"/>
                </a:solidFill>
                <a:latin typeface="Calibri"/>
              </a:rPr>
              <a:t>⑤  Continuous re-attestation</a:t>
            </a:r>
          </a:p>
          <a:p>
            <a:pPr marL="685800" lvl="1" indent="-228600">
              <a:spcAft>
                <a:spcPts val="1300"/>
              </a:spcAft>
            </a:pPr>
            <a:r>
              <a:rPr lang="en-US" sz="1500" dirty="0">
                <a:solidFill>
                  <a:srgbClr val="52514E"/>
                </a:solidFill>
                <a:latin typeface="Calibri"/>
              </a:rPr>
              <a:t>Device must present a fresh beacon each interval; on occlusion the credential expires rather than being revoked (see G4).</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3542443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003300"/>
            <a:ext cx="11155680" cy="822960"/>
          </a:xfrm>
          <a:prstGeom prst="rect">
            <a:avLst/>
          </a:prstGeom>
          <a:noFill/>
        </p:spPr>
        <p:txBody>
          <a:bodyPr wrap="square">
            <a:spAutoFit/>
          </a:bodyPr>
          <a:lstStyle/>
          <a:p>
            <a:r>
              <a:rPr sz="2900" b="1" dirty="0">
                <a:solidFill>
                  <a:srgbClr val="0B0B0B"/>
                </a:solidFill>
                <a:latin typeface="Calibri"/>
              </a:rPr>
              <a:t>Adversary Model</a:t>
            </a:r>
          </a:p>
        </p:txBody>
      </p:sp>
      <p:sp>
        <p:nvSpPr>
          <p:cNvPr id="3" name="TextBox 2"/>
          <p:cNvSpPr txBox="1"/>
          <p:nvPr/>
        </p:nvSpPr>
        <p:spPr>
          <a:xfrm>
            <a:off x="701040" y="183896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Network control — standard Dolev-Yao adversary on RF/network links (eavesdrop, replay, delay, drop, inject)</a:t>
            </a:r>
          </a:p>
          <a:p>
            <a:pPr>
              <a:spcAft>
                <a:spcPts val="1100"/>
              </a:spcAft>
            </a:pPr>
            <a:r>
              <a:rPr sz="1700" dirty="0">
                <a:solidFill>
                  <a:srgbClr val="0B0B0B"/>
                </a:solidFill>
                <a:latin typeface="Calibri"/>
              </a:rPr>
              <a:t>●   Optical observation — passive sensors capture ciphertext, tags, nonces — never plaintext or key material</a:t>
            </a:r>
          </a:p>
          <a:p>
            <a:pPr>
              <a:spcAft>
                <a:spcPts val="1100"/>
              </a:spcAft>
            </a:pPr>
            <a:r>
              <a:rPr sz="1700" dirty="0">
                <a:solidFill>
                  <a:srgbClr val="0B0B0B"/>
                </a:solidFill>
                <a:latin typeface="Calibri"/>
              </a:rPr>
              <a:t>●   Relay — capture the optical signal, transport it, re-emit remotely; introduces latency δᵣₑₗₐᵧ</a:t>
            </a:r>
          </a:p>
          <a:p>
            <a:pPr>
              <a:spcAft>
                <a:spcPts val="1100"/>
              </a:spcAft>
            </a:pPr>
            <a:r>
              <a:rPr sz="1700" dirty="0">
                <a:solidFill>
                  <a:srgbClr val="0B0B0B"/>
                </a:solidFill>
                <a:latin typeface="Calibri"/>
              </a:rPr>
              <a:t>●   Optical injection — a rogue light source without the session key fails AES-128-GCM tag verification</a:t>
            </a:r>
          </a:p>
          <a:p>
            <a:pPr>
              <a:spcAft>
                <a:spcPts val="1100"/>
              </a:spcAft>
            </a:pPr>
            <a:r>
              <a:rPr sz="1700" dirty="0">
                <a:solidFill>
                  <a:srgbClr val="0B0B0B"/>
                </a:solidFill>
                <a:latin typeface="Calibri"/>
              </a:rPr>
              <a:t>●   Denial of service — physical obstruction, ambient-light saturation, RF jamming of the network link</a:t>
            </a:r>
          </a:p>
          <a:p>
            <a:pPr lvl="1">
              <a:spcAft>
                <a:spcPts val="700"/>
              </a:spcAft>
            </a:pPr>
            <a:r>
              <a:rPr sz="1450" dirty="0">
                <a:solidFill>
                  <a:srgbClr val="52514E"/>
                </a:solidFill>
                <a:latin typeface="Calibri"/>
              </a:rPr>
              <a:t>‒   The system fails closed by design: denial of signal → revocation, never false authorization</a:t>
            </a:r>
          </a:p>
        </p:txBody>
      </p:sp>
      <p:pic>
        <p:nvPicPr>
          <p:cNvPr id="4" name="Picture 3" descr="A white background with text&#10;&#10;AI-generated content may be incorrect.">
            <a:extLst>
              <a:ext uri="{FF2B5EF4-FFF2-40B4-BE49-F238E27FC236}">
                <a16:creationId xmlns:a16="http://schemas.microsoft.com/office/drawing/2014/main" id="{FEF72888-CE72-5ADB-6A05-EAED81B5D108}"/>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6B0403EE-BF2B-B038-5023-B1F39A4BEAD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4840" y="761523"/>
            <a:ext cx="11155680" cy="822960"/>
          </a:xfrm>
          <a:prstGeom prst="rect">
            <a:avLst/>
          </a:prstGeom>
          <a:noFill/>
        </p:spPr>
        <p:txBody>
          <a:bodyPr wrap="square">
            <a:spAutoFit/>
          </a:bodyPr>
          <a:lstStyle/>
          <a:p>
            <a:r>
              <a:rPr sz="2900" b="1" dirty="0">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Mechanism</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0">
                          <a:solidFill>
                            <a:srgbClr val="0B0B0B"/>
                          </a:solidFill>
                          <a:latin typeface="Calibri"/>
                        </a:rPr>
                        <a:t>Token window Δ</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0">
                          <a:solidFill>
                            <a:srgbClr val="0B0B0B"/>
                          </a:solidFill>
                          <a:latin typeface="Calibri"/>
                        </a:rPr>
                        <a:t>64-entry nonce sliding window</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Authorization</a:t>
                      </a:r>
                    </a:p>
                  </a:txBody>
                  <a:tcPr anchor="ctr">
                    <a:solidFill>
                      <a:srgbClr val="FFFFFF"/>
                    </a:solidFill>
                  </a:tcPr>
                </a:tc>
                <a:tc>
                  <a:txBody>
                    <a:bodyPr/>
                    <a:lstStyle/>
                    <a:p>
                      <a:pPr algn="ctr"/>
                      <a:r>
                        <a:rPr sz="1250" b="0">
                          <a:solidFill>
                            <a:srgbClr val="0B0B0B"/>
                          </a:solidFill>
                          <a:latin typeface="Calibri"/>
                        </a:rPr>
                        <a:t>No timing check on data path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0">
                          <a:solidFill>
                            <a:srgbClr val="0B0B0B"/>
                          </a:solidFill>
                          <a:latin typeface="Calibri"/>
                        </a:rPr>
                        <a:t>Absence of signal = revocation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b="1" i="0">
                <a:solidFill>
                  <a:srgbClr val="898781"/>
                </a:solidFill>
                <a:latin typeface="Calibri"/>
              </a:rPr>
              <a:t>This table is the scorecard for the rest of the talk — every evaluation result maps back to one row.</a:t>
            </a:r>
          </a:p>
        </p:txBody>
      </p:sp>
      <p:pic>
        <p:nvPicPr>
          <p:cNvPr id="5" name="Picture 4" descr="A white background with text&#10;&#10;AI-generated content may be incorrect.">
            <a:extLst>
              <a:ext uri="{FF2B5EF4-FFF2-40B4-BE49-F238E27FC236}">
                <a16:creationId xmlns:a16="http://schemas.microsoft.com/office/drawing/2014/main" id="{ACE9843C-8B23-E381-BBE7-160A5A191175}"/>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2D808089-314D-41B4-F6A3-F0B5C86B622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 used only at session-key setup — not part of the runtime data path</a:t>
            </a:r>
          </a:p>
          <a:p>
            <a:pPr>
              <a:spcAft>
                <a:spcPts val="1100"/>
              </a:spcAft>
            </a:pPr>
            <a:r>
              <a:rPr sz="1700">
                <a:solidFill>
                  <a:srgbClr val="0B0B0B"/>
                </a:solidFill>
                <a:latin typeface="Calibri"/>
              </a:rPr>
              <a:t>●   Freshness, revocation-latency, and replay-boundary results were measured on the debug receiver (receiver_pico/src/main.c)</a:t>
            </a:r>
          </a:p>
          <a:p>
            <a:pPr lvl="1">
              <a:spcAft>
                <a:spcPts val="700"/>
              </a:spcAft>
            </a:pPr>
            <a:r>
              <a:rPr sz="1450">
                <a:solidFill>
                  <a:srgbClr val="52514E"/>
                </a:solidFill>
                <a:latin typeface="Calibri"/>
              </a:rPr>
              <a:t>‒   The Δ-based revocation decision itself was computed by an external monitoring script at measurement time</a:t>
            </a:r>
          </a:p>
          <a:p>
            <a:pPr lvl="1">
              <a:spcAft>
                <a:spcPts val="700"/>
              </a:spcAft>
            </a:pPr>
            <a:r>
              <a:rPr sz="1450">
                <a:solidFill>
                  <a:srgbClr val="52514E"/>
                </a:solidFill>
                <a:latin typeface="Calibri"/>
              </a:rPr>
              <a:t>‒   That decision logic has since been ported directly into the receiver firmware as well (presence_check_decay())</a:t>
            </a:r>
          </a:p>
          <a:p>
            <a:pPr>
              <a:spcAft>
                <a:spcPts val="1100"/>
              </a:spcAft>
            </a:pPr>
            <a:r>
              <a:rPr sz="1700">
                <a:solidFill>
                  <a:srgbClr val="0B0B0B"/>
                </a:solidFill>
                <a:latin typeface="Calibri"/>
              </a:rPr>
              <a:t>●   Re-confirming the reported numbers against this on-device decision is named explicitly as pending work, not silently assumed</a:t>
            </a:r>
          </a:p>
        </p:txBody>
      </p:sp>
      <p:pic>
        <p:nvPicPr>
          <p:cNvPr id="4" name="Picture 3" descr="A white background with text&#10;&#10;AI-generated content may be incorrect.">
            <a:extLst>
              <a:ext uri="{FF2B5EF4-FFF2-40B4-BE49-F238E27FC236}">
                <a16:creationId xmlns:a16="http://schemas.microsoft.com/office/drawing/2014/main" id="{F3652ED0-AD2D-3B59-64B0-F409C11E9EE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BA9D89B-5D8A-11D8-80B6-901B530631A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3" name="Picture 2" descr="revocation_latency.png"/>
          <p:cNvPicPr>
            <a:picLocks noChangeAspect="1"/>
          </p:cNvPicPr>
          <p:nvPr/>
        </p:nvPicPr>
        <p:blipFill>
          <a:blip r:embed="rId3"/>
          <a:stretch>
            <a:fillRect/>
          </a:stretch>
        </p:blipFill>
        <p:spPr>
          <a:xfrm>
            <a:off x="458571" y="1603862"/>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Intrinsic time-to-revoke: 15.11s ± 0.06s — essentially exactly Δ (15s) plus fixed overhead.</a:t>
            </a:r>
          </a:p>
        </p:txBody>
      </p:sp>
      <p:pic>
        <p:nvPicPr>
          <p:cNvPr id="5" name="Picture 4" descr="A white background with text&#10;&#10;AI-generated content may be incorrect.">
            <a:extLst>
              <a:ext uri="{FF2B5EF4-FFF2-40B4-BE49-F238E27FC236}">
                <a16:creationId xmlns:a16="http://schemas.microsoft.com/office/drawing/2014/main" id="{332825AC-3A08-1461-AB8E-D7D24766CD02}"/>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83511F3-C65A-FB62-4807-1E3A73658A3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3"/>
          <a:stretch>
            <a:fillRect/>
          </a:stretch>
        </p:blipFill>
        <p:spPr>
          <a:xfrm>
            <a:off x="1320647" y="1568768"/>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0.0% false-revoke rate at every candidate Δ tested — but this session can't rule out a smaller crossover under degraded conditions.</a:t>
            </a:r>
          </a:p>
        </p:txBody>
      </p:sp>
      <p:pic>
        <p:nvPicPr>
          <p:cNvPr id="5" name="Picture 4" descr="A white background with text&#10;&#10;AI-generated content may be incorrect.">
            <a:extLst>
              <a:ext uri="{FF2B5EF4-FFF2-40B4-BE49-F238E27FC236}">
                <a16:creationId xmlns:a16="http://schemas.microsoft.com/office/drawing/2014/main" id="{93847ECD-4831-ED4C-9199-636AF1A94FF4}"/>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9F7426EC-C6E5-1F3A-F7B8-66CBB09FC93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830179"/>
            <a:ext cx="11155680" cy="984885"/>
          </a:xfrm>
          <a:prstGeom prst="rect">
            <a:avLst/>
          </a:prstGeom>
          <a:noFill/>
        </p:spPr>
        <p:txBody>
          <a:bodyPr wrap="square">
            <a:spAutoFit/>
          </a:bodyPr>
          <a:lstStyle/>
          <a:p>
            <a:r>
              <a:rPr sz="2900" b="1" dirty="0">
                <a:solidFill>
                  <a:srgbClr val="0B0B0B"/>
                </a:solidFill>
                <a:latin typeface="Calibri"/>
              </a:rPr>
              <a:t>G2 — Replay Rejection &amp; the Window-Boundary </a:t>
            </a:r>
            <a:endParaRPr lang="en-US" sz="2900" b="1" dirty="0">
              <a:solidFill>
                <a:srgbClr val="0B0B0B"/>
              </a:solidFill>
              <a:latin typeface="Calibri"/>
            </a:endParaRPr>
          </a:p>
          <a:p>
            <a:r>
              <a:rPr sz="2900" b="1" dirty="0">
                <a:solidFill>
                  <a:srgbClr val="0B0B0B"/>
                </a:solidFill>
                <a:latin typeface="Calibri"/>
              </a:rPr>
              <a:t>Limitation</a:t>
            </a:r>
          </a:p>
        </p:txBody>
      </p:sp>
      <p:pic>
        <p:nvPicPr>
          <p:cNvPr id="3" name="Picture 2" descr="replay_boundary.png"/>
          <p:cNvPicPr>
            <a:picLocks noChangeAspect="1"/>
          </p:cNvPicPr>
          <p:nvPr/>
        </p:nvPicPr>
        <p:blipFill>
          <a:blip r:embed="rId3"/>
          <a:stretch>
            <a:fillRect/>
          </a:stretch>
        </p:blipFill>
        <p:spPr>
          <a:xfrm>
            <a:off x="723747" y="1699815"/>
            <a:ext cx="10744200" cy="4297680"/>
          </a:xfrm>
          <a:prstGeom prst="rect">
            <a:avLst/>
          </a:prstGeom>
        </p:spPr>
      </p:pic>
      <p:sp>
        <p:nvSpPr>
          <p:cNvPr id="4" name="TextBox 3"/>
          <p:cNvSpPr txBox="1"/>
          <p:nvPr/>
        </p:nvSpPr>
        <p:spPr>
          <a:xfrm>
            <a:off x="502920" y="6013324"/>
            <a:ext cx="11155680" cy="548640"/>
          </a:xfrm>
          <a:prstGeom prst="rect">
            <a:avLst/>
          </a:prstGeom>
          <a:noFill/>
        </p:spPr>
        <p:txBody>
          <a:bodyPr wrap="square">
            <a:spAutoFit/>
          </a:bodyPr>
          <a:lstStyle/>
          <a:p>
            <a:pPr algn="ctr"/>
            <a:r>
              <a:rPr sz="1250" b="1" i="0">
                <a:solidFill>
                  <a:srgbClr val="898781"/>
                </a:solidFill>
                <a:latin typeface="Calibri"/>
              </a:rPr>
              <a:t>Immediate replay rejected; the same frame is re-accepted only after being deliberately evicted from a shrunk 2-slot window.</a:t>
            </a:r>
          </a:p>
        </p:txBody>
      </p:sp>
      <p:pic>
        <p:nvPicPr>
          <p:cNvPr id="5" name="Picture 4" descr="A white background with text&#10;&#10;AI-generated content may be incorrect.">
            <a:extLst>
              <a:ext uri="{FF2B5EF4-FFF2-40B4-BE49-F238E27FC236}">
                <a16:creationId xmlns:a16="http://schemas.microsoft.com/office/drawing/2014/main" id="{0AFD44F8-8F5F-6BA3-85B4-745671AD1BE7}"/>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D6FB647-9E33-3425-3A75-61C3F4EE7A0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3"/>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Higher gain (470kΩ) beats higher bandwidth (100kΩ) at 15cm — SNR margin, not TIA bandwidth, limits close range.</a:t>
            </a:r>
          </a:p>
        </p:txBody>
      </p:sp>
      <p:pic>
        <p:nvPicPr>
          <p:cNvPr id="5" name="Picture 4" descr="A white background with text&#10;&#10;AI-generated content may be incorrect.">
            <a:extLst>
              <a:ext uri="{FF2B5EF4-FFF2-40B4-BE49-F238E27FC236}">
                <a16:creationId xmlns:a16="http://schemas.microsoft.com/office/drawing/2014/main" id="{261FC07C-93A2-0855-FB99-D948A27FD5A8}"/>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A1897D6F-97CB-D526-7BF3-AF37F4721B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Formal Channel &amp; Coverage Model</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The authorization region is not asserted — it follows from the LED radiation pattern and the receiver FoV.</a:t>
            </a:r>
          </a:p>
        </p:txBody>
      </p:sp>
      <p:sp>
        <p:nvSpPr>
          <p:cNvPr id="4" name="TextBox 3"/>
          <p:cNvSpPr txBox="1"/>
          <p:nvPr/>
        </p:nvSpPr>
        <p:spPr>
          <a:xfrm>
            <a:off x="685800" y="1600200"/>
            <a:ext cx="10789920" cy="4755148"/>
          </a:xfrm>
          <a:prstGeom prst="rect">
            <a:avLst/>
          </a:prstGeom>
          <a:noFill/>
        </p:spPr>
        <p:txBody>
          <a:bodyPr wrap="square">
            <a:spAutoFit/>
          </a:bodyPr>
          <a:lstStyle/>
          <a:p>
            <a:pPr marL="0" indent="0">
              <a:spcBef>
                <a:spcPts val="900"/>
              </a:spcBef>
              <a:spcAft>
                <a:spcPts val="500"/>
              </a:spcAft>
              <a:buNone/>
            </a:pPr>
            <a:r>
              <a:rPr lang="en-US" sz="1800" b="1" dirty="0">
                <a:solidFill>
                  <a:srgbClr val="0B0B0B"/>
                </a:solidFill>
                <a:latin typeface="Calibri"/>
              </a:rPr>
              <a:t>Lambertian emission order, from the LED half-power semi-angle Φ½</a:t>
            </a:r>
          </a:p>
          <a:p>
            <a:pPr marL="228600" indent="0" algn="l">
              <a:spcAft>
                <a:spcPts val="500"/>
              </a:spcAft>
              <a:buNone/>
            </a:pPr>
            <a:r>
              <a:rPr lang="en-US" sz="1900" i="1" dirty="0">
                <a:solidFill>
                  <a:srgbClr val="1F3864"/>
                </a:solidFill>
                <a:latin typeface="Cambria Math"/>
              </a:rPr>
              <a:t>m = − ln 2 / ln( cos Φ½ )        [2]</a:t>
            </a:r>
          </a:p>
          <a:p>
            <a:pPr marL="0" indent="0">
              <a:spcBef>
                <a:spcPts val="900"/>
              </a:spcBef>
              <a:spcAft>
                <a:spcPts val="500"/>
              </a:spcAft>
              <a:buNone/>
            </a:pPr>
            <a:r>
              <a:rPr lang="en-US" sz="1800" b="1" dirty="0">
                <a:solidFill>
                  <a:srgbClr val="0B0B0B"/>
                </a:solidFill>
                <a:latin typeface="Calibri"/>
              </a:rPr>
              <a:t>Line-of-sight DC channel gain [2], [3]</a:t>
            </a:r>
          </a:p>
          <a:p>
            <a:pPr marL="228600" indent="0" algn="l">
              <a:spcAft>
                <a:spcPts val="500"/>
              </a:spcAft>
              <a:buNone/>
            </a:pPr>
            <a:r>
              <a:rPr lang="en-US" sz="1900" i="1" dirty="0">
                <a:solidFill>
                  <a:srgbClr val="1F3864"/>
                </a:solidFill>
                <a:latin typeface="Cambria Math"/>
              </a:rPr>
              <a:t>H(0) = [ (m+1)·Aᵣ / 2πd² ] · cosᵐ(φ) · Tₛ(ψ) · g(ψ) · cos(ψ),   0 ≤ ψ ≤ Ψᴄ    (0 otherwise)</a:t>
            </a:r>
          </a:p>
          <a:p>
            <a:pPr marL="228600" indent="0">
              <a:spcAft>
                <a:spcPts val="900"/>
              </a:spcAft>
              <a:buNone/>
            </a:pPr>
            <a:r>
              <a:rPr lang="en-US" sz="1500" dirty="0">
                <a:solidFill>
                  <a:srgbClr val="52514E"/>
                </a:solidFill>
                <a:latin typeface="Calibri"/>
              </a:rPr>
              <a:t>d = TX–RX distance · φ = irradiance angle · ψ = incidence angle · Aᵣ = detector area · Ψᴄ = receiver FoV half-angle</a:t>
            </a:r>
          </a:p>
          <a:p>
            <a:pPr marL="0" indent="0">
              <a:spcBef>
                <a:spcPts val="900"/>
              </a:spcBef>
              <a:spcAft>
                <a:spcPts val="500"/>
              </a:spcAft>
              <a:buNone/>
            </a:pPr>
            <a:r>
              <a:rPr lang="en-US" sz="1800" b="1" dirty="0">
                <a:solidFill>
                  <a:srgbClr val="0B0B0B"/>
                </a:solidFill>
                <a:latin typeface="Calibri"/>
              </a:rPr>
              <a:t>Concentrator gain and received optical power</a:t>
            </a:r>
          </a:p>
          <a:p>
            <a:pPr marL="228600" indent="0" algn="l">
              <a:spcAft>
                <a:spcPts val="500"/>
              </a:spcAft>
              <a:buNone/>
            </a:pPr>
            <a:r>
              <a:rPr lang="en-US" sz="1900" i="1" dirty="0">
                <a:solidFill>
                  <a:srgbClr val="1F3864"/>
                </a:solidFill>
                <a:latin typeface="Cambria Math"/>
              </a:rPr>
              <a:t>g(ψ) = n² / sin²(Ψᴄ)          Pᵣ = H(0) · Pₜ        [2]</a:t>
            </a:r>
          </a:p>
          <a:p>
            <a:pPr marL="0" indent="0">
              <a:spcBef>
                <a:spcPts val="900"/>
              </a:spcBef>
              <a:spcAft>
                <a:spcPts val="500"/>
              </a:spcAft>
              <a:buNone/>
            </a:pPr>
            <a:r>
              <a:rPr lang="en-US" sz="1800" b="1" dirty="0">
                <a:solidFill>
                  <a:srgbClr val="0B0B0B"/>
                </a:solidFill>
                <a:latin typeface="Calibri"/>
              </a:rPr>
              <a:t>Authorization region — the volume G1 actually protects</a:t>
            </a:r>
          </a:p>
          <a:p>
            <a:pPr marL="228600" indent="0" algn="l">
              <a:spcAft>
                <a:spcPts val="500"/>
              </a:spcAft>
              <a:buNone/>
            </a:pPr>
            <a:r>
              <a:rPr lang="en-US" sz="1900" i="1" dirty="0">
                <a:solidFill>
                  <a:srgbClr val="1F3864"/>
                </a:solidFill>
                <a:latin typeface="Cambria Math"/>
              </a:rPr>
              <a:t>Authorized(x) ⇔ Pᵣ(x) ≥ Pₘᵢₙ  ∧  ψ(x) ≤ Ψᴄ        V ≈ (2π/3)·R³·(1 − cos θ)</a:t>
            </a:r>
          </a:p>
          <a:p>
            <a:pPr marL="228600" indent="0">
              <a:spcAft>
                <a:spcPts val="900"/>
              </a:spcAft>
              <a:buNone/>
            </a:pPr>
            <a:r>
              <a:rPr lang="en-US" sz="1500" dirty="0">
                <a:solidFill>
                  <a:srgbClr val="52514E"/>
                </a:solidFill>
                <a:latin typeface="Calibri"/>
              </a:rPr>
              <a:t>R and θ are physical constants of the deployment — not yet independently measured on this bench. The model describes the shape of the authorized region; characterizing its exact size is future work.</a:t>
            </a:r>
          </a:p>
          <a:p>
            <a:pPr marL="0" indent="0">
              <a:spcBef>
                <a:spcPts val="1100"/>
              </a:spcBef>
              <a:buNone/>
            </a:pPr>
            <a:r>
              <a:rPr lang="en-US" sz="1500" b="1" i="1" dirty="0">
                <a:solidFill>
                  <a:srgbClr val="1F3864"/>
                </a:solidFill>
                <a:latin typeface="Calibri"/>
              </a:rPr>
              <a:t>Provenance: </a:t>
            </a:r>
            <a:r>
              <a:rPr lang="en-US" sz="1500" i="1" dirty="0">
                <a:solidFill>
                  <a:srgbClr val="52514E"/>
                </a:solidFill>
                <a:latin typeface="Calibri"/>
              </a:rPr>
              <a:t>the channel and coverage equations above are standard results from [2], [3]; the volume expression is elementary solid geometry. The authorization predicate and the G3 condition (next slide)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42540098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Proximity Predicate &amp; the G3 Security Condition</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What the system actually decides — and the exact inequality on which G3 stands or falls.</a:t>
            </a:r>
          </a:p>
        </p:txBody>
      </p:sp>
      <p:sp>
        <p:nvSpPr>
          <p:cNvPr id="4" name="TextBox 3"/>
          <p:cNvSpPr txBox="1"/>
          <p:nvPr/>
        </p:nvSpPr>
        <p:spPr>
          <a:xfrm>
            <a:off x="685800" y="1600200"/>
            <a:ext cx="10789920" cy="4821833"/>
          </a:xfrm>
          <a:prstGeom prst="rect">
            <a:avLst/>
          </a:prstGeom>
          <a:noFill/>
        </p:spPr>
        <p:txBody>
          <a:bodyPr wrap="square">
            <a:spAutoFit/>
          </a:bodyPr>
          <a:lstStyle/>
          <a:p>
            <a:pPr marL="0" indent="0">
              <a:spcBef>
                <a:spcPts val="800"/>
              </a:spcBef>
              <a:spcAft>
                <a:spcPts val="400"/>
              </a:spcAft>
              <a:buNone/>
            </a:pPr>
            <a:r>
              <a:rPr lang="en-US" sz="1750" b="1" dirty="0">
                <a:solidFill>
                  <a:srgbClr val="0B0B0B"/>
                </a:solidFill>
                <a:latin typeface="Calibri"/>
              </a:rPr>
              <a:t>Classical distance bound from round-trip time [4], [5]</a:t>
            </a:r>
          </a:p>
          <a:p>
            <a:pPr marL="228600" indent="0">
              <a:spcAft>
                <a:spcPts val="300"/>
              </a:spcAft>
              <a:buNone/>
            </a:pPr>
            <a:r>
              <a:rPr lang="en-US" sz="1800" i="1" dirty="0">
                <a:solidFill>
                  <a:srgbClr val="1F3864"/>
                </a:solidFill>
                <a:latin typeface="Cambria Math"/>
              </a:rPr>
              <a:t>d ≤ c · ( t_RTT − t_proc ) / 2</a:t>
            </a:r>
          </a:p>
          <a:p>
            <a:pPr marL="228600" indent="0">
              <a:spcAft>
                <a:spcPts val="600"/>
              </a:spcAft>
              <a:buNone/>
            </a:pPr>
            <a:r>
              <a:rPr lang="en-US" sz="1500" dirty="0">
                <a:solidFill>
                  <a:srgbClr val="52514E"/>
                </a:solidFill>
                <a:latin typeface="Calibri"/>
              </a:rPr>
              <a:t>This bounds distance only when timing resolution is small relative to c. At Pico-class resolution it is not a distance bound — it is a latency bound. Stated here so the distinction is explicit.</a:t>
            </a:r>
          </a:p>
          <a:p>
            <a:pPr marL="0" indent="0">
              <a:spcBef>
                <a:spcPts val="800"/>
              </a:spcBef>
              <a:spcAft>
                <a:spcPts val="400"/>
              </a:spcAft>
              <a:buNone/>
            </a:pPr>
            <a:r>
              <a:rPr lang="en-US" sz="1750" b="1" dirty="0">
                <a:solidFill>
                  <a:srgbClr val="0B0B0B"/>
                </a:solidFill>
                <a:latin typeface="Calibri"/>
              </a:rPr>
              <a:t>Acceptance predicate as implemented</a:t>
            </a:r>
          </a:p>
          <a:p>
            <a:pPr marL="228600" indent="0">
              <a:spcAft>
                <a:spcPts val="300"/>
              </a:spcAft>
              <a:buNone/>
            </a:pPr>
            <a:r>
              <a:rPr lang="en-US" sz="1800" i="1" dirty="0">
                <a:solidFill>
                  <a:srgbClr val="1F3864"/>
                </a:solidFill>
                <a:latin typeface="Cambria Math"/>
              </a:rPr>
              <a:t>Accept ⇔ MACₖ(B) valid  ∧  | t_now − t_B | ≤ W  ∧  N ∉ Seen  ∧  RTT ≤ Δ</a:t>
            </a:r>
          </a:p>
          <a:p>
            <a:pPr marL="0" indent="0">
              <a:spcBef>
                <a:spcPts val="800"/>
              </a:spcBef>
              <a:spcAft>
                <a:spcPts val="400"/>
              </a:spcAft>
              <a:buNone/>
            </a:pPr>
            <a:r>
              <a:rPr lang="en-US" sz="1750" b="1" dirty="0">
                <a:solidFill>
                  <a:srgbClr val="0B0B0B"/>
                </a:solidFill>
                <a:latin typeface="Calibri"/>
              </a:rPr>
              <a:t>The G3 condition</a:t>
            </a:r>
          </a:p>
          <a:p>
            <a:pPr marL="228600" indent="0">
              <a:spcAft>
                <a:spcPts val="300"/>
              </a:spcAft>
              <a:buNone/>
            </a:pPr>
            <a:r>
              <a:rPr lang="en-US" sz="1800" i="1" dirty="0">
                <a:solidFill>
                  <a:srgbClr val="1F3864"/>
                </a:solidFill>
                <a:latin typeface="Cambria Math"/>
              </a:rPr>
              <a:t>G3 holds ⇔ Δ &lt; L_relay      where L_relay = min feasible relay latency</a:t>
            </a:r>
          </a:p>
          <a:p>
            <a:pPr marL="228600" indent="0">
              <a:spcAft>
                <a:spcPts val="600"/>
              </a:spcAft>
              <a:buNone/>
            </a:pPr>
            <a:r>
              <a:rPr lang="en-US" sz="1500" dirty="0">
                <a:solidFill>
                  <a:srgbClr val="52514E"/>
                </a:solidFill>
                <a:latin typeface="Calibri"/>
              </a:rPr>
              <a:t>Decode-and-forward relays report L_relay ≈ 200–500 ms [6]; any Δ below that is rejected. Amplify-and-forward relays drive L_relay toward zero, so no achievable Δ detects them [7] — the optical geometry of the previous slide, not the timing bound, is what raises their cost.</a:t>
            </a:r>
          </a:p>
          <a:p>
            <a:pPr marL="0" indent="0">
              <a:spcBef>
                <a:spcPts val="800"/>
              </a:spcBef>
              <a:spcAft>
                <a:spcPts val="400"/>
              </a:spcAft>
              <a:buNone/>
            </a:pPr>
            <a:r>
              <a:rPr lang="en-US" sz="1750" b="1" dirty="0">
                <a:solidFill>
                  <a:srgbClr val="0B0B0B"/>
                </a:solidFill>
                <a:latin typeface="Calibri"/>
              </a:rPr>
              <a:t>Why the two defenses are a pair, not a redundancy</a:t>
            </a:r>
          </a:p>
          <a:p>
            <a:pPr marL="228600" indent="0">
              <a:spcAft>
                <a:spcPts val="600"/>
              </a:spcAft>
              <a:buNone/>
            </a:pPr>
            <a:r>
              <a:rPr lang="en-US" sz="1500" dirty="0">
                <a:solidFill>
                  <a:srgbClr val="52514E"/>
                </a:solidFill>
                <a:latin typeface="Calibri"/>
              </a:rPr>
              <a:t>Timing (Δ) closes the digital-relay path; the bounded cone V closes the physical-reach path. Neither is sufficient alone.</a:t>
            </a:r>
          </a:p>
          <a:p>
            <a:pPr marL="0" indent="0">
              <a:spcBef>
                <a:spcPts val="900"/>
              </a:spcBef>
              <a:buNone/>
            </a:pPr>
            <a:r>
              <a:rPr lang="en-US" sz="1500" b="1" i="1" dirty="0">
                <a:solidFill>
                  <a:srgbClr val="1F3864"/>
                </a:solidFill>
                <a:latin typeface="Calibri"/>
              </a:rPr>
              <a:t>Provenance: </a:t>
            </a:r>
            <a:r>
              <a:rPr lang="en-US" sz="1500" i="1" dirty="0">
                <a:solidFill>
                  <a:srgbClr val="52514E"/>
                </a:solidFill>
                <a:latin typeface="Calibri"/>
              </a:rPr>
              <a:t>the RTT distance bound is due to [4], [5]; relay-latency figures are from [6], [7]. The acceptance predicate and the G3 condition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851031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7772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pic>
        <p:nvPicPr>
          <p:cNvPr id="4" name="Picture 3" descr="A white background with text&#10;&#10;AI-generated content may be incorrect.">
            <a:extLst>
              <a:ext uri="{FF2B5EF4-FFF2-40B4-BE49-F238E27FC236}">
                <a16:creationId xmlns:a16="http://schemas.microsoft.com/office/drawing/2014/main" id="{0BB6CE34-40C2-0B05-8971-B7281C4F44A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B3523F97-9585-DF87-5CEF-7FE7F49B935D}"/>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30179"/>
            <a:ext cx="11155680" cy="822960"/>
          </a:xfrm>
          <a:prstGeom prst="rect">
            <a:avLst/>
          </a:prstGeom>
          <a:noFill/>
        </p:spPr>
        <p:txBody>
          <a:bodyPr wrap="square">
            <a:spAutoFit/>
          </a:bodyPr>
          <a:lstStyle/>
          <a:p>
            <a:r>
              <a:rPr sz="2900" b="1" dirty="0">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521208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tc>
                  <a:txBody>
                    <a:bodyPr/>
                    <a:lstStyle/>
                    <a:p>
                      <a:pPr algn="ctr"/>
                      <a:r>
                        <a:rPr sz="1350" b="1">
                          <a:solidFill>
                            <a:srgbClr val="FFFFFF"/>
                          </a:solidFill>
                          <a:latin typeface="Calibri"/>
                        </a:rPr>
                        <a:t>Evidence</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tc>
                  <a:txBody>
                    <a:bodyPr/>
                    <a:lstStyle/>
                    <a:p>
                      <a:pPr algn="ctr"/>
                      <a:r>
                        <a:rPr sz="1250" b="0">
                          <a:solidFill>
                            <a:srgbClr val="0B0B0B"/>
                          </a:solidFill>
                          <a:latin typeface="Calibri"/>
                        </a:rPr>
                        <a:t>15.11s ± 0.06s intrinsic ≈ Δ + 0.11s</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Immediate rejection confirmed; window-bounded (documented)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tc>
                  <a:txBody>
                    <a:bodyPr/>
                    <a:lstStyle/>
                    <a:p>
                      <a:pPr algn="ctr"/>
                      <a:r>
                        <a:rPr sz="1250" b="0">
                          <a:solidFill>
                            <a:srgbClr val="0B0B0B"/>
                          </a:solidFill>
                          <a:latin typeface="Calibri"/>
                        </a:rPr>
                        <a:t>Named limitation — no timing check on data path</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Follows directly from G1's measured latency</a:t>
                      </a:r>
                    </a:p>
                  </a:txBody>
                  <a:tcPr anchor="ctr">
                    <a:solidFill>
                      <a:srgbClr val="F0EFEC"/>
                    </a:solidFill>
                  </a:tcPr>
                </a:tc>
                <a:extLst>
                  <a:ext uri="{0D108BD9-81ED-4DB2-BD59-A6C34878D82A}">
                    <a16:rowId xmlns:a16="http://schemas.microsoft.com/office/drawing/2014/main" val="10004"/>
                  </a:ext>
                </a:extLst>
              </a:tr>
            </a:tbl>
          </a:graphicData>
        </a:graphic>
      </p:graphicFrame>
      <p:pic>
        <p:nvPicPr>
          <p:cNvPr id="4" name="Picture 3" descr="A white background with text&#10;&#10;AI-generated content may be incorrect.">
            <a:extLst>
              <a:ext uri="{FF2B5EF4-FFF2-40B4-BE49-F238E27FC236}">
                <a16:creationId xmlns:a16="http://schemas.microsoft.com/office/drawing/2014/main" id="{DD2BCAC9-46EE-A8E2-AB72-172C29BDD9D6}"/>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CA9E0BF-C260-072F-3E9B-D7623A807FA9}"/>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868680"/>
            <a:ext cx="11155680" cy="822960"/>
          </a:xfrm>
          <a:prstGeom prst="rect">
            <a:avLst/>
          </a:prstGeom>
          <a:noFill/>
        </p:spPr>
        <p:txBody>
          <a:bodyPr wrap="square">
            <a:spAutoFit/>
          </a:bodyPr>
          <a:lstStyle/>
          <a:p>
            <a:r>
              <a:rPr sz="2900" b="1" dirty="0">
                <a:solidFill>
                  <a:srgbClr val="0B0B0B"/>
                </a:solidFill>
                <a:latin typeface="Calibri"/>
              </a:rPr>
              <a:t>Limitations</a:t>
            </a:r>
          </a:p>
        </p:txBody>
      </p:sp>
      <p:sp>
        <p:nvSpPr>
          <p:cNvPr id="3" name="TextBox 2"/>
          <p:cNvSpPr txBox="1"/>
          <p:nvPr/>
        </p:nvSpPr>
        <p:spPr>
          <a:xfrm>
            <a:off x="685800" y="1600200"/>
            <a:ext cx="10789920" cy="2628925"/>
          </a:xfrm>
          <a:prstGeom prst="rect">
            <a:avLst/>
          </a:prstGeom>
          <a:noFill/>
        </p:spPr>
        <p:txBody>
          <a:bodyPr wrap="square">
            <a:spAutoFit/>
          </a:bodyPr>
          <a:lstStyle/>
          <a:p>
            <a:pPr>
              <a:spcAft>
                <a:spcPts val="1100"/>
              </a:spcAft>
            </a:pPr>
            <a:r>
              <a:rPr sz="1700" dirty="0">
                <a:solidFill>
                  <a:srgbClr val="0B0B0B"/>
                </a:solidFill>
                <a:latin typeface="Calibri"/>
              </a:rPr>
              <a:t>●   Line-of-sight requirement — dust, fog, or vibration can trigger unnecessary revocation if Δ is set aggressively</a:t>
            </a:r>
          </a:p>
          <a:p>
            <a:pPr>
              <a:spcAft>
                <a:spcPts val="1100"/>
              </a:spcAft>
            </a:pPr>
            <a:r>
              <a:rPr sz="1700" dirty="0">
                <a:solidFill>
                  <a:srgbClr val="0B0B0B"/>
                </a:solidFill>
                <a:latin typeface="Calibri"/>
              </a:rPr>
              <a:t>●   No relay resistance (G3) — a live relay of genuinely fresh frames passes every current check</a:t>
            </a:r>
          </a:p>
          <a:p>
            <a:pPr>
              <a:spcAft>
                <a:spcPts val="1100"/>
              </a:spcAft>
            </a:pPr>
            <a:r>
              <a:rPr sz="1700" dirty="0">
                <a:solidFill>
                  <a:srgbClr val="0B0B0B"/>
                </a:solidFill>
                <a:latin typeface="Calibri"/>
              </a:rPr>
              <a:t>●   Single-channel reception — four LED channels transmit, but only one photodiode receives</a:t>
            </a:r>
          </a:p>
          <a:p>
            <a:pPr>
              <a:spcAft>
                <a:spcPts val="1100"/>
              </a:spcAft>
            </a:pPr>
            <a:r>
              <a:rPr sz="1700" dirty="0">
                <a:solidFill>
                  <a:srgbClr val="0B0B0B"/>
                </a:solidFill>
                <a:latin typeface="Calibri"/>
              </a:rPr>
              <a:t>●   Ambient light sensitivity — partial mitigation via programmable DAC threshold, no full adaptive control yet</a:t>
            </a:r>
          </a:p>
          <a:p>
            <a:pPr>
              <a:spcAft>
                <a:spcPts val="1100"/>
              </a:spcAft>
            </a:pPr>
            <a:r>
              <a:rPr sz="1700" dirty="0">
                <a:solidFill>
                  <a:srgbClr val="0B0B0B"/>
                </a:solidFill>
                <a:latin typeface="Calibri"/>
              </a:rPr>
              <a:t>●   No hardware key protection — RP2040/RP2350 lack a TPM or secure element; keys are extractable with physical access + debugger</a:t>
            </a:r>
          </a:p>
          <a:p>
            <a:pPr>
              <a:spcAft>
                <a:spcPts val="1100"/>
              </a:spcAft>
            </a:pPr>
            <a:r>
              <a:rPr sz="1700" dirty="0">
                <a:solidFill>
                  <a:srgbClr val="0B0B0B"/>
                </a:solidFill>
                <a:latin typeface="Calibri"/>
              </a:rPr>
              <a:t>●   Revocation-latency measurements are pending re-confirmation against the on-device presence decision, ported after these numbers were collected</a:t>
            </a:r>
          </a:p>
        </p:txBody>
      </p:sp>
      <p:pic>
        <p:nvPicPr>
          <p:cNvPr id="4" name="Picture 3" descr="A white background with text&#10;&#10;AI-generated content may be incorrect.">
            <a:extLst>
              <a:ext uri="{FF2B5EF4-FFF2-40B4-BE49-F238E27FC236}">
                <a16:creationId xmlns:a16="http://schemas.microsoft.com/office/drawing/2014/main" id="{05CE5B63-7FA1-CAD7-99DF-3DFC32EEDB61}"/>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0710A532-078E-1D3E-2910-ADD4D76E42F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576072"/>
            <a:ext cx="11155680" cy="822960"/>
          </a:xfrm>
          <a:prstGeom prst="rect">
            <a:avLst/>
          </a:prstGeom>
          <a:noFill/>
        </p:spPr>
        <p:txBody>
          <a:bodyPr wrap="square">
            <a:spAutoFit/>
          </a:bodyPr>
          <a:lstStyle/>
          <a:p>
            <a:r>
              <a:rPr sz="2900" b="1" dirty="0">
                <a:solidFill>
                  <a:srgbClr val="0B0B0B"/>
                </a:solidFill>
                <a:latin typeface="Calibri"/>
              </a:rPr>
              <a:t>Future Work</a:t>
            </a:r>
          </a:p>
        </p:txBody>
      </p:sp>
      <p:sp>
        <p:nvSpPr>
          <p:cNvPr id="3" name="TextBox 2"/>
          <p:cNvSpPr txBox="1"/>
          <p:nvPr/>
        </p:nvSpPr>
        <p:spPr>
          <a:xfrm>
            <a:off x="518160" y="1143000"/>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firmware delay-sweep + ~5,000 round-trip timing runs to characterize a detection threshold Δ and false-reject cost</a:t>
            </a:r>
          </a:p>
          <a:p>
            <a:pPr>
              <a:spcAft>
                <a:spcPts val="1100"/>
              </a:spcAft>
            </a:pPr>
            <a:r>
              <a:rPr sz="1500">
                <a:solidFill>
                  <a:srgbClr val="0B0B0B"/>
                </a:solidFill>
                <a:latin typeface="Calibri"/>
              </a:rPr>
              <a:t>●   Confirm revocation-latency measurements against the on-device presence decision (receiver_pico/src/main.c), not just the external monitor</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pic>
        <p:nvPicPr>
          <p:cNvPr id="8" name="Picture 7" descr="A white background with text&#10;&#10;AI-generated content may be incorrect.">
            <a:extLst>
              <a:ext uri="{FF2B5EF4-FFF2-40B4-BE49-F238E27FC236}">
                <a16:creationId xmlns:a16="http://schemas.microsoft.com/office/drawing/2014/main" id="{A3D495D5-B599-02DB-C84E-69F0A684BEAA}"/>
              </a:ext>
            </a:extLst>
          </p:cNvPr>
          <p:cNvPicPr>
            <a:picLocks noChangeAspect="1"/>
          </p:cNvPicPr>
          <p:nvPr/>
        </p:nvPicPr>
        <p:blipFill>
          <a:blip r:embed="rId3"/>
          <a:stretch>
            <a:fillRect/>
          </a:stretch>
        </p:blipFill>
        <p:spPr>
          <a:xfrm>
            <a:off x="9545121" y="-4718"/>
            <a:ext cx="2646879" cy="1477328"/>
          </a:xfrm>
          <a:prstGeom prst="rect">
            <a:avLst/>
          </a:prstGeom>
        </p:spPr>
      </p:pic>
      <p:sp>
        <p:nvSpPr>
          <p:cNvPr id="9" name="Rectangle 8">
            <a:extLst>
              <a:ext uri="{FF2B5EF4-FFF2-40B4-BE49-F238E27FC236}">
                <a16:creationId xmlns:a16="http://schemas.microsoft.com/office/drawing/2014/main" id="{8882E955-2E26-5416-4685-F111A55F7B1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pic>
        <p:nvPicPr>
          <p:cNvPr id="4" name="Picture 3" descr="A white background with text&#10;&#10;AI-generated content may be incorrect.">
            <a:extLst>
              <a:ext uri="{FF2B5EF4-FFF2-40B4-BE49-F238E27FC236}">
                <a16:creationId xmlns:a16="http://schemas.microsoft.com/office/drawing/2014/main" id="{33573CCD-82C7-AB83-E2BB-BD91B1851DCD}"/>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F0B777B-1AFE-CA7B-F3D0-E4E53EC1B4A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2BAD-D2C0-5711-05C5-07C0B920C9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94D2C6-5293-5B5F-583F-5D11E9A594FB}"/>
              </a:ext>
            </a:extLst>
          </p:cNvPr>
          <p:cNvSpPr txBox="1"/>
          <p:nvPr/>
        </p:nvSpPr>
        <p:spPr>
          <a:xfrm>
            <a:off x="518160" y="777240"/>
            <a:ext cx="11155680" cy="538609"/>
          </a:xfrm>
          <a:prstGeom prst="rect">
            <a:avLst/>
          </a:prstGeom>
          <a:noFill/>
        </p:spPr>
        <p:txBody>
          <a:bodyPr wrap="square">
            <a:spAutoFit/>
          </a:bodyPr>
          <a:lstStyle/>
          <a:p>
            <a:r>
              <a:rPr lang="en-US" sz="2900" b="1" dirty="0">
                <a:solidFill>
                  <a:srgbClr val="0B0B0B"/>
                </a:solidFill>
                <a:latin typeface="Calibri"/>
              </a:rPr>
              <a:t>References</a:t>
            </a:r>
            <a:endParaRPr sz="2900" b="1" dirty="0">
              <a:solidFill>
                <a:srgbClr val="0B0B0B"/>
              </a:solidFill>
              <a:latin typeface="Calibri"/>
            </a:endParaRPr>
          </a:p>
        </p:txBody>
      </p:sp>
      <p:sp>
        <p:nvSpPr>
          <p:cNvPr id="3" name="TextBox 2">
            <a:extLst>
              <a:ext uri="{FF2B5EF4-FFF2-40B4-BE49-F238E27FC236}">
                <a16:creationId xmlns:a16="http://schemas.microsoft.com/office/drawing/2014/main" id="{D219ACE6-0953-AE01-1338-E8D4565EC768}"/>
              </a:ext>
            </a:extLst>
          </p:cNvPr>
          <p:cNvSpPr txBox="1"/>
          <p:nvPr/>
        </p:nvSpPr>
        <p:spPr>
          <a:xfrm>
            <a:off x="685800" y="1600200"/>
            <a:ext cx="10789920" cy="4042132"/>
          </a:xfrm>
          <a:prstGeom prst="rect">
            <a:avLst/>
          </a:prstGeom>
          <a:noFill/>
        </p:spPr>
        <p:txBody>
          <a:bodyPr wrap="square">
            <a:spAutoFit/>
          </a:bodyPr>
          <a:lstStyle/>
          <a:p>
            <a:pPr marL="342900" indent="-342900">
              <a:spcAft>
                <a:spcPts val="800"/>
              </a:spcAft>
              <a:buNone/>
            </a:pPr>
            <a:r>
              <a:rPr lang="en-US" sz="1500" dirty="0"/>
              <a:t>[1] S. Ma, H. Sheng, J. Sun, H. Li, X. Liu, C. Qiu, M. Safari, N. Al-Dhahir, and S. Li, "Feasibility conditions for mobile LiFi," </a:t>
            </a:r>
            <a:r>
              <a:rPr lang="en-US" sz="1500" i="1" dirty="0"/>
              <a:t>IEEE Trans. Wireless Commun.</a:t>
            </a:r>
            <a:r>
              <a:rPr lang="en-US" sz="1500" dirty="0"/>
              <a:t>, vol. 23, no. 7, pp. 7911–7923, Jul. 2024.</a:t>
            </a:r>
          </a:p>
          <a:p>
            <a:pPr marL="342900" indent="-342900">
              <a:spcAft>
                <a:spcPts val="800"/>
              </a:spcAft>
              <a:buNone/>
            </a:pPr>
            <a:r>
              <a:rPr lang="en-US" sz="1500" dirty="0"/>
              <a:t>[2] J. M. Kahn and J. R. Barry, "Wireless infrared communications," </a:t>
            </a:r>
            <a:r>
              <a:rPr lang="en-US" sz="1500" i="1" dirty="0"/>
              <a:t>Proc. IEEE</a:t>
            </a:r>
            <a:r>
              <a:rPr lang="en-US" sz="1500" dirty="0"/>
              <a:t>, vol. 85, no. 2, pp. 265–298, Feb. 1997.</a:t>
            </a:r>
          </a:p>
          <a:p>
            <a:pPr marL="342900" indent="-342900">
              <a:spcAft>
                <a:spcPts val="800"/>
              </a:spcAft>
              <a:buNone/>
            </a:pPr>
            <a:r>
              <a:rPr lang="en-US" sz="1500" dirty="0"/>
              <a:t>[3] T. Komine and M. Nakagawa, "Fundamental analysis for visible-light communication system using LED lights," </a:t>
            </a:r>
            <a:r>
              <a:rPr lang="en-US" sz="1500" i="1" dirty="0"/>
              <a:t>IEEE Trans. Consum. Electron.</a:t>
            </a:r>
            <a:r>
              <a:rPr lang="en-US" sz="1500" dirty="0"/>
              <a:t>, vol. 50, no. 1, pp. 100–107, Feb. 2004.</a:t>
            </a:r>
          </a:p>
          <a:p>
            <a:pPr marL="342900" indent="-342900">
              <a:spcAft>
                <a:spcPts val="800"/>
              </a:spcAft>
              <a:buNone/>
            </a:pPr>
            <a:r>
              <a:rPr lang="en-US" sz="1500" dirty="0"/>
              <a:t>[4] S. Brands and D. Chaum, "Distance-bounding protocols," in </a:t>
            </a:r>
            <a:r>
              <a:rPr lang="en-US" sz="1500" i="1" dirty="0"/>
              <a:t>Advances in Cryptology — EUROCRYPT '93</a:t>
            </a:r>
            <a:r>
              <a:rPr lang="en-US" sz="1500" dirty="0"/>
              <a:t>, LNCS 765, Springer, 1994, pp. 344–359.</a:t>
            </a:r>
          </a:p>
          <a:p>
            <a:pPr marL="342900" indent="-342900">
              <a:spcAft>
                <a:spcPts val="800"/>
              </a:spcAft>
              <a:buNone/>
            </a:pPr>
            <a:r>
              <a:rPr lang="en-US" sz="1500" dirty="0"/>
              <a:t>[5] G. P. Hancke and M. G. Kuhn, "An RFID distance bounding protocol," in </a:t>
            </a:r>
            <a:r>
              <a:rPr lang="en-US" sz="1500" i="1" dirty="0"/>
              <a:t>Proc. IEEE SecureComm</a:t>
            </a:r>
            <a:r>
              <a:rPr lang="en-US" sz="1500" dirty="0"/>
              <a:t>, 2005, pp. 67–73.</a:t>
            </a:r>
          </a:p>
          <a:p>
            <a:pPr marL="342900" indent="-342900">
              <a:spcAft>
                <a:spcPts val="800"/>
              </a:spcAft>
              <a:buNone/>
            </a:pPr>
            <a:r>
              <a:rPr lang="en-US" sz="1500" dirty="0"/>
              <a:t>[6] G. Avoine et al., "From relay attacks to distance-bounding protocols," in </a:t>
            </a:r>
            <a:r>
              <a:rPr lang="en-US" sz="1500" i="1" dirty="0"/>
              <a:t>Security of Ubiquitous Computing Systems</a:t>
            </a:r>
            <a:r>
              <a:rPr lang="en-US" sz="1500" dirty="0"/>
              <a:t>, Springer, 2021, pp. 113–130.</a:t>
            </a:r>
          </a:p>
          <a:p>
            <a:pPr marL="342900" indent="-342900">
              <a:spcAft>
                <a:spcPts val="800"/>
              </a:spcAft>
              <a:buNone/>
            </a:pPr>
            <a:r>
              <a:rPr lang="en-US" sz="1500" dirty="0"/>
              <a:t>[7] J. Clulow, G. P. Hancke, M. G. Kuhn, and T. Moore, "So near and yet so far: Distance-bounding attacks in wireless networks," in </a:t>
            </a:r>
            <a:r>
              <a:rPr lang="en-US" sz="1500" i="1" dirty="0"/>
              <a:t>ESAS</a:t>
            </a:r>
            <a:r>
              <a:rPr lang="en-US" sz="1500" dirty="0"/>
              <a:t>, LNCS 4357, Springer, 2006, pp. 83–97.</a:t>
            </a:r>
          </a:p>
          <a:p>
            <a:pPr marL="342900" indent="-342900">
              <a:spcAft>
                <a:spcPts val="800"/>
              </a:spcAft>
              <a:buNone/>
            </a:pPr>
            <a:r>
              <a:rPr lang="en-US" sz="1500" dirty="0"/>
              <a:t>[8] S. Drimer and S. J. Murdoch, "Keep your enemies close: Distance bounding against smartcard relay attacks," in </a:t>
            </a:r>
            <a:r>
              <a:rPr lang="en-US" sz="1500" i="1" dirty="0"/>
              <a:t>Proc. USENIX Security</a:t>
            </a:r>
            <a:r>
              <a:rPr lang="en-US" sz="1500" dirty="0"/>
              <a:t>, 2007.</a:t>
            </a:r>
          </a:p>
        </p:txBody>
      </p:sp>
      <p:pic>
        <p:nvPicPr>
          <p:cNvPr id="4" name="Picture 3" descr="A white background with text&#10;&#10;AI-generated content may be incorrect.">
            <a:extLst>
              <a:ext uri="{FF2B5EF4-FFF2-40B4-BE49-F238E27FC236}">
                <a16:creationId xmlns:a16="http://schemas.microsoft.com/office/drawing/2014/main" id="{279B05C4-60D0-B79F-B086-1DC2F55CCB9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08100D8-1DB8-EBD4-3B4A-2C6F179A9AF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636103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33102">
                <a:tc>
                  <a:txBody>
                    <a:bodyPr/>
                    <a:lstStyle/>
                    <a:p>
                      <a:pPr algn="l"/>
                      <a:r>
                        <a:rPr sz="1350" b="1">
                          <a:solidFill>
                            <a:srgbClr val="FFFFFF"/>
                          </a:solidFill>
                          <a:latin typeface="Calibri"/>
                        </a:rPr>
                        <a:t>Component</a:t>
                      </a:r>
                    </a:p>
                  </a:txBody>
                  <a:tcPr anchor="ctr">
                    <a:solidFill>
                      <a:srgbClr val="0B0B0B"/>
                    </a:solidFill>
                  </a:tcPr>
                </a:tc>
                <a:tc>
                  <a:txBody>
                    <a:bodyPr/>
                    <a:lstStyle/>
                    <a:p>
                      <a:pPr algn="ctr"/>
                      <a:r>
                        <a:rPr sz="1350" b="1">
                          <a:solidFill>
                            <a:srgbClr val="FFFFFF"/>
                          </a:solidFill>
                          <a:latin typeface="Calibri"/>
                        </a:rPr>
                        <a:t>Part Number</a:t>
                      </a:r>
                    </a:p>
                  </a:txBody>
                  <a:tcPr anchor="ctr">
                    <a:solidFill>
                      <a:srgbClr val="0B0B0B"/>
                    </a:solidFill>
                  </a:tcPr>
                </a:tc>
                <a:tc>
                  <a:txBody>
                    <a:bodyPr/>
                    <a:lstStyle/>
                    <a:p>
                      <a:pPr algn="ctr"/>
                      <a:r>
                        <a:rPr sz="1350" b="1">
                          <a:solidFill>
                            <a:srgbClr val="FFFFFF"/>
                          </a:solidFill>
                          <a:latin typeface="Calibri"/>
                        </a:rPr>
                        <a:t>Cost</a:t>
                      </a:r>
                    </a:p>
                  </a:txBody>
                  <a:tcPr anchor="ctr">
                    <a:solidFill>
                      <a:srgbClr val="0B0B0B"/>
                    </a:solidFill>
                  </a:tcPr>
                </a:tc>
                <a:extLst>
                  <a:ext uri="{0D108BD9-81ED-4DB2-BD59-A6C34878D82A}">
                    <a16:rowId xmlns:a16="http://schemas.microsoft.com/office/drawing/2014/main" val="10000"/>
                  </a:ext>
                </a:extLst>
              </a:tr>
              <a:tr h="333102">
                <a:tc>
                  <a:txBody>
                    <a:bodyPr/>
                    <a:lstStyle/>
                    <a:p>
                      <a:pPr algn="l"/>
                      <a:r>
                        <a:rPr sz="1250" b="0">
                          <a:solidFill>
                            <a:srgbClr val="0B0B0B"/>
                          </a:solidFill>
                          <a:latin typeface="Calibri"/>
                        </a:rPr>
                        <a:t>Sender MCU</a:t>
                      </a:r>
                    </a:p>
                  </a:txBody>
                  <a:tcPr anchor="ctr">
                    <a:solidFill>
                      <a:srgbClr val="FFFFFF"/>
                    </a:solidFill>
                  </a:tcPr>
                </a:tc>
                <a:tc>
                  <a:txBody>
                    <a:bodyPr/>
                    <a:lstStyle/>
                    <a:p>
                      <a:pPr algn="ctr"/>
                      <a:r>
                        <a:rPr sz="1250" b="0">
                          <a:solidFill>
                            <a:srgbClr val="0B0B0B"/>
                          </a:solidFill>
                          <a:latin typeface="Calibri"/>
                        </a:rPr>
                        <a:t>Pico H, RP2040</a:t>
                      </a:r>
                    </a:p>
                  </a:txBody>
                  <a:tcPr anchor="ctr">
                    <a:solidFill>
                      <a:srgbClr val="FFFFFF"/>
                    </a:solidFill>
                  </a:tcPr>
                </a:tc>
                <a:tc>
                  <a:txBody>
                    <a:bodyPr/>
                    <a:lstStyle/>
                    <a:p>
                      <a:pPr algn="ctr"/>
                      <a:r>
                        <a:rPr sz="1250" b="0">
                          <a:solidFill>
                            <a:srgbClr val="0B0B0B"/>
                          </a:solidFill>
                          <a:latin typeface="Calibri"/>
                        </a:rPr>
                        <a:t>$5.00</a:t>
                      </a:r>
                    </a:p>
                  </a:txBody>
                  <a:tcPr anchor="ctr">
                    <a:solidFill>
                      <a:srgbClr val="FFFFFF"/>
                    </a:solidFill>
                  </a:tcPr>
                </a:tc>
                <a:extLst>
                  <a:ext uri="{0D108BD9-81ED-4DB2-BD59-A6C34878D82A}">
                    <a16:rowId xmlns:a16="http://schemas.microsoft.com/office/drawing/2014/main" val="10001"/>
                  </a:ext>
                </a:extLst>
              </a:tr>
              <a:tr h="333102">
                <a:tc>
                  <a:txBody>
                    <a:bodyPr/>
                    <a:lstStyle/>
                    <a:p>
                      <a:pPr algn="l"/>
                      <a:r>
                        <a:rPr sz="1250" b="0">
                          <a:solidFill>
                            <a:srgbClr val="0B0B0B"/>
                          </a:solidFill>
                          <a:latin typeface="Calibri"/>
                        </a:rPr>
                        <a:t>Gate Driver ×4</a:t>
                      </a:r>
                    </a:p>
                  </a:txBody>
                  <a:tcPr anchor="ctr">
                    <a:solidFill>
                      <a:srgbClr val="F0EFEC"/>
                    </a:solidFill>
                  </a:tcPr>
                </a:tc>
                <a:tc>
                  <a:txBody>
                    <a:bodyPr/>
                    <a:lstStyle/>
                    <a:p>
                      <a:pPr algn="ctr"/>
                      <a:r>
                        <a:rPr sz="1250" b="0">
                          <a:solidFill>
                            <a:srgbClr val="0B0B0B"/>
                          </a:solidFill>
                          <a:latin typeface="Calibri"/>
                        </a:rPr>
                        <a:t>TC4420COA</a:t>
                      </a:r>
                    </a:p>
                  </a:txBody>
                  <a:tcPr anchor="ctr">
                    <a:solidFill>
                      <a:srgbClr val="F0EFEC"/>
                    </a:solidFill>
                  </a:tcPr>
                </a:tc>
                <a:tc>
                  <a:txBody>
                    <a:bodyPr/>
                    <a:lstStyle/>
                    <a:p>
                      <a:pPr algn="ctr"/>
                      <a:r>
                        <a:rPr sz="1250" b="0">
                          <a:solidFill>
                            <a:srgbClr val="0B0B0B"/>
                          </a:solidFill>
                          <a:latin typeface="Calibri"/>
                        </a:rPr>
                        <a:t>$1.80 ea.</a:t>
                      </a:r>
                    </a:p>
                  </a:txBody>
                  <a:tcPr anchor="ctr">
                    <a:solidFill>
                      <a:srgbClr val="F0EFEC"/>
                    </a:solidFill>
                  </a:tcPr>
                </a:tc>
                <a:extLst>
                  <a:ext uri="{0D108BD9-81ED-4DB2-BD59-A6C34878D82A}">
                    <a16:rowId xmlns:a16="http://schemas.microsoft.com/office/drawing/2014/main" val="10002"/>
                  </a:ext>
                </a:extLst>
              </a:tr>
              <a:tr h="333102">
                <a:tc>
                  <a:txBody>
                    <a:bodyPr/>
                    <a:lstStyle/>
                    <a:p>
                      <a:pPr algn="l"/>
                      <a:r>
                        <a:rPr sz="1250" b="0">
                          <a:solidFill>
                            <a:srgbClr val="0B0B0B"/>
                          </a:solidFill>
                          <a:latin typeface="Calibri"/>
                        </a:rPr>
                        <a:t>MOSFET ×4</a:t>
                      </a:r>
                    </a:p>
                  </a:txBody>
                  <a:tcPr anchor="ctr">
                    <a:solidFill>
                      <a:srgbClr val="FFFFFF"/>
                    </a:solidFill>
                  </a:tcPr>
                </a:tc>
                <a:tc>
                  <a:txBody>
                    <a:bodyPr/>
                    <a:lstStyle/>
                    <a:p>
                      <a:pPr algn="ctr"/>
                      <a:r>
                        <a:rPr sz="1250" b="0">
                          <a:solidFill>
                            <a:srgbClr val="0B0B0B"/>
                          </a:solidFill>
                          <a:latin typeface="Calibri"/>
                        </a:rPr>
                        <a:t>SIR800DP-T1-GE3</a:t>
                      </a:r>
                    </a:p>
                  </a:txBody>
                  <a:tcPr anchor="ctr">
                    <a:solidFill>
                      <a:srgbClr val="FFFFFF"/>
                    </a:solidFill>
                  </a:tcPr>
                </a:tc>
                <a:tc>
                  <a:txBody>
                    <a:bodyPr/>
                    <a:lstStyle/>
                    <a:p>
                      <a:pPr algn="ctr"/>
                      <a:r>
                        <a:rPr sz="1250" b="0">
                          <a:solidFill>
                            <a:srgbClr val="0B0B0B"/>
                          </a:solidFill>
                          <a:latin typeface="Calibri"/>
                        </a:rPr>
                        <a:t>$0.88 ea.</a:t>
                      </a:r>
                    </a:p>
                  </a:txBody>
                  <a:tcPr anchor="ctr">
                    <a:solidFill>
                      <a:srgbClr val="FFFFFF"/>
                    </a:solidFill>
                  </a:tcPr>
                </a:tc>
                <a:extLst>
                  <a:ext uri="{0D108BD9-81ED-4DB2-BD59-A6C34878D82A}">
                    <a16:rowId xmlns:a16="http://schemas.microsoft.com/office/drawing/2014/main" val="10003"/>
                  </a:ext>
                </a:extLst>
              </a:tr>
              <a:tr h="333102">
                <a:tc>
                  <a:txBody>
                    <a:bodyPr/>
                    <a:lstStyle/>
                    <a:p>
                      <a:pPr algn="l"/>
                      <a:r>
                        <a:rPr sz="1250" b="0">
                          <a:solidFill>
                            <a:srgbClr val="0B0B0B"/>
                          </a:solidFill>
                          <a:latin typeface="Calibri"/>
                        </a:rPr>
                        <a:t>DC-DC Module</a:t>
                      </a:r>
                    </a:p>
                  </a:txBody>
                  <a:tcPr anchor="ctr">
                    <a:solidFill>
                      <a:srgbClr val="F0EFEC"/>
                    </a:solidFill>
                  </a:tcPr>
                </a:tc>
                <a:tc>
                  <a:txBody>
                    <a:bodyPr/>
                    <a:lstStyle/>
                    <a:p>
                      <a:pPr algn="ctr"/>
                      <a:r>
                        <a:rPr sz="1250" b="0">
                          <a:solidFill>
                            <a:srgbClr val="0B0B0B"/>
                          </a:solidFill>
                          <a:latin typeface="Calibri"/>
                        </a:rPr>
                        <a:t>PTN78000WAH (12V→5V)</a:t>
                      </a:r>
                    </a:p>
                  </a:txBody>
                  <a:tcPr anchor="ctr">
                    <a:solidFill>
                      <a:srgbClr val="F0EFEC"/>
                    </a:solidFill>
                  </a:tcPr>
                </a:tc>
                <a:tc>
                  <a:txBody>
                    <a:bodyPr/>
                    <a:lstStyle/>
                    <a:p>
                      <a:pPr algn="ctr"/>
                      <a:r>
                        <a:rPr sz="1250" b="0">
                          <a:solidFill>
                            <a:srgbClr val="0B0B0B"/>
                          </a:solidFill>
                          <a:latin typeface="Calibri"/>
                        </a:rPr>
                        <a:t>$24.58</a:t>
                      </a:r>
                    </a:p>
                  </a:txBody>
                  <a:tcPr anchor="ctr">
                    <a:solidFill>
                      <a:srgbClr val="F0EFEC"/>
                    </a:solidFill>
                  </a:tcPr>
                </a:tc>
                <a:extLst>
                  <a:ext uri="{0D108BD9-81ED-4DB2-BD59-A6C34878D82A}">
                    <a16:rowId xmlns:a16="http://schemas.microsoft.com/office/drawing/2014/main" val="10004"/>
                  </a:ext>
                </a:extLst>
              </a:tr>
              <a:tr h="333102">
                <a:tc>
                  <a:txBody>
                    <a:bodyPr/>
                    <a:lstStyle/>
                    <a:p>
                      <a:pPr algn="l"/>
                      <a:r>
                        <a:rPr sz="1250" b="0">
                          <a:solidFill>
                            <a:srgbClr val="0B0B0B"/>
                          </a:solidFill>
                          <a:latin typeface="Calibri"/>
                        </a:rPr>
                        <a:t>LED Array</a:t>
                      </a:r>
                    </a:p>
                  </a:txBody>
                  <a:tcPr anchor="ctr">
                    <a:solidFill>
                      <a:srgbClr val="FFFFFF"/>
                    </a:solidFill>
                  </a:tcPr>
                </a:tc>
                <a:tc>
                  <a:txBody>
                    <a:bodyPr/>
                    <a:lstStyle/>
                    <a:p>
                      <a:pPr algn="ctr"/>
                      <a:r>
                        <a:rPr sz="1250" b="0">
                          <a:solidFill>
                            <a:srgbClr val="0B0B0B"/>
                          </a:solidFill>
                          <a:latin typeface="Calibri"/>
                        </a:rPr>
                        <a:t>SFH 4715A-CBDB</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05"/>
                  </a:ext>
                </a:extLst>
              </a:tr>
              <a:tr h="333102">
                <a:tc>
                  <a:txBody>
                    <a:bodyPr/>
                    <a:lstStyle/>
                    <a:p>
                      <a:pPr algn="l"/>
                      <a:r>
                        <a:rPr sz="1250" b="0">
                          <a:solidFill>
                            <a:srgbClr val="0B0B0B"/>
                          </a:solidFill>
                          <a:latin typeface="Calibri"/>
                        </a:rPr>
                        <a:t>Receiver MCU</a:t>
                      </a:r>
                    </a:p>
                  </a:txBody>
                  <a:tcPr anchor="ctr">
                    <a:solidFill>
                      <a:srgbClr val="F0EFEC"/>
                    </a:solidFill>
                  </a:tcPr>
                </a:tc>
                <a:tc>
                  <a:txBody>
                    <a:bodyPr/>
                    <a:lstStyle/>
                    <a:p>
                      <a:pPr algn="ctr"/>
                      <a:r>
                        <a:rPr sz="1250" b="0">
                          <a:solidFill>
                            <a:srgbClr val="0B0B0B"/>
                          </a:solidFill>
                          <a:latin typeface="Calibri"/>
                        </a:rPr>
                        <a:t>Pico 2 H, RP2350</a:t>
                      </a:r>
                    </a:p>
                  </a:txBody>
                  <a:tcPr anchor="ctr">
                    <a:solidFill>
                      <a:srgbClr val="F0EFEC"/>
                    </a:solidFill>
                  </a:tcPr>
                </a:tc>
                <a:tc>
                  <a:txBody>
                    <a:bodyPr/>
                    <a:lstStyle/>
                    <a:p>
                      <a:pPr algn="ctr"/>
                      <a:r>
                        <a:rPr sz="1250" b="0">
                          <a:solidFill>
                            <a:srgbClr val="0B0B0B"/>
                          </a:solidFill>
                          <a:latin typeface="Calibri"/>
                        </a:rPr>
                        <a:t>$6.00</a:t>
                      </a:r>
                    </a:p>
                  </a:txBody>
                  <a:tcPr anchor="ctr">
                    <a:solidFill>
                      <a:srgbClr val="F0EFEC"/>
                    </a:solidFill>
                  </a:tcPr>
                </a:tc>
                <a:extLst>
                  <a:ext uri="{0D108BD9-81ED-4DB2-BD59-A6C34878D82A}">
                    <a16:rowId xmlns:a16="http://schemas.microsoft.com/office/drawing/2014/main" val="10006"/>
                  </a:ext>
                </a:extLst>
              </a:tr>
              <a:tr h="333102">
                <a:tc>
                  <a:txBody>
                    <a:bodyPr/>
                    <a:lstStyle/>
                    <a:p>
                      <a:pPr algn="l"/>
                      <a:r>
                        <a:rPr sz="1250" b="0">
                          <a:solidFill>
                            <a:srgbClr val="0B0B0B"/>
                          </a:solidFill>
                          <a:latin typeface="Calibri"/>
                        </a:rPr>
                        <a:t>TIA</a:t>
                      </a:r>
                    </a:p>
                  </a:txBody>
                  <a:tcPr anchor="ctr">
                    <a:solidFill>
                      <a:srgbClr val="FFFFFF"/>
                    </a:solidFill>
                  </a:tcPr>
                </a:tc>
                <a:tc>
                  <a:txBody>
                    <a:bodyPr/>
                    <a:lstStyle/>
                    <a:p>
                      <a:pPr algn="ctr"/>
                      <a:r>
                        <a:rPr sz="1250" b="0">
                          <a:solidFill>
                            <a:srgbClr val="0B0B0B"/>
                          </a:solidFill>
                          <a:latin typeface="Calibri"/>
                        </a:rPr>
                        <a:t>OPA381AIDGKT</a:t>
                      </a:r>
                    </a:p>
                  </a:txBody>
                  <a:tcPr anchor="ctr">
                    <a:solidFill>
                      <a:srgbClr val="FFFFFF"/>
                    </a:solidFill>
                  </a:tcPr>
                </a:tc>
                <a:tc>
                  <a:txBody>
                    <a:bodyPr/>
                    <a:lstStyle/>
                    <a:p>
                      <a:pPr algn="ctr"/>
                      <a:r>
                        <a:rPr sz="1250" b="0">
                          <a:solidFill>
                            <a:srgbClr val="0B0B0B"/>
                          </a:solidFill>
                          <a:latin typeface="Calibri"/>
                        </a:rPr>
                        <a:t>$2.93</a:t>
                      </a:r>
                    </a:p>
                  </a:txBody>
                  <a:tcPr anchor="ctr">
                    <a:solidFill>
                      <a:srgbClr val="FFFFFF"/>
                    </a:solidFill>
                  </a:tcPr>
                </a:tc>
                <a:extLst>
                  <a:ext uri="{0D108BD9-81ED-4DB2-BD59-A6C34878D82A}">
                    <a16:rowId xmlns:a16="http://schemas.microsoft.com/office/drawing/2014/main" val="10007"/>
                  </a:ext>
                </a:extLst>
              </a:tr>
              <a:tr h="333102">
                <a:tc>
                  <a:txBody>
                    <a:bodyPr/>
                    <a:lstStyle/>
                    <a:p>
                      <a:pPr algn="l"/>
                      <a:r>
                        <a:rPr sz="1250" b="0">
                          <a:solidFill>
                            <a:srgbClr val="0B0B0B"/>
                          </a:solidFill>
                          <a:latin typeface="Calibri"/>
                        </a:rPr>
                        <a:t>Photodiode</a:t>
                      </a:r>
                    </a:p>
                  </a:txBody>
                  <a:tcPr anchor="ctr">
                    <a:solidFill>
                      <a:srgbClr val="F0EFEC"/>
                    </a:solidFill>
                  </a:tcPr>
                </a:tc>
                <a:tc>
                  <a:txBody>
                    <a:bodyPr/>
                    <a:lstStyle/>
                    <a:p>
                      <a:pPr algn="ctr"/>
                      <a:r>
                        <a:rPr sz="1250" b="0">
                          <a:solidFill>
                            <a:srgbClr val="0B0B0B"/>
                          </a:solidFill>
                          <a:latin typeface="Calibri"/>
                        </a:rPr>
                        <a:t>SFH 2400-Z</a:t>
                      </a:r>
                    </a:p>
                  </a:txBody>
                  <a:tcPr anchor="ctr">
                    <a:solidFill>
                      <a:srgbClr val="F0EFEC"/>
                    </a:solidFill>
                  </a:tcPr>
                </a:tc>
                <a:tc>
                  <a:txBody>
                    <a:bodyPr/>
                    <a:lstStyle/>
                    <a:p>
                      <a:pPr algn="ctr"/>
                      <a:r>
                        <a:rPr sz="1250" b="0">
                          <a:solidFill>
                            <a:srgbClr val="0B0B0B"/>
                          </a:solidFill>
                          <a:latin typeface="Calibri"/>
                        </a:rPr>
                        <a:t>$0.79</a:t>
                      </a:r>
                    </a:p>
                  </a:txBody>
                  <a:tcPr anchor="ctr">
                    <a:solidFill>
                      <a:srgbClr val="F0EFEC"/>
                    </a:solidFill>
                  </a:tcPr>
                </a:tc>
                <a:extLst>
                  <a:ext uri="{0D108BD9-81ED-4DB2-BD59-A6C34878D82A}">
                    <a16:rowId xmlns:a16="http://schemas.microsoft.com/office/drawing/2014/main" val="10008"/>
                  </a:ext>
                </a:extLst>
              </a:tr>
              <a:tr h="333102">
                <a:tc>
                  <a:txBody>
                    <a:bodyPr/>
                    <a:lstStyle/>
                    <a:p>
                      <a:pPr algn="l"/>
                      <a:r>
                        <a:rPr sz="1250" b="0">
                          <a:solidFill>
                            <a:srgbClr val="0B0B0B"/>
                          </a:solidFill>
                          <a:latin typeface="Calibri"/>
                        </a:rPr>
                        <a:t>Comparator</a:t>
                      </a:r>
                    </a:p>
                  </a:txBody>
                  <a:tcPr anchor="ctr">
                    <a:solidFill>
                      <a:srgbClr val="FFFFFF"/>
                    </a:solidFill>
                  </a:tcPr>
                </a:tc>
                <a:tc>
                  <a:txBody>
                    <a:bodyPr/>
                    <a:lstStyle/>
                    <a:p>
                      <a:pPr algn="ctr"/>
                      <a:r>
                        <a:rPr sz="1250" b="0">
                          <a:solidFill>
                            <a:srgbClr val="0B0B0B"/>
                          </a:solidFill>
                          <a:latin typeface="Calibri"/>
                        </a:rPr>
                        <a:t>TLV3501AIDBVR</a:t>
                      </a:r>
                    </a:p>
                  </a:txBody>
                  <a:tcPr anchor="ctr">
                    <a:solidFill>
                      <a:srgbClr val="FFFFFF"/>
                    </a:solidFill>
                  </a:tcPr>
                </a:tc>
                <a:tc>
                  <a:txBody>
                    <a:bodyPr/>
                    <a:lstStyle/>
                    <a:p>
                      <a:pPr algn="ctr"/>
                      <a:r>
                        <a:rPr sz="1250" b="0">
                          <a:solidFill>
                            <a:srgbClr val="0B0B0B"/>
                          </a:solidFill>
                          <a:latin typeface="Calibri"/>
                        </a:rPr>
                        <a:t>$2.64</a:t>
                      </a:r>
                    </a:p>
                  </a:txBody>
                  <a:tcPr anchor="ctr">
                    <a:solidFill>
                      <a:srgbClr val="FFFFFF"/>
                    </a:solidFill>
                  </a:tcPr>
                </a:tc>
                <a:extLst>
                  <a:ext uri="{0D108BD9-81ED-4DB2-BD59-A6C34878D82A}">
                    <a16:rowId xmlns:a16="http://schemas.microsoft.com/office/drawing/2014/main" val="10009"/>
                  </a:ext>
                </a:extLst>
              </a:tr>
              <a:tr h="333102">
                <a:tc>
                  <a:txBody>
                    <a:bodyPr/>
                    <a:lstStyle/>
                    <a:p>
                      <a:pPr algn="l"/>
                      <a:r>
                        <a:rPr sz="1250" b="0">
                          <a:solidFill>
                            <a:srgbClr val="0B0B0B"/>
                          </a:solidFill>
                          <a:latin typeface="Calibri"/>
                        </a:rPr>
                        <a:t>DAC</a:t>
                      </a:r>
                    </a:p>
                  </a:txBody>
                  <a:tcPr anchor="ctr">
                    <a:solidFill>
                      <a:srgbClr val="F0EFEC"/>
                    </a:solidFill>
                  </a:tcPr>
                </a:tc>
                <a:tc>
                  <a:txBody>
                    <a:bodyPr/>
                    <a:lstStyle/>
                    <a:p>
                      <a:pPr algn="ctr"/>
                      <a:r>
                        <a:rPr sz="1250" b="0">
                          <a:solidFill>
                            <a:srgbClr val="0B0B0B"/>
                          </a:solidFill>
                          <a:latin typeface="Calibri"/>
                        </a:rPr>
                        <a:t>MCP4725A1T-E/CH</a:t>
                      </a:r>
                    </a:p>
                  </a:txBody>
                  <a:tcPr anchor="ctr">
                    <a:solidFill>
                      <a:srgbClr val="F0EFEC"/>
                    </a:solidFill>
                  </a:tcPr>
                </a:tc>
                <a:tc>
                  <a:txBody>
                    <a:bodyPr/>
                    <a:lstStyle/>
                    <a:p>
                      <a:pPr algn="ctr"/>
                      <a:r>
                        <a:rPr sz="1250" b="0">
                          <a:solidFill>
                            <a:srgbClr val="0B0B0B"/>
                          </a:solidFill>
                          <a:latin typeface="Calibri"/>
                        </a:rPr>
                        <a:t>$1.27</a:t>
                      </a:r>
                    </a:p>
                  </a:txBody>
                  <a:tcPr anchor="ctr">
                    <a:solidFill>
                      <a:srgbClr val="F0EFEC"/>
                    </a:solidFill>
                  </a:tcPr>
                </a:tc>
                <a:extLst>
                  <a:ext uri="{0D108BD9-81ED-4DB2-BD59-A6C34878D82A}">
                    <a16:rowId xmlns:a16="http://schemas.microsoft.com/office/drawing/2014/main" val="10010"/>
                  </a:ext>
                </a:extLst>
              </a:tr>
              <a:tr h="333102">
                <a:tc>
                  <a:txBody>
                    <a:bodyPr/>
                    <a:lstStyle/>
                    <a:p>
                      <a:pPr algn="l"/>
                      <a:r>
                        <a:rPr sz="1250" b="0">
                          <a:solidFill>
                            <a:srgbClr val="0B0B0B"/>
                          </a:solidFill>
                          <a:latin typeface="Calibri"/>
                        </a:rPr>
                        <a:t>LiPo Charger</a:t>
                      </a:r>
                    </a:p>
                  </a:txBody>
                  <a:tcPr anchor="ctr">
                    <a:solidFill>
                      <a:srgbClr val="FFFFFF"/>
                    </a:solidFill>
                  </a:tcPr>
                </a:tc>
                <a:tc>
                  <a:txBody>
                    <a:bodyPr/>
                    <a:lstStyle/>
                    <a:p>
                      <a:pPr algn="ctr"/>
                      <a:r>
                        <a:rPr sz="1250" b="0">
                          <a:solidFill>
                            <a:srgbClr val="0B0B0B"/>
                          </a:solidFill>
                          <a:latin typeface="Calibri"/>
                        </a:rPr>
                        <a:t>BQ24074RGTR</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11"/>
                  </a:ext>
                </a:extLst>
              </a:tr>
              <a:tr h="333102">
                <a:tc>
                  <a:txBody>
                    <a:bodyPr/>
                    <a:lstStyle/>
                    <a:p>
                      <a:pPr algn="l"/>
                      <a:r>
                        <a:rPr sz="1250" b="0">
                          <a:solidFill>
                            <a:srgbClr val="0B0B0B"/>
                          </a:solidFill>
                          <a:latin typeface="Calibri"/>
                        </a:rPr>
                        <a:t>Buck-Boost Reg.</a:t>
                      </a:r>
                    </a:p>
                  </a:txBody>
                  <a:tcPr anchor="ctr">
                    <a:solidFill>
                      <a:srgbClr val="F0EFEC"/>
                    </a:solidFill>
                  </a:tcPr>
                </a:tc>
                <a:tc>
                  <a:txBody>
                    <a:bodyPr/>
                    <a:lstStyle/>
                    <a:p>
                      <a:pPr algn="ctr"/>
                      <a:r>
                        <a:rPr sz="1250" b="0">
                          <a:solidFill>
                            <a:srgbClr val="0B0B0B"/>
                          </a:solidFill>
                          <a:latin typeface="Calibri"/>
                        </a:rPr>
                        <a:t>TPS63031DSKR</a:t>
                      </a:r>
                    </a:p>
                  </a:txBody>
                  <a:tcPr anchor="ctr">
                    <a:solidFill>
                      <a:srgbClr val="F0EFEC"/>
                    </a:solidFill>
                  </a:tcPr>
                </a:tc>
                <a:tc>
                  <a:txBody>
                    <a:bodyPr/>
                    <a:lstStyle/>
                    <a:p>
                      <a:pPr algn="ctr"/>
                      <a:r>
                        <a:rPr sz="1250" b="0">
                          <a:solidFill>
                            <a:srgbClr val="0B0B0B"/>
                          </a:solidFill>
                          <a:latin typeface="Calibri"/>
                        </a:rPr>
                        <a:t>$2.14</a:t>
                      </a:r>
                    </a:p>
                  </a:txBody>
                  <a:tcPr anchor="ctr">
                    <a:solidFill>
                      <a:srgbClr val="F0EFEC"/>
                    </a:solidFill>
                  </a:tcPr>
                </a:tc>
                <a:extLst>
                  <a:ext uri="{0D108BD9-81ED-4DB2-BD59-A6C34878D82A}">
                    <a16:rowId xmlns:a16="http://schemas.microsoft.com/office/drawing/2014/main" val="10012"/>
                  </a:ext>
                </a:extLst>
              </a:tr>
              <a:tr h="333114">
                <a:tc>
                  <a:txBody>
                    <a:bodyPr/>
                    <a:lstStyle/>
                    <a:p>
                      <a:pPr algn="l"/>
                      <a:r>
                        <a:rPr sz="1250" b="0">
                          <a:solidFill>
                            <a:srgbClr val="0B0B0B"/>
                          </a:solidFill>
                          <a:latin typeface="Calibri"/>
                        </a:rPr>
                        <a:t>Passives, PCBs (×2)</a:t>
                      </a:r>
                    </a:p>
                  </a:txBody>
                  <a:tcPr anchor="ctr">
                    <a:solidFill>
                      <a:srgbClr val="FFFFFF"/>
                    </a:solidFill>
                  </a:tcPr>
                </a:tc>
                <a:tc>
                  <a:txBody>
                    <a:bodyPr/>
                    <a:lstStyle/>
                    <a:p>
                      <a:pPr algn="ctr"/>
                      <a:r>
                        <a:rPr sz="1250" b="0">
                          <a:solidFill>
                            <a:srgbClr val="0B0B0B"/>
                          </a:solidFill>
                          <a:latin typeface="Calibri"/>
                        </a:rPr>
                        <a:t>R/C/fuses/JST + fab</a:t>
                      </a:r>
                    </a:p>
                  </a:txBody>
                  <a:tcPr anchor="ctr">
                    <a:solidFill>
                      <a:srgbClr val="FFFFFF"/>
                    </a:solidFill>
                  </a:tcPr>
                </a:tc>
                <a:tc>
                  <a:txBody>
                    <a:bodyPr/>
                    <a:lstStyle/>
                    <a:p>
                      <a:pPr algn="ctr"/>
                      <a:r>
                        <a:rPr sz="1250" b="0">
                          <a:solidFill>
                            <a:srgbClr val="0B0B0B"/>
                          </a:solidFill>
                          <a:latin typeface="Calibri"/>
                        </a:rPr>
                        <a:t>≈ $25</a:t>
                      </a:r>
                    </a:p>
                  </a:txBody>
                  <a:tcPr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11480">
                <a:tc>
                  <a:txBody>
                    <a:bodyPr/>
                    <a:lstStyle/>
                    <a:p>
                      <a:pPr algn="l"/>
                      <a:r>
                        <a:rPr sz="1350" b="1">
                          <a:solidFill>
                            <a:srgbClr val="FFFFFF"/>
                          </a:solidFill>
                          <a:latin typeface="Calibri"/>
                        </a:rPr>
                        <a:t>Field</a:t>
                      </a:r>
                    </a:p>
                  </a:txBody>
                  <a:tcPr anchor="ctr">
                    <a:solidFill>
                      <a:srgbClr val="0B0B0B"/>
                    </a:solidFill>
                  </a:tcPr>
                </a:tc>
                <a:tc>
                  <a:txBody>
                    <a:bodyPr/>
                    <a:lstStyle/>
                    <a:p>
                      <a:pPr algn="ctr"/>
                      <a:r>
                        <a:rPr sz="1350" b="1">
                          <a:solidFill>
                            <a:srgbClr val="FFFFFF"/>
                          </a:solidFill>
                          <a:latin typeface="Calibri"/>
                        </a:rPr>
                        <a:t>Size</a:t>
                      </a:r>
                    </a:p>
                  </a:txBody>
                  <a:tcPr anchor="ctr">
                    <a:solidFill>
                      <a:srgbClr val="0B0B0B"/>
                    </a:solidFill>
                  </a:tcPr>
                </a:tc>
                <a:tc>
                  <a:txBody>
                    <a:bodyPr/>
                    <a:lstStyle/>
                    <a:p>
                      <a:pPr algn="ctr"/>
                      <a:r>
                        <a:rPr sz="1350" b="1">
                          <a:solidFill>
                            <a:srgbClr val="FFFFFF"/>
                          </a:solidFill>
                          <a:latin typeface="Calibri"/>
                        </a:rPr>
                        <a:t>Notes</a:t>
                      </a:r>
                    </a:p>
                  </a:txBody>
                  <a:tcPr anchor="ctr">
                    <a:solidFill>
                      <a:srgbClr val="0B0B0B"/>
                    </a:solidFill>
                  </a:tcPr>
                </a:tc>
                <a:extLst>
                  <a:ext uri="{0D108BD9-81ED-4DB2-BD59-A6C34878D82A}">
                    <a16:rowId xmlns:a16="http://schemas.microsoft.com/office/drawing/2014/main" val="10000"/>
                  </a:ext>
                </a:extLst>
              </a:tr>
              <a:tr h="411480">
                <a:tc>
                  <a:txBody>
                    <a:bodyPr/>
                    <a:lstStyle/>
                    <a:p>
                      <a:pPr algn="l"/>
                      <a:r>
                        <a:rPr sz="1250" b="0">
                          <a:solidFill>
                            <a:srgbClr val="0B0B0B"/>
                          </a:solidFill>
                          <a:latin typeface="Calibri"/>
                        </a:rPr>
                        <a:t>Preamble</a:t>
                      </a:r>
                    </a:p>
                  </a:txBody>
                  <a:tcPr anchor="ctr">
                    <a:solidFill>
                      <a:srgbClr val="FFFFFF"/>
                    </a:solidFill>
                  </a:tcPr>
                </a:tc>
                <a:tc>
                  <a:txBody>
                    <a:bodyPr/>
                    <a:lstStyle/>
                    <a:p>
                      <a:pPr algn="ctr"/>
                      <a:r>
                        <a:rPr sz="1250" b="0">
                          <a:solidFill>
                            <a:srgbClr val="0B0B0B"/>
                          </a:solidFill>
                          <a:latin typeface="Calibri"/>
                        </a:rPr>
                        <a:t>4 B</a:t>
                      </a:r>
                    </a:p>
                  </a:txBody>
                  <a:tcPr anchor="ctr">
                    <a:solidFill>
                      <a:srgbClr val="FFFFFF"/>
                    </a:solidFill>
                  </a:tcPr>
                </a:tc>
                <a:tc>
                  <a:txBody>
                    <a:bodyPr/>
                    <a:lstStyle/>
                    <a:p>
                      <a:pPr algn="ctr"/>
                      <a:r>
                        <a:rPr sz="1250" b="0">
                          <a:solidFill>
                            <a:srgbClr val="0B0B0B"/>
                          </a:solidFill>
                          <a:latin typeface="Calibri"/>
                        </a:rPr>
                        <a:t>0xAB 0xCD 0xEF 0x12 — synchronization marker</a:t>
                      </a:r>
                    </a:p>
                  </a:txBody>
                  <a:tcPr anchor="ctr">
                    <a:solidFill>
                      <a:srgbClr val="FFFFFF"/>
                    </a:solidFill>
                  </a:tcPr>
                </a:tc>
                <a:extLst>
                  <a:ext uri="{0D108BD9-81ED-4DB2-BD59-A6C34878D82A}">
                    <a16:rowId xmlns:a16="http://schemas.microsoft.com/office/drawing/2014/main" val="10001"/>
                  </a:ext>
                </a:extLst>
              </a:tr>
              <a:tr h="411480">
                <a:tc>
                  <a:txBody>
                    <a:bodyPr/>
                    <a:lstStyle/>
                    <a:p>
                      <a:pPr algn="l"/>
                      <a:r>
                        <a:rPr sz="1250" b="0">
                          <a:solidFill>
                            <a:srgbClr val="0B0B0B"/>
                          </a:solidFill>
                          <a:latin typeface="Calibri"/>
                        </a:rPr>
                        <a:t>Type</a:t>
                      </a:r>
                    </a:p>
                  </a:txBody>
                  <a:tcPr anchor="ctr">
                    <a:solidFill>
                      <a:srgbClr val="F0EFEC"/>
                    </a:solidFill>
                  </a:tcPr>
                </a:tc>
                <a:tc>
                  <a:txBody>
                    <a:bodyPr/>
                    <a:lstStyle/>
                    <a:p>
                      <a:pPr algn="ctr"/>
                      <a:r>
                        <a:rPr sz="1250" b="0">
                          <a:solidFill>
                            <a:srgbClr val="0B0B0B"/>
                          </a:solidFill>
                          <a:latin typeface="Calibri"/>
                        </a:rPr>
                        <a:t>1 B</a:t>
                      </a:r>
                    </a:p>
                  </a:txBody>
                  <a:tcPr anchor="ctr">
                    <a:solidFill>
                      <a:srgbClr val="F0EFEC"/>
                    </a:solidFill>
                  </a:tcPr>
                </a:tc>
                <a:tc>
                  <a:txBody>
                    <a:bodyPr/>
                    <a:lstStyle/>
                    <a:p>
                      <a:pPr algn="ctr"/>
                      <a:r>
                        <a:rPr sz="1250" b="0">
                          <a:solidFill>
                            <a:srgbClr val="0B0B0B"/>
                          </a:solidFill>
                          <a:latin typeface="Calibri"/>
                        </a:rPr>
                        <a:t>Message type identifier</a:t>
                      </a:r>
                    </a:p>
                  </a:txBody>
                  <a:tcPr anchor="ctr">
                    <a:solidFill>
                      <a:srgbClr val="F0EFEC"/>
                    </a:solidFill>
                  </a:tcPr>
                </a:tc>
                <a:extLst>
                  <a:ext uri="{0D108BD9-81ED-4DB2-BD59-A6C34878D82A}">
                    <a16:rowId xmlns:a16="http://schemas.microsoft.com/office/drawing/2014/main" val="10002"/>
                  </a:ext>
                </a:extLst>
              </a:tr>
              <a:tr h="411480">
                <a:tc>
                  <a:txBody>
                    <a:bodyPr/>
                    <a:lstStyle/>
                    <a:p>
                      <a:pPr algn="l"/>
                      <a:r>
                        <a:rPr sz="1250" b="0">
                          <a:solidFill>
                            <a:srgbClr val="0B0B0B"/>
                          </a:solidFill>
                          <a:latin typeface="Calibri"/>
                        </a:rPr>
                        <a:t>Length</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Ciphertext length N</a:t>
                      </a:r>
                    </a:p>
                  </a:txBody>
                  <a:tcPr anchor="ctr">
                    <a:solidFill>
                      <a:srgbClr val="FFFFFF"/>
                    </a:solidFill>
                  </a:tcPr>
                </a:tc>
                <a:extLst>
                  <a:ext uri="{0D108BD9-81ED-4DB2-BD59-A6C34878D82A}">
                    <a16:rowId xmlns:a16="http://schemas.microsoft.com/office/drawing/2014/main" val="10003"/>
                  </a:ext>
                </a:extLst>
              </a:tr>
              <a:tr h="411480">
                <a:tc>
                  <a:txBody>
                    <a:bodyPr/>
                    <a:lstStyle/>
                    <a:p>
                      <a:pPr algn="l"/>
                      <a:r>
                        <a:rPr sz="1250" b="0">
                          <a:solidFill>
                            <a:srgbClr val="0B0B0B"/>
                          </a:solidFill>
                          <a:latin typeface="Calibri"/>
                        </a:rPr>
                        <a:t>Nonce</a:t>
                      </a:r>
                    </a:p>
                  </a:txBody>
                  <a:tcPr anchor="ctr">
                    <a:solidFill>
                      <a:srgbClr val="F0EFEC"/>
                    </a:solidFill>
                  </a:tcPr>
                </a:tc>
                <a:tc>
                  <a:txBody>
                    <a:bodyPr/>
                    <a:lstStyle/>
                    <a:p>
                      <a:pPr algn="ctr"/>
                      <a:r>
                        <a:rPr sz="1250" b="0">
                          <a:solidFill>
                            <a:srgbClr val="0B0B0B"/>
                          </a:solidFill>
                          <a:latin typeface="Calibri"/>
                        </a:rPr>
                        <a:t>12 B</a:t>
                      </a:r>
                    </a:p>
                  </a:txBody>
                  <a:tcPr anchor="ctr">
                    <a:solidFill>
                      <a:srgbClr val="F0EFEC"/>
                    </a:solidFill>
                  </a:tcPr>
                </a:tc>
                <a:tc>
                  <a:txBody>
                    <a:bodyPr/>
                    <a:lstStyle/>
                    <a:p>
                      <a:pPr algn="ctr"/>
                      <a:r>
                        <a:rPr sz="1250" b="0">
                          <a:solidFill>
                            <a:srgbClr val="0B0B0B"/>
                          </a:solidFill>
                          <a:latin typeface="Calibri"/>
                        </a:rPr>
                        <a:t>8B random boot salt + 4B monotonic counter</a:t>
                      </a:r>
                    </a:p>
                  </a:txBody>
                  <a:tcPr anchor="ctr">
                    <a:solidFill>
                      <a:srgbClr val="F0EFEC"/>
                    </a:solidFill>
                  </a:tcPr>
                </a:tc>
                <a:extLst>
                  <a:ext uri="{0D108BD9-81ED-4DB2-BD59-A6C34878D82A}">
                    <a16:rowId xmlns:a16="http://schemas.microsoft.com/office/drawing/2014/main" val="10004"/>
                  </a:ext>
                </a:extLst>
              </a:tr>
              <a:tr h="411480">
                <a:tc>
                  <a:txBody>
                    <a:bodyPr/>
                    <a:lstStyle/>
                    <a:p>
                      <a:pPr algn="l"/>
                      <a:r>
                        <a:rPr sz="1250" b="0">
                          <a:solidFill>
                            <a:srgbClr val="0B0B0B"/>
                          </a:solidFill>
                          <a:latin typeface="Calibri"/>
                        </a:rPr>
                        <a:t>Ciphertext</a:t>
                      </a:r>
                    </a:p>
                  </a:txBody>
                  <a:tcPr anchor="ctr">
                    <a:solidFill>
                      <a:srgbClr val="FFFFFF"/>
                    </a:solidFill>
                  </a:tcPr>
                </a:tc>
                <a:tc>
                  <a:txBody>
                    <a:bodyPr/>
                    <a:lstStyle/>
                    <a:p>
                      <a:pPr algn="ctr"/>
                      <a:r>
                        <a:rPr sz="1250" b="0">
                          <a:solidFill>
                            <a:srgbClr val="0B0B0B"/>
                          </a:solidFill>
                          <a:latin typeface="Calibri"/>
                        </a:rPr>
                        <a:t>N B</a:t>
                      </a:r>
                    </a:p>
                  </a:txBody>
                  <a:tcPr anchor="ctr">
                    <a:solidFill>
                      <a:srgbClr val="FFFFFF"/>
                    </a:solidFill>
                  </a:tcPr>
                </a:tc>
                <a:tc>
                  <a:txBody>
                    <a:bodyPr/>
                    <a:lstStyle/>
                    <a:p>
                      <a:pPr algn="ctr"/>
                      <a:r>
                        <a:rPr sz="1250" b="0">
                          <a:solidFill>
                            <a:srgbClr val="0B0B0B"/>
                          </a:solidFill>
                          <a:latin typeface="Calibri"/>
                        </a:rPr>
                        <a:t>AES-128-GCM output, equal length to plaintext</a:t>
                      </a:r>
                    </a:p>
                  </a:txBody>
                  <a:tcPr anchor="ctr">
                    <a:solidFill>
                      <a:srgbClr val="FFFFFF"/>
                    </a:solidFill>
                  </a:tcPr>
                </a:tc>
                <a:extLst>
                  <a:ext uri="{0D108BD9-81ED-4DB2-BD59-A6C34878D82A}">
                    <a16:rowId xmlns:a16="http://schemas.microsoft.com/office/drawing/2014/main" val="10005"/>
                  </a:ext>
                </a:extLst>
              </a:tr>
              <a:tr h="411480">
                <a:tc>
                  <a:txBody>
                    <a:bodyPr/>
                    <a:lstStyle/>
                    <a:p>
                      <a:pPr algn="l"/>
                      <a:r>
                        <a:rPr sz="1250" b="0">
                          <a:solidFill>
                            <a:srgbClr val="0B0B0B"/>
                          </a:solidFill>
                          <a:latin typeface="Calibri"/>
                        </a:rPr>
                        <a:t>GCM Tag</a:t>
                      </a:r>
                    </a:p>
                  </a:txBody>
                  <a:tcPr anchor="ctr">
                    <a:solidFill>
                      <a:srgbClr val="F0EFEC"/>
                    </a:solidFill>
                  </a:tcPr>
                </a:tc>
                <a:tc>
                  <a:txBody>
                    <a:bodyPr/>
                    <a:lstStyle/>
                    <a:p>
                      <a:pPr algn="ctr"/>
                      <a:r>
                        <a:rPr sz="1250" b="0">
                          <a:solidFill>
                            <a:srgbClr val="0B0B0B"/>
                          </a:solidFill>
                          <a:latin typeface="Calibri"/>
                        </a:rPr>
                        <a:t>16 B</a:t>
                      </a:r>
                    </a:p>
                  </a:txBody>
                  <a:tcPr anchor="ctr">
                    <a:solidFill>
                      <a:srgbClr val="F0EFEC"/>
                    </a:solidFill>
                  </a:tcPr>
                </a:tc>
                <a:tc>
                  <a:txBody>
                    <a:bodyPr/>
                    <a:lstStyle/>
                    <a:p>
                      <a:pPr algn="ctr"/>
                      <a:r>
                        <a:rPr sz="1250" b="0">
                          <a:solidFill>
                            <a:srgbClr val="0B0B0B"/>
                          </a:solidFill>
                          <a:latin typeface="Calibri"/>
                        </a:rPr>
                        <a:t>Authentication tag — verified before any plaintext release</a:t>
                      </a:r>
                    </a:p>
                  </a:txBody>
                  <a:tcPr anchor="ctr">
                    <a:solidFill>
                      <a:srgbClr val="F0EFEC"/>
                    </a:solidFill>
                  </a:tcPr>
                </a:tc>
                <a:extLst>
                  <a:ext uri="{0D108BD9-81ED-4DB2-BD59-A6C34878D82A}">
                    <a16:rowId xmlns:a16="http://schemas.microsoft.com/office/drawing/2014/main" val="10006"/>
                  </a:ext>
                </a:extLst>
              </a:tr>
              <a:tr h="411480">
                <a:tc>
                  <a:txBody>
                    <a:bodyPr/>
                    <a:lstStyle/>
                    <a:p>
                      <a:pPr algn="l"/>
                      <a:r>
                        <a:rPr sz="1250" b="0">
                          <a:solidFill>
                            <a:srgbClr val="0B0B0B"/>
                          </a:solidFill>
                          <a:latin typeface="Calibri"/>
                        </a:rPr>
                        <a:t>CRC16</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CRC16-CCITT, poly 0x1021, init 0xFFFF</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b="1" i="0">
                <a:solidFill>
                  <a:srgbClr val="898781"/>
                </a:solidFill>
                <a:latin typeface="Calibri"/>
              </a:rPr>
              <a:t>64-entry nonce sliding window checked against every incoming nonce BEFORE decryption is attempted.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48640">
                <a:tc>
                  <a:txBody>
                    <a:bodyPr/>
                    <a:lstStyle/>
                    <a:p>
                      <a:pPr algn="l"/>
                      <a:r>
                        <a:rPr sz="1350" b="1">
                          <a:solidFill>
                            <a:srgbClr val="FFFFFF"/>
                          </a:solidFill>
                          <a:latin typeface="Calibri"/>
                        </a:rPr>
                        <a:t>R_f</a:t>
                      </a:r>
                    </a:p>
                  </a:txBody>
                  <a:tcPr anchor="ctr">
                    <a:solidFill>
                      <a:srgbClr val="0B0B0B"/>
                    </a:solidFill>
                  </a:tcPr>
                </a:tc>
                <a:tc>
                  <a:txBody>
                    <a:bodyPr/>
                    <a:lstStyle/>
                    <a:p>
                      <a:pPr algn="ctr"/>
                      <a:r>
                        <a:rPr sz="1350" b="1">
                          <a:solidFill>
                            <a:srgbClr val="FFFFFF"/>
                          </a:solidFill>
                          <a:latin typeface="Calibri"/>
                        </a:rPr>
                        <a:t>C_f</a:t>
                      </a:r>
                    </a:p>
                  </a:txBody>
                  <a:tcPr anchor="ctr">
                    <a:solidFill>
                      <a:srgbClr val="0B0B0B"/>
                    </a:solidFill>
                  </a:tcPr>
                </a:tc>
                <a:tc>
                  <a:txBody>
                    <a:bodyPr/>
                    <a:lstStyle/>
                    <a:p>
                      <a:pPr algn="ctr"/>
                      <a:r>
                        <a:rPr sz="1350" b="1">
                          <a:solidFill>
                            <a:srgbClr val="FFFFFF"/>
                          </a:solidFill>
                          <a:latin typeface="Calibri"/>
                        </a:rPr>
                        <a:t>BW (kHz)</a:t>
                      </a:r>
                    </a:p>
                  </a:txBody>
                  <a:tcPr anchor="ctr">
                    <a:solidFill>
                      <a:srgbClr val="0B0B0B"/>
                    </a:solidFill>
                  </a:tcPr>
                </a:tc>
                <a:tc>
                  <a:txBody>
                    <a:bodyPr/>
                    <a:lstStyle/>
                    <a:p>
                      <a:pPr algn="ctr"/>
                      <a:r>
                        <a:rPr sz="1350" b="1">
                          <a:solidFill>
                            <a:srgbClr val="FFFFFF"/>
                          </a:solidFill>
                          <a:latin typeface="Calibri"/>
                        </a:rPr>
                        <a:t>Max Baud (measured)</a:t>
                      </a:r>
                    </a:p>
                  </a:txBody>
                  <a:tcPr anchor="ctr">
                    <a:solidFill>
                      <a:srgbClr val="0B0B0B"/>
                    </a:solidFill>
                  </a:tcPr>
                </a:tc>
                <a:tc>
                  <a:txBody>
                    <a:bodyPr/>
                    <a:lstStyle/>
                    <a:p>
                      <a:pPr algn="ctr"/>
                      <a:r>
                        <a:rPr sz="1350" b="1">
                          <a:solidFill>
                            <a:srgbClr val="FFFFFF"/>
                          </a:solidFill>
                          <a:latin typeface="Calibri"/>
                        </a:rPr>
                        <a:t>Output Swing</a:t>
                      </a:r>
                    </a:p>
                  </a:txBody>
                  <a:tcPr anchor="ctr">
                    <a:solidFill>
                      <a:srgbClr val="0B0B0B"/>
                    </a:solidFill>
                  </a:tcPr>
                </a:tc>
                <a:extLst>
                  <a:ext uri="{0D108BD9-81ED-4DB2-BD59-A6C34878D82A}">
                    <a16:rowId xmlns:a16="http://schemas.microsoft.com/office/drawing/2014/main" val="10000"/>
                  </a:ext>
                </a:extLst>
              </a:tr>
              <a:tr h="548640">
                <a:tc>
                  <a:txBody>
                    <a:bodyPr/>
                    <a:lstStyle/>
                    <a:p>
                      <a:pPr algn="l"/>
                      <a:r>
                        <a:rPr sz="1250" b="0">
                          <a:solidFill>
                            <a:srgbClr val="0B0B0B"/>
                          </a:solidFill>
                          <a:latin typeface="Calibri"/>
                        </a:rPr>
                        <a:t>470kΩ</a:t>
                      </a:r>
                    </a:p>
                  </a:txBody>
                  <a:tcPr anchor="ctr">
                    <a:solidFill>
                      <a:srgbClr val="FFFFFF"/>
                    </a:solidFill>
                  </a:tcPr>
                </a:tc>
                <a:tc>
                  <a:txBody>
                    <a:bodyPr/>
                    <a:lstStyle/>
                    <a:p>
                      <a:pPr algn="ctr"/>
                      <a:r>
                        <a:rPr sz="1250" b="0">
                          <a:solidFill>
                            <a:srgbClr val="0B0B0B"/>
                          </a:solidFill>
                          <a:latin typeface="Calibri"/>
                        </a:rPr>
                        <a:t>5pF</a:t>
                      </a:r>
                    </a:p>
                  </a:txBody>
                  <a:tcPr anchor="ctr">
                    <a:solidFill>
                      <a:srgbClr val="FFFFFF"/>
                    </a:solidFill>
                  </a:tcPr>
                </a:tc>
                <a:tc>
                  <a:txBody>
                    <a:bodyPr/>
                    <a:lstStyle/>
                    <a:p>
                      <a:pPr algn="ctr"/>
                      <a:r>
                        <a:rPr sz="1250" b="0">
                          <a:solidFill>
                            <a:srgbClr val="0B0B0B"/>
                          </a:solidFill>
                          <a:latin typeface="Calibri"/>
                        </a:rPr>
                        <a:t>68</a:t>
                      </a:r>
                    </a:p>
                  </a:txBody>
                  <a:tcPr anchor="ctr">
                    <a:solidFill>
                      <a:srgbClr val="FFFFFF"/>
                    </a:solidFill>
                  </a:tcPr>
                </a:tc>
                <a:tc>
                  <a:txBody>
                    <a:bodyPr/>
                    <a:lstStyle/>
                    <a:p>
                      <a:pPr algn="ctr"/>
                      <a:r>
                        <a:rPr sz="1250" b="0">
                          <a:solidFill>
                            <a:srgbClr val="0B0B0B"/>
                          </a:solidFill>
                          <a:latin typeface="Calibri"/>
                        </a:rPr>
                        <a:t>300,000</a:t>
                      </a:r>
                    </a:p>
                  </a:txBody>
                  <a:tcPr anchor="ctr">
                    <a:solidFill>
                      <a:srgbClr val="FFFFFF"/>
                    </a:solidFill>
                  </a:tcPr>
                </a:tc>
                <a:tc>
                  <a:txBody>
                    <a:bodyPr/>
                    <a:lstStyle/>
                    <a:p>
                      <a:pPr algn="ctr"/>
                      <a:r>
                        <a:rPr sz="1250" b="0">
                          <a:solidFill>
                            <a:srgbClr val="0B0B0B"/>
                          </a:solidFill>
                          <a:latin typeface="Calibri"/>
                        </a:rPr>
                        <a:t>≈2.0V</a:t>
                      </a:r>
                    </a:p>
                  </a:txBody>
                  <a:tcPr anchor="ctr">
                    <a:solidFill>
                      <a:srgbClr val="FFFFFF"/>
                    </a:solidFill>
                  </a:tcPr>
                </a:tc>
                <a:extLst>
                  <a:ext uri="{0D108BD9-81ED-4DB2-BD59-A6C34878D82A}">
                    <a16:rowId xmlns:a16="http://schemas.microsoft.com/office/drawing/2014/main" val="10001"/>
                  </a:ext>
                </a:extLst>
              </a:tr>
              <a:tr h="548640">
                <a:tc>
                  <a:txBody>
                    <a:bodyPr/>
                    <a:lstStyle/>
                    <a:p>
                      <a:pPr algn="l"/>
                      <a:r>
                        <a:rPr sz="1250" b="0">
                          <a:solidFill>
                            <a:srgbClr val="0B0B0B"/>
                          </a:solidFill>
                          <a:latin typeface="Calibri"/>
                        </a:rPr>
                        <a:t>100kΩ</a:t>
                      </a:r>
                    </a:p>
                  </a:txBody>
                  <a:tcPr anchor="ctr">
                    <a:solidFill>
                      <a:srgbClr val="F0EFEC"/>
                    </a:solidFill>
                  </a:tcPr>
                </a:tc>
                <a:tc>
                  <a:txBody>
                    <a:bodyPr/>
                    <a:lstStyle/>
                    <a:p>
                      <a:pPr algn="ctr"/>
                      <a:r>
                        <a:rPr sz="1250" b="0">
                          <a:solidFill>
                            <a:srgbClr val="0B0B0B"/>
                          </a:solidFill>
                          <a:latin typeface="Calibri"/>
                        </a:rPr>
                        <a:t>5pF</a:t>
                      </a:r>
                    </a:p>
                  </a:txBody>
                  <a:tcPr anchor="ctr">
                    <a:solidFill>
                      <a:srgbClr val="F0EFEC"/>
                    </a:solidFill>
                  </a:tcPr>
                </a:tc>
                <a:tc>
                  <a:txBody>
                    <a:bodyPr/>
                    <a:lstStyle/>
                    <a:p>
                      <a:pPr algn="ctr"/>
                      <a:r>
                        <a:rPr sz="1250" b="0">
                          <a:solidFill>
                            <a:srgbClr val="0B0B0B"/>
                          </a:solidFill>
                          <a:latin typeface="Calibri"/>
                        </a:rPr>
                        <a:t>318</a:t>
                      </a:r>
                    </a:p>
                  </a:txBody>
                  <a:tcPr anchor="ctr">
                    <a:solidFill>
                      <a:srgbClr val="F0EFEC"/>
                    </a:solidFill>
                  </a:tcPr>
                </a:tc>
                <a:tc>
                  <a:txBody>
                    <a:bodyPr/>
                    <a:lstStyle/>
                    <a:p>
                      <a:pPr algn="ctr"/>
                      <a:r>
                        <a:rPr sz="1250" b="0">
                          <a:solidFill>
                            <a:srgbClr val="0B0B0B"/>
                          </a:solidFill>
                          <a:latin typeface="Calibri"/>
                        </a:rPr>
                        <a:t>250,000</a:t>
                      </a:r>
                    </a:p>
                  </a:txBody>
                  <a:tcPr anchor="ctr">
                    <a:solidFill>
                      <a:srgbClr val="F0EFEC"/>
                    </a:solidFill>
                  </a:tcPr>
                </a:tc>
                <a:tc>
                  <a:txBody>
                    <a:bodyPr/>
                    <a:lstStyle/>
                    <a:p>
                      <a:pPr algn="ctr"/>
                      <a:r>
                        <a:rPr sz="1250" b="0">
                          <a:solidFill>
                            <a:srgbClr val="0B0B0B"/>
                          </a:solidFill>
                          <a:latin typeface="Calibri"/>
                        </a:rPr>
                        <a:t>≈400mV</a:t>
                      </a:r>
                    </a:p>
                  </a:txBody>
                  <a:tcPr anchor="ctr">
                    <a:solidFill>
                      <a:srgbClr val="F0EFEC"/>
                    </a:solidFill>
                  </a:tcPr>
                </a:tc>
                <a:extLst>
                  <a:ext uri="{0D108BD9-81ED-4DB2-BD59-A6C34878D82A}">
                    <a16:rowId xmlns:a16="http://schemas.microsoft.com/office/drawing/2014/main" val="10002"/>
                  </a:ext>
                </a:extLst>
              </a:tr>
              <a:tr h="548640">
                <a:tc>
                  <a:txBody>
                    <a:bodyPr/>
                    <a:lstStyle/>
                    <a:p>
                      <a:pPr algn="l"/>
                      <a:r>
                        <a:rPr sz="1250" b="0">
                          <a:solidFill>
                            <a:srgbClr val="0B0B0B"/>
                          </a:solidFill>
                          <a:latin typeface="Calibri"/>
                        </a:rPr>
                        <a:t>100kΩ</a:t>
                      </a:r>
                    </a:p>
                  </a:txBody>
                  <a:tcPr anchor="ctr">
                    <a:solidFill>
                      <a:srgbClr val="FFFFFF"/>
                    </a:solidFill>
                  </a:tcPr>
                </a:tc>
                <a:tc>
                  <a:txBody>
                    <a:bodyPr/>
                    <a:lstStyle/>
                    <a:p>
                      <a:pPr algn="ctr"/>
                      <a:r>
                        <a:rPr sz="1250" b="0">
                          <a:solidFill>
                            <a:srgbClr val="0B0B0B"/>
                          </a:solidFill>
                          <a:latin typeface="Calibri"/>
                        </a:rPr>
                        <a:t>1pF</a:t>
                      </a:r>
                    </a:p>
                  </a:txBody>
                  <a:tcPr anchor="ctr">
                    <a:solidFill>
                      <a:srgbClr val="FFFFFF"/>
                    </a:solidFill>
                  </a:tcPr>
                </a:tc>
                <a:tc>
                  <a:txBody>
                    <a:bodyPr/>
                    <a:lstStyle/>
                    <a:p>
                      <a:pPr algn="ctr"/>
                      <a:r>
                        <a:rPr sz="1250" b="0">
                          <a:solidFill>
                            <a:srgbClr val="0B0B0B"/>
                          </a:solidFill>
                          <a:latin typeface="Calibri"/>
                        </a:rPr>
                        <a:t>1,590</a:t>
                      </a:r>
                    </a:p>
                  </a:txBody>
                  <a:tcPr anchor="ctr">
                    <a:solidFill>
                      <a:srgbClr val="FFFFFF"/>
                    </a:solidFill>
                  </a:tcPr>
                </a:tc>
                <a:tc>
                  <a:txBody>
                    <a:bodyPr/>
                    <a:lstStyle/>
                    <a:p>
                      <a:pPr algn="ctr"/>
                      <a:r>
                        <a:rPr sz="1250" b="0">
                          <a:solidFill>
                            <a:srgbClr val="0B0B0B"/>
                          </a:solidFill>
                          <a:latin typeface="Calibri"/>
                        </a:rPr>
                        <a:t>TBD (future work)</a:t>
                      </a:r>
                    </a:p>
                  </a:txBody>
                  <a:tcPr anchor="ctr">
                    <a:solidFill>
                      <a:srgbClr val="FFFFFF"/>
                    </a:solidFill>
                  </a:tcPr>
                </a:tc>
                <a:tc>
                  <a:txBody>
                    <a:bodyPr/>
                    <a:lstStyle/>
                    <a:p>
                      <a:pPr algn="ctr"/>
                      <a:r>
                        <a:rPr sz="1250" b="0">
                          <a:solidFill>
                            <a:srgbClr val="0B0B0B"/>
                          </a:solidFill>
                          <a:latin typeface="Calibri"/>
                        </a:rPr>
                        <a:t>≈400mV</a:t>
                      </a:r>
                    </a:p>
                  </a:txBody>
                  <a:tcPr anchor="ctr">
                    <a:solidFill>
                      <a:srgbClr val="FFFFFF"/>
                    </a:solidFill>
                  </a:tcPr>
                </a:tc>
                <a:extLst>
                  <a:ext uri="{0D108BD9-81ED-4DB2-BD59-A6C34878D82A}">
                    <a16:rowId xmlns:a16="http://schemas.microsoft.com/office/drawing/2014/main" val="10003"/>
                  </a:ext>
                </a:extLst>
              </a:tr>
              <a:tr h="548640">
                <a:tc>
                  <a:txBody>
                    <a:bodyPr/>
                    <a:lstStyle/>
                    <a:p>
                      <a:pPr algn="l"/>
                      <a:r>
                        <a:rPr sz="1250" b="0">
                          <a:solidFill>
                            <a:srgbClr val="0B0B0B"/>
                          </a:solidFill>
                          <a:latin typeface="Calibri"/>
                        </a:rPr>
                        <a:t>47kΩ</a:t>
                      </a:r>
                    </a:p>
                  </a:txBody>
                  <a:tcPr anchor="ctr">
                    <a:solidFill>
                      <a:srgbClr val="F0EFEC"/>
                    </a:solidFill>
                  </a:tcPr>
                </a:tc>
                <a:tc>
                  <a:txBody>
                    <a:bodyPr/>
                    <a:lstStyle/>
                    <a:p>
                      <a:pPr algn="ctr"/>
                      <a:r>
                        <a:rPr sz="1250" b="0">
                          <a:solidFill>
                            <a:srgbClr val="0B0B0B"/>
                          </a:solidFill>
                          <a:latin typeface="Calibri"/>
                        </a:rPr>
                        <a:t>1pF</a:t>
                      </a:r>
                    </a:p>
                  </a:txBody>
                  <a:tcPr anchor="ctr">
                    <a:solidFill>
                      <a:srgbClr val="F0EFEC"/>
                    </a:solidFill>
                  </a:tcPr>
                </a:tc>
                <a:tc>
                  <a:txBody>
                    <a:bodyPr/>
                    <a:lstStyle/>
                    <a:p>
                      <a:pPr algn="ctr"/>
                      <a:r>
                        <a:rPr sz="1250" b="0">
                          <a:solidFill>
                            <a:srgbClr val="0B0B0B"/>
                          </a:solidFill>
                          <a:latin typeface="Calibri"/>
                        </a:rPr>
                        <a:t>3,386</a:t>
                      </a:r>
                    </a:p>
                  </a:txBody>
                  <a:tcPr anchor="ctr">
                    <a:solidFill>
                      <a:srgbClr val="F0EFEC"/>
                    </a:solidFill>
                  </a:tcPr>
                </a:tc>
                <a:tc>
                  <a:txBody>
                    <a:bodyPr/>
                    <a:lstStyle/>
                    <a:p>
                      <a:pPr algn="ctr"/>
                      <a:r>
                        <a:rPr sz="1250" b="0">
                          <a:solidFill>
                            <a:srgbClr val="0B0B0B"/>
                          </a:solidFill>
                          <a:latin typeface="Calibri"/>
                        </a:rPr>
                        <a:t>TBD (future work)</a:t>
                      </a:r>
                    </a:p>
                  </a:txBody>
                  <a:tcPr anchor="ctr">
                    <a:solidFill>
                      <a:srgbClr val="F0EFEC"/>
                    </a:solidFill>
                  </a:tcPr>
                </a:tc>
                <a:tc>
                  <a:txBody>
                    <a:bodyPr/>
                    <a:lstStyle/>
                    <a:p>
                      <a:pPr algn="ctr"/>
                      <a:r>
                        <a:rPr sz="1250" b="0">
                          <a:solidFill>
                            <a:srgbClr val="0B0B0B"/>
                          </a:solidFill>
                          <a:latin typeface="Calibri"/>
                        </a:rPr>
                        <a:t>≈200mV</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b="1" i="0">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Three Receiver Variants, Three Auth Interaction Models</a:t>
            </a:r>
          </a:p>
        </p:txBody>
      </p:sp>
      <p:graphicFrame>
        <p:nvGraphicFramePr>
          <p:cNvPr id="3" name="Table 2"/>
          <p:cNvGraphicFramePr>
            <a:graphicFrameLocks noGrp="1"/>
          </p:cNvGraphicFramePr>
          <p:nvPr/>
        </p:nvGraphicFramePr>
        <p:xfrm>
          <a:off x="685800" y="1691640"/>
          <a:ext cx="11430000" cy="201168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7040880">
                  <a:extLst>
                    <a:ext uri="{9D8B030D-6E8A-4147-A177-3AD203B41FA5}">
                      <a16:colId xmlns:a16="http://schemas.microsoft.com/office/drawing/2014/main" val="20002"/>
                    </a:ext>
                  </a:extLst>
                </a:gridCol>
              </a:tblGrid>
              <a:tr h="502920">
                <a:tc>
                  <a:txBody>
                    <a:bodyPr/>
                    <a:lstStyle/>
                    <a:p>
                      <a:pPr algn="l"/>
                      <a:r>
                        <a:rPr sz="1350" b="1">
                          <a:solidFill>
                            <a:srgbClr val="FFFFFF"/>
                          </a:solidFill>
                          <a:latin typeface="Calibri"/>
                        </a:rPr>
                        <a:t>Binary</a:t>
                      </a:r>
                    </a:p>
                  </a:txBody>
                  <a:tcPr anchor="ctr">
                    <a:solidFill>
                      <a:srgbClr val="0B0B0B"/>
                    </a:solidFill>
                  </a:tcPr>
                </a:tc>
                <a:tc>
                  <a:txBody>
                    <a:bodyPr/>
                    <a:lstStyle/>
                    <a:p>
                      <a:pPr algn="ctr"/>
                      <a:r>
                        <a:rPr sz="1350" b="1">
                          <a:solidFill>
                            <a:srgbClr val="FFFFFF"/>
                          </a:solidFill>
                          <a:latin typeface="Calibri"/>
                        </a:rPr>
                        <a:t>Role</a:t>
                      </a:r>
                    </a:p>
                  </a:txBody>
                  <a:tcPr anchor="ctr">
                    <a:solidFill>
                      <a:srgbClr val="0B0B0B"/>
                    </a:solidFill>
                  </a:tcPr>
                </a:tc>
                <a:tc>
                  <a:txBody>
                    <a:bodyPr/>
                    <a:lstStyle/>
                    <a:p>
                      <a:pPr algn="ctr"/>
                      <a:r>
                        <a:rPr sz="1350" b="1">
                          <a:solidFill>
                            <a:srgbClr val="FFFFFF"/>
                          </a:solidFill>
                          <a:latin typeface="Calibri"/>
                        </a:rPr>
                        <a:t>Auth interaction</a:t>
                      </a:r>
                    </a:p>
                  </a:txBody>
                  <a:tcPr anchor="ctr">
                    <a:solidFill>
                      <a:srgbClr val="0B0B0B"/>
                    </a:solidFill>
                  </a:tcPr>
                </a:tc>
                <a:extLst>
                  <a:ext uri="{0D108BD9-81ED-4DB2-BD59-A6C34878D82A}">
                    <a16:rowId xmlns:a16="http://schemas.microsoft.com/office/drawing/2014/main" val="10000"/>
                  </a:ext>
                </a:extLst>
              </a:tr>
              <a:tr h="502920">
                <a:tc>
                  <a:txBody>
                    <a:bodyPr/>
                    <a:lstStyle/>
                    <a:p>
                      <a:pPr algn="l"/>
                      <a:r>
                        <a:rPr sz="1250" b="0">
                          <a:solidFill>
                            <a:srgbClr val="0B0B0B"/>
                          </a:solidFill>
                          <a:latin typeface="Calibri"/>
                        </a:rPr>
                        <a:t>keys_receiver</a:t>
                      </a:r>
                    </a:p>
                  </a:txBody>
                  <a:tcPr anchor="ctr">
                    <a:solidFill>
                      <a:srgbClr val="FFFFFF"/>
                    </a:solidFill>
                  </a:tcPr>
                </a:tc>
                <a:tc>
                  <a:txBody>
                    <a:bodyPr/>
                    <a:lstStyle/>
                    <a:p>
                      <a:pPr algn="ctr"/>
                      <a:r>
                        <a:rPr sz="1250" b="0">
                          <a:solidFill>
                            <a:srgbClr val="0B0B0B"/>
                          </a:solidFill>
                          <a:latin typeface="Calibri"/>
                        </a:rPr>
                        <a:t>“The Manager”</a:t>
                      </a:r>
                    </a:p>
                  </a:txBody>
                  <a:tcPr anchor="ctr">
                    <a:solidFill>
                      <a:srgbClr val="FFFFFF"/>
                    </a:solidFill>
                  </a:tcPr>
                </a:tc>
                <a:tc>
                  <a:txBody>
                    <a:bodyPr/>
                    <a:lstStyle/>
                    <a:p>
                      <a:pPr algn="ctr"/>
                      <a:r>
                        <a:rPr sz="1250" b="0">
                          <a:solidFill>
                            <a:srgbClr val="0B0B0B"/>
                          </a:solidFill>
                          <a:latin typeface="Calibri"/>
                        </a:rPr>
                        <a:t>Fetches a session key from Auth at startup, pushes it to the sender</a:t>
                      </a:r>
                    </a:p>
                  </a:txBody>
                  <a:tcPr anchor="ctr">
                    <a:solidFill>
                      <a:srgbClr val="FFFFFF"/>
                    </a:solidFill>
                  </a:tcPr>
                </a:tc>
                <a:extLst>
                  <a:ext uri="{0D108BD9-81ED-4DB2-BD59-A6C34878D82A}">
                    <a16:rowId xmlns:a16="http://schemas.microsoft.com/office/drawing/2014/main" val="10001"/>
                  </a:ext>
                </a:extLst>
              </a:tr>
              <a:tr h="502920">
                <a:tc>
                  <a:txBody>
                    <a:bodyPr/>
                    <a:lstStyle/>
                    <a:p>
                      <a:pPr algn="l"/>
                      <a:r>
                        <a:rPr sz="1250" b="0">
                          <a:solidFill>
                            <a:srgbClr val="0B0B0B"/>
                          </a:solidFill>
                          <a:latin typeface="Calibri"/>
                        </a:rPr>
                        <a:t>flash_receiver</a:t>
                      </a:r>
                    </a:p>
                  </a:txBody>
                  <a:tcPr anchor="ctr">
                    <a:solidFill>
                      <a:srgbClr val="F0EFEC"/>
                    </a:solidFill>
                  </a:tcPr>
                </a:tc>
                <a:tc>
                  <a:txBody>
                    <a:bodyPr/>
                    <a:lstStyle/>
                    <a:p>
                      <a:pPr algn="ctr"/>
                      <a:r>
                        <a:rPr sz="1250" b="0">
                          <a:solidFill>
                            <a:srgbClr val="0B0B0B"/>
                          </a:solidFill>
                          <a:latin typeface="Calibri"/>
                        </a:rPr>
                        <a:t>Combined session app</a:t>
                      </a:r>
                    </a:p>
                  </a:txBody>
                  <a:tcPr anchor="ctr">
                    <a:solidFill>
                      <a:srgbClr val="F0EFEC"/>
                    </a:solidFill>
                  </a:tcPr>
                </a:tc>
                <a:tc>
                  <a:txBody>
                    <a:bodyPr/>
                    <a:lstStyle/>
                    <a:p>
                      <a:pPr algn="ctr"/>
                      <a:r>
                        <a:rPr sz="1250" b="0">
                          <a:solidFill>
                            <a:srgbClr val="0B0B0B"/>
                          </a:solidFill>
                          <a:latin typeface="Calibri"/>
                        </a:rPr>
                        <a:t>Chat + file transfer + HMAC verification + key management, combined</a:t>
                      </a:r>
                    </a:p>
                  </a:txBody>
                  <a:tcPr anchor="ctr">
                    <a:solidFill>
                      <a:srgbClr val="F0EFEC"/>
                    </a:solidFill>
                  </a:tcPr>
                </a:tc>
                <a:extLst>
                  <a:ext uri="{0D108BD9-81ED-4DB2-BD59-A6C34878D82A}">
                    <a16:rowId xmlns:a16="http://schemas.microsoft.com/office/drawing/2014/main" val="10002"/>
                  </a:ext>
                </a:extLst>
              </a:tr>
              <a:tr h="502920">
                <a:tc>
                  <a:txBody>
                    <a:bodyPr/>
                    <a:lstStyle/>
                    <a:p>
                      <a:pPr algn="l"/>
                      <a:r>
                        <a:rPr sz="1250" b="0">
                          <a:solidFill>
                            <a:srgbClr val="0B0B0B"/>
                          </a:solidFill>
                          <a:latin typeface="Calibri"/>
                        </a:rPr>
                        <a:t>ask_receiver</a:t>
                      </a:r>
                    </a:p>
                  </a:txBody>
                  <a:tcPr anchor="ctr">
                    <a:solidFill>
                      <a:srgbClr val="FFFFFF"/>
                    </a:solidFill>
                  </a:tcPr>
                </a:tc>
                <a:tc>
                  <a:txBody>
                    <a:bodyPr/>
                    <a:lstStyle/>
                    <a:p>
                      <a:pPr algn="ctr"/>
                      <a:r>
                        <a:rPr sz="1250" b="0">
                          <a:solidFill>
                            <a:srgbClr val="0B0B0B"/>
                          </a:solidFill>
                          <a:latin typeface="Calibri"/>
                        </a:rPr>
                        <a:t>“The Detective”</a:t>
                      </a:r>
                    </a:p>
                  </a:txBody>
                  <a:tcPr anchor="ctr">
                    <a:solidFill>
                      <a:srgbClr val="FFFFFF"/>
                    </a:solidFill>
                  </a:tcPr>
                </a:tc>
                <a:tc>
                  <a:txBody>
                    <a:bodyPr/>
                    <a:lstStyle/>
                    <a:p>
                      <a:pPr algn="ctr"/>
                      <a:r>
                        <a:rPr sz="1250" b="0">
                          <a:solidFill>
                            <a:srgbClr val="0B0B0B"/>
                          </a:solidFill>
                          <a:latin typeface="Calibri"/>
                        </a:rPr>
                        <a:t>No keys at start — listens for an optical key-ID broadcast, then queries Auth</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502920" y="3931920"/>
            <a:ext cx="11155680" cy="548640"/>
          </a:xfrm>
          <a:prstGeom prst="rect">
            <a:avLst/>
          </a:prstGeom>
          <a:noFill/>
        </p:spPr>
        <p:txBody>
          <a:bodyPr wrap="square">
            <a:spAutoFit/>
          </a:bodyPr>
          <a:lstStyle/>
          <a:p>
            <a:pPr algn="ctr"/>
            <a:r>
              <a:rPr sz="1250" b="1" i="0">
                <a:solidFill>
                  <a:srgbClr val="898781"/>
                </a:solidFill>
                <a:latin typeface="Calibri"/>
              </a:rPr>
              <a:t>ask_receiver implements the roaming/discovery model shown on the Auth-runtime slide — it is the concrete code behind that diagram, not a conceptual simplification.</a:t>
            </a:r>
          </a:p>
        </p:txBody>
      </p:sp>
      <p:sp>
        <p:nvSpPr>
          <p:cNvPr id="5" name="TextBox 4"/>
          <p:cNvSpPr txBox="1"/>
          <p:nvPr/>
        </p:nvSpPr>
        <p:spPr>
          <a:xfrm>
            <a:off x="685800" y="4617720"/>
            <a:ext cx="10789920" cy="1828800"/>
          </a:xfrm>
          <a:prstGeom prst="rect">
            <a:avLst/>
          </a:prstGeom>
          <a:noFill/>
        </p:spPr>
        <p:txBody>
          <a:bodyPr wrap="square">
            <a:spAutoFit/>
          </a:bodyPr>
          <a:lstStyle/>
          <a:p>
            <a:pPr>
              <a:spcAft>
                <a:spcPts val="1100"/>
              </a:spcAft>
            </a:pPr>
            <a:r>
              <a:rPr sz="1350">
                <a:solidFill>
                  <a:srgbClr val="0B0B0B"/>
                </a:solidFill>
                <a:latin typeface="Calibri"/>
              </a:rPr>
              <a:t>●   Message types relevant to Auth interaction: MSG_TYPE_KEY_ID_ONLY (discovery), MSG_TYPE_CHALLENGE / RESPONSE (runtime HMAC), MSG_TYPE_KEY (provisioning push)</a:t>
            </a:r>
          </a:p>
          <a:p>
            <a:pPr>
              <a:spcAft>
                <a:spcPts val="1100"/>
              </a:spcAft>
            </a:pPr>
            <a:r>
              <a:rPr sz="1350">
                <a:solidFill>
                  <a:srgbClr val="0B0B0B"/>
                </a:solidFill>
                <a:latin typeface="Calibri"/>
              </a:rPr>
              <a:t>●   All three variants share the same SST C API calls underneath: init_SST(), get_session_key(), get_session_key_by_ID()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F45329-A1D1-47A0-9C99-700621DC0714}">
  <we:reference id="wa200010001" version="1.0.0.1" store="en-US" storeType="OMEX"/>
  <we:alternateReferences>
    <we:reference id="wa200010001" version="1.0.0.1" store="en-US" storeType="OMEX"/>
  </we:alternateReferences>
  <we:properties>
    <we:property name="claude.fileId" value="&quot;530aedfb-991f-457f-9772-67ffe11d33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7601</TotalTime>
  <Words>7523</Words>
  <Application>Microsoft Office PowerPoint</Application>
  <PresentationFormat>Widescreen</PresentationFormat>
  <Paragraphs>433</Paragraphs>
  <Slides>38</Slides>
  <Notes>37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38</vt:i4>
      </vt:variant>
    </vt:vector>
  </HeadingPairs>
  <TitlesOfParts>
    <vt:vector size="45" baseType="lpstr">
      <vt:lpstr>Aptos</vt:lpstr>
      <vt:lpstr>Aptos Display</vt:lpstr>
      <vt:lpstr>Arial</vt:lpstr>
      <vt:lpstr>Calibri</vt:lpstr>
      <vt:lpstr>Cambria Math</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Felix (Student)</cp:lastModifiedBy>
  <cp:revision>5</cp:revision>
  <dcterms:created xsi:type="dcterms:W3CDTF">2013-01-27T09:14:16Z</dcterms:created>
  <dcterms:modified xsi:type="dcterms:W3CDTF">2026-08-20T18:48:21Z</dcterms:modified>
  <cp:category/>
</cp:coreProperties>
</file>