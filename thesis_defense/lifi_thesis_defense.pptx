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State the title once clearly, introduce yourself, thank the committee for their time, and give a one-sentence roadmap: what the system is, and that you'll cover motivation, architecture, threat model, and then spend the middle of the talk on measured evaluation results before discussing limitations and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RF problem in one sentence: propagation is the enemy of physical-boundary security. Then pivot to LEDs — they're everywhere already, and the communicative potential is untapped. Land on the physics point: light is confined by construction. That's the one sentence you want the committee to remember from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statement slide. Say directly: the literature has information-theoretic secrecy, physical-layer key generation, encrypted VLC pipes, and commercial one-time-auth products — but nothing that continuously binds authorization to ongoing optical presence with automatic revocation. Then introduce G1 through G4 as the four goals the rest of the talk is structured around — you'll come back to this exact list on the security-goals table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rows quickly — the point isn't to teach the literature, it's to show you've placed this work precisely. Each row has one thing it does and one thing it stops short of. Land on the caption: nobody formalizes and evaluates continuous optical-presence authorization with automatic revocation. That's the gap.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system architecture. Three participants: the optical beacon (Sender, RP2040) encrypting every message with AES-128-GCM and driving four LED channels in parallel; the client device (Receiver, RP2350) with a photodiode front-end checking each frame against a 64-entry nonce window before decryption; and the key provisioning service (IoTAuth), which both sides authenticate to independently over TLS with X.509 certs — the IoTAuth host is used only at provisioning time, not in the runtime data path. The orange arrow is the one that matters: the optical channel, one-way, is the whole security argument. Below the divider is the on-device monitoring path — the receiver makes its own revocation decision in firmware and reports it over USB serial — drawn separately and grayed out on purpose, because it is implementation, not part of the security model above it. Flag here that the reported occlusion-test numbers predate this on-device decision logic — you'll return to why on the methodology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Sender hardware. Emphasize the crypto pipeline order — encrypt, construct nonce, frame, modulate — and that the PIO transmitter needs zero CPU cycles once armed, which is what makes the 1 Mbps figure achievable on a microcontroller with no dedicated radio hardware. If asked about nonce reuse: counter exhaustion at 2^32 messages triggers an immediate reboot to regenerate the salt.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Receiver hardware and analog front-end. Walk the signal chain left to right: photodiode current, transimpedance amplification, comparator digitization, then a custom PIO UART receiver on the RP2350. Mention the replay window is checked before decryption is attempted at all — a duplicate nonce never reaches the GCM primitive. The robot header is a real, populated connector, not a conceptual placeholder — flag that this feeds the robotic-platform future-work item later.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head off a specific committee assumption: that the authentication layer is a student-written crypto stack. It isn't. SST/IoTAuth is a published research architecture with almost a decade of venues behind it — IoTDI, FiCloud, an ACM journal on DoS recovery, a SoftwareX paper for the C API this project actually links against. Say plainly that Hokeun Kim, one of your co-authors, leads the project, and that you yourself are a listed contributor to the SST/IoTAuth repository — not just a consumer of the library. That's a credibility point worth stating out loud, not just leaving in a footnote. Land on the last bullet: this thesis's contribution is applying that existing, trusted key-distribution machinery to a domain — continuous optical presence — it wasn't originally built for.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was corrected during defense prep after cross-checking it against pico_provisioner.c and lifi_session_sender.c directly — two claims didn't hold up. First: the host tool is pico_provisioner, not 'keys_receiver' — that name doesn't correspond to any binary in the codebase, only to a stale diagram label. Second, and more substantive: there is no delivery confirmation handshake for the sender at all. The 4-state HMAC handshake is real, implemented code — but it belongs to the retired Pi4-side receiver stack (flash_receiver.c), where the header literally comments it 'Legacy HMAC challenge.' It was never wired to the sender path. The honest story is a best-effort push: pico_provisioner writes over the Pico's USB serial port and considers it done once the write() call returns, with no read-back proving the Pico actually applied the key. If asked how you'd know a push silently failed: you wouldn't, from the host side — you'd have to check the Pico's own console output. The dual-slot/SHA-256 storage claim held up, with one nuance worth having ready: the rollback-safe inactive-slot-first behavior is real, but only for the manual 'CMD: new key' console path, not the automated push this slide's diagram is actually depicting.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happen with Auth in the loop that are easy to miss if you only think of provisioning as a one-time boot-up handshake. Phase one: a device entering a room broadcasts only its non-secret 8-byte key ID over light — never the session key itself. If the receiver doesn't already recognize that ID locally, it performs what the code literally calls a roaming lookup — get_session_key_by_ID over mutual TLS to the Auth server. Auth can return the session key for a valid, registered device, or reject the request outright for an unknown or revoked one. That rejection path is a second, distinct revocation mechanism from G4: G4 revokes because the physical light signal stopped; this revokes because Auth, administratively, said no — identity-layer revocation versus physical-layer revocation, and they're complementary, not redundant. Phase two: at any point after that, the receiver can issue a live HMAC challenge to the sender over the same optical or UART link — a fresh random challenge, HMAC-SHA256 under the session MAC key, AES-GCM-encrypted response, compared locally. That's a stronger, on-demand proof of live key possession, layered on top of the passive 'this frame decrypted successfully' freshness check the whole G1/G4 evaluation is built on. If asked why both mechanisms exist: the passive heartbeat check is what's continuously measured in the evaluation section; the active challenge is available whenever a stronger, interactive proof is warranted, without adding new hardware or a new channel.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capabilities, five sentences. The one to slow down on is relay, since it sets up the G3 discussion later — plant the term delta-relay here so it isn't new vocabulary when it resurfaces. On denial of service, be explicit that this is a conscious design tradeoff: availability is sacrificed for safety, and that's stated as a non-goal in the paper, not discovered as a side effect.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table early and deliberately so the committee has the full scorecard before any evidence. Read the four goals aloud, including the G3 status column exactly as written — do not soften 'not achieved.' Tell them directly: you will spend the evaluation section proving the three green rows with measured data, and you will spend the discussion section explaining precisely why the red row is red, on purpose, as a named limitation rather than a discovered gap.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measurement-provenance caveat proactively and plainly, in the same tone as every other sentence on this slide — don't let your delivery shift when you get to it. The frame-level parsing and crypto were always on-device; only the revocation *decision* (the Δ timer) was external at measurement time, mirroring the same logic that's now been moved on-device. If pressed: this was a deliberate sequencing choice — get clean, directly-instrumented protocol events first, then move the decision itself on-device once the wire-level logic was validated.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manually measured (distance, lateral-offset) pairs bounding the LED emission / photodiode acceptance cone, from 6 to 21 inches. Two fits are shown deliberately: a free-intercept line, which is the honest model, and a forced-through-origin line, which is the naive 'point source' assumption. The origin-forced fit looks fine in isolation (R²=0.986) but its residuals are systematically positive at short range and negative at long range — that's not noise, it's curvature the model can't capture, because the emitter/receiver aperture has real physical size even at zero distance. The free-intercept fit's ~0.55in intercept is that aperture term. Land on the practical point: at the ~15cm (~5.9in) separation used throughout the evaluation testbed, the measured tolerance is about 1 inch of lateral slop — comfortably wide for a fixed benchtop rig, but this is exactly the number that would need to shrink and be re-characterized for the mobile robotic-platform future-work item, where the LED and receiver are no longer rigidly fixtured.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strip plots: time-to-revoke on the left, time-to-reverify on the right, two trial batches each. Blue is the as-deployed condition, 5-second external-monitor polling — 21 trials. Orange is fine-grained 0.2-second polling — 20 trials, run to separate the mechanism's real latency from polling artifacts. The blue row is bimodal, clustering near 15.7 and 18.2 seconds — that's aliasing against the 5-second poll interval, not the protocol misbehaving. The orange row proves it: once polling is fine-grained, time-to-revoke collapses to a tight cluster at 15.11 seconds, standard deviation six hundredths of a second — essentially exactly the 15-second freshness window plus about a tenth of a second of fixed processing overhead. That's the G4 evidence: revocation on interruption, enforced precisely. On the right, re-verification after unblocking is consistently under 1.5 seconds in both batches, bounded above by the 2.5-second heartbeat interval as expected.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experiment asks whether Delta equals 15 seconds is actually justified, or just a number someone picked. 959 gaps between valid frames over a 40-minute benign session, checked against six candidate Delta values from 3 to 30 seconds. The honest result: every gap clustered within about 20 milliseconds of the 2.5-second heartbeat — that spike on the left — so every candidate Delta, including the most aggressive at 3 seconds, comes back at zero percent false-revoke. Say directly why this isn't as strong as it looks: one traffic pattern, a mechanically regular heartbeat, doesn't contain the irregular gaps a real degraded environment would produce, so there's no crossover to find in this data. What it does establish is a floor — Delta=15s costs nothing measured against this traffic. Full parametric justification under degraded conditions is future work, stated as such in the paper rather than let the clean number imply more than it shows.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results in one timeline. At t plus zero, a legitimate heartbeat frame arrives and gets captured and pinned. At t plus 0.21 seconds, replaying that exact frame is rejected — the green marker — because its nonce is already in the replay window. That's G2 working as designed. Then the nonce window is deliberately shrunk from its production size of 64 down to 2 slots, to make a boundary condition observable in a short test instead of needing thousands of frames. Two more legitimate frames cycle through, evicting the original nonce, and at t plus 5 seconds the same frame is replayed a third time — the amber X — and this time it's accepted and decrypted. That's not a bug found by accident, it's a documented, real boundary: replay protection is bounded by window capacity, not permanent. In production at 64 slots, an attacker needs 64 fresh legitimate frames to cycle through before a captured frame becomes replayable again, which bounds how long it stays a live threat — but the limitation is real, and it's on the same slide as the positive result, not buried in a footnote. If asked why a 2-slot window: say plainly it's artificially small only to make the boundary observable quickly — the mechanism and the limitation are identical at any window size, just slower to trigger at 64.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baud-rate sweep behind the bandwidth-range tradeoff in the paper. Blue is 470 kilohms — higher gain, lower bandwidth, 2-volt output swing. Orange is 100 kilohms — lower gain, higher bandwidth, 400-millivolt swing. Both hold 100% frame success up to their ceiling — 300 kilobaud for 470k, 250 kilobaud for 100k — then the orange line shows measurable degradation, 96% and 86%, before both configurations hit a hard collapse where control messages themselves get corrupted. The counterintuitive result: at this close range, the higher-gain 470k configuration outperforms the higher-bandwidth 100k configuration. SNR margin from the larger voltage swing is the limiting factor at short range, not the TIA's raw bandwidth. The classic bandwidth-range tradeoff should favor the higher-bandwidth config once you're far enough that photocurrent drops and the 400-millivolt swing stops clearing the comparator's noise floor — that crossover distance hasn't been measured yet, which is why it's future work rather than a claim in this thesis.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loop back to slide 10's scorecard, now with evidence in the last column instead of just mechanism. Read it goal by goal, evidence-first: this is the moment to sound confident, because everything in the 'evidence' column is a number you already showed them on the previous four slides — you're not introducing anything new here, just tying it together.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deliver in exactly the same tone as every positive result before it — that consistency is what reads as rigor instead of a hedge. The core distinction, if asked to restate it: G1's window bounds a captured, no-longer-live frame; it does not bound relay latency, because a continuously operating relay keeps t_last refreshed indefinitely with genuinely fresh, just-late frames. That confusion — mistaking G1's expiration window for a relay bound — is the single most likely follow-up question; have this paragraph ready verbatim.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limitations, read at the same pace and volume as everything else in the talk — don't rush through this slide to get past it. The last bullet is the one to make sure lands clearly: it's not a generic hedge, it's a specific, checkable pending item with a known reason to be cautious. During eval prep, debugging surfaced two real, previously-invisible protocol bugs on the receiver — a framing bug that broke on binary ciphertext containing 0x0A/0x0D bytes, and a key-push tool silently writing to the wrong UART, so key rotation no-op'd for an unknown stretch of time despite reporting success. Both are fixed. The reported occlusion-test numbers were collected before the revocation decision itself was moved on-device (presence_check_decay()) — the frame-level logic was already on-device throughout, so this is a precision re-check, not a rebuild. See the backup slide on the two bugs found during eval prep if asked how you know your measurements are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and the grouping itself is the point: the left column closes gaps you already admitted to earlier in the talk — G3's distance-bounding, the on-device confirmation, formal verification — while the right column extends capability the system already has. Say the grouping out loud rather than just reading bullets: it signals you know what matters most next, rather than reciting a flat wish list.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content slide before thank-you. Keep this tight and confident — every bullet here is something you already showed evidence for earlier in the talk, so this should feel like a summary, not a new argument. The last two bullets are there on purpose: naming exactly what wasn't done, right next to what was, is itself part of the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committee again. Before opening the floor, briefly restate the scorecard from memory in one breath: freshness, replay resistance, and revocation on interruption were measured and hold; relay-bounding does not, and that's named on purpose. Then stop talking and take questions — the backup slides after this cover BOM/cost, the frame format, the TIA tuning table, and a one-slide answer to the G1-vs-G3 question specifically, pull them up if asked.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up only if asked about cost or component selection. The single largest line item is the PTN78000WAH DC-DC module at $24.58, chosen for research-prototype convenience — a production design substituting a discrete buck regulator would bring total cost under $60.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for the wire format question. The key point if asked: replay checking happens before the GCM primitive is ever invoked — a duplicate nonce is rejected without spending the decryption cost, let alone releasing plaintext.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pull this up if asked directly why there's no Tamarin/ProVerif model. The core answer: this was a deliberate scoping decision, not an oversight — a rushed or incomplete formal model would be worse evidence than an honest 'empirically demonstrated, not formally proven' claim, which is exactly the language used throughout the paper.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table if pressed on the bandwidth-range tradeoff numbers or asked what's next for higher data rates. Be clear that only the first two rows have measured data — the 100k/1pF and 47k/1pF rows are calculated bandwidths, not measured baud ceilings.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Memorize this slide's content, don't read it verbatim in the room — but have it exact in your head. The tightest one-sentence version if you need to compress under time pressure: freshness answers 'is this new,' relay-bounding answers 'how long did this take to get here,' and this system only answers the first question.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needed if asked to justify why three separate receiver binaries exist rather than one. The honest answer: they correspond to three different Auth interaction models that were useful to isolate during development and evaluation — a proactive key-manager, a full combined session app, and a pure discovery/roaming client — not three independent implementations of the security logic, which is shared underneath via the same SST C API and the same replay/freshness code paths.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this up only if a committee member asks 'what is SST, really' in more depth than the main slide covers. The point of reading a few venue names aloud is not to name-drop — it's to establish that this is externally reviewed, multi-year infrastructure, not something assembled for this thesis. The last bullet is worth reading slowly: you are named, by GitHub handle, as an active contributor to the repository this project depends 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this up if asked how you know the eval numbers are trustworthy, or why the on-device confirmation gap in Limitations is called out so specifically rather than as generic future work. The honest framing: these bugs are evidence the instrumentation was rigorous enough to catch real, previously-invisible problems — including one, the silent key-rotation no-op, that had been reporting false success for an unknown stretch of time before anyone noticed. The revocation-latency numbers were collected while that same decision logic lived in an external monitoring script; it's since been ported onto the receiver itself, and re-measuring against it is flagged by name rather than left as a vague 'pending' bullet.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2103120"/>
          </a:xfrm>
          <a:prstGeom prst="rect">
            <a:avLst/>
          </a:prstGeom>
          <a:noFill/>
        </p:spPr>
        <p:txBody>
          <a:bodyPr wrap="square">
            <a:spAutoFit/>
          </a:bodyPr>
          <a:lstStyle/>
          <a:p>
            <a:r>
              <a:rPr sz="3000" b="1">
                <a:solidFill>
                  <a:srgbClr val="0B0B0B"/>
                </a:solidFill>
                <a:latin typeface="Calibri"/>
              </a:rPr>
              <a:t>Physical Presence-Based Authentication and
Authorization for Cyber-Physical Systems and
IoT using LiFi</a:t>
            </a:r>
          </a:p>
        </p:txBody>
      </p:sp>
      <p:sp>
        <p:nvSpPr>
          <p:cNvPr id="4" name="TextBox 3"/>
          <p:cNvSpPr txBox="1"/>
          <p:nvPr/>
        </p:nvSpPr>
        <p:spPr>
          <a:xfrm>
            <a:off x="822960" y="4160520"/>
            <a:ext cx="10515600" cy="457200"/>
          </a:xfrm>
          <a:prstGeom prst="rect">
            <a:avLst/>
          </a:prstGeom>
          <a:noFill/>
        </p:spPr>
        <p:txBody>
          <a:bodyPr wrap="none">
            <a:spAutoFit/>
          </a:bodyPr>
          <a:lstStyle/>
          <a:p>
            <a:r>
              <a:rPr sz="1700" i="1">
                <a:solidFill>
                  <a:srgbClr val="EB6834"/>
                </a:solidFill>
                <a:latin typeface="Calibri"/>
              </a:rPr>
              <a:t>M.S. Thesis Defense</a:t>
            </a:r>
          </a:p>
        </p:txBody>
      </p:sp>
      <p:sp>
        <p:nvSpPr>
          <p:cNvPr id="5" name="TextBox 4"/>
          <p:cNvSpPr txBox="1"/>
          <p:nvPr/>
        </p:nvSpPr>
        <p:spPr>
          <a:xfrm>
            <a:off x="822960" y="4892040"/>
            <a:ext cx="10515600" cy="1280160"/>
          </a:xfrm>
          <a:prstGeom prst="rect">
            <a:avLst/>
          </a:prstGeom>
          <a:noFill/>
        </p:spPr>
        <p:txBody>
          <a:bodyPr wrap="square">
            <a:spAutoFit/>
          </a:bodyPr>
          <a:lstStyle/>
          <a:p>
            <a:r>
              <a:rPr sz="1500" b="1">
                <a:solidFill>
                  <a:srgbClr val="0B0B0B"/>
                </a:solidFill>
                <a:latin typeface="Calibri"/>
              </a:rPr>
              <a:t>Jose Felix</a:t>
            </a:r>
          </a:p>
          <a:p>
            <a:r>
              <a:rPr sz="1250">
                <a:solidFill>
                  <a:srgbClr val="52514E"/>
                </a:solidFill>
                <a:latin typeface="Calibri"/>
              </a:rPr>
              <a:t>with Dongha Kim, Hokeun Kim, Michel Kinsy, Gail-Joon Ahn — KIM Labs, Arizona State University</a:t>
            </a:r>
          </a:p>
          <a:p>
            <a:pPr>
              <a:spcBef>
                <a:spcPts val="1000"/>
              </a:spcBef>
            </a:pPr>
            <a:r>
              <a:rPr sz="1150">
                <a:solidFill>
                  <a:srgbClr val="898781"/>
                </a:solidFill>
                <a:latin typeface="Calibri"/>
              </a:rPr>
              <a:t>github.com/asu-kim/lifi-auth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Motivation</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RF security is an architecture problem. Optical confinement is a physics problem.</a:t>
            </a:r>
          </a:p>
        </p:txBody>
      </p:sp>
      <p:sp>
        <p:nvSpPr>
          <p:cNvPr id="4" name="TextBox 3"/>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RF wireless (WiFi, Bluetooth, Zigbee) propagates through walls, floors, and physical barriers by design</a:t>
            </a:r>
          </a:p>
          <a:p>
            <a:pPr>
              <a:spcAft>
                <a:spcPts val="1100"/>
              </a:spcAft>
            </a:pPr>
            <a:r>
              <a:rPr sz="1700">
                <a:solidFill>
                  <a:srgbClr val="0B0B0B"/>
                </a:solidFill>
                <a:latin typeface="Calibri"/>
              </a:rPr>
              <a:t>●   An attacker need not be physically present to intercept, relay, or replay an RF authorization credential</a:t>
            </a:r>
          </a:p>
          <a:p>
            <a:pPr>
              <a:spcAft>
                <a:spcPts val="1100"/>
              </a:spcAft>
            </a:pPr>
            <a:r>
              <a:rPr sz="1700">
                <a:solidFill>
                  <a:srgbClr val="0B0B0B"/>
                </a:solidFill>
                <a:latin typeface="Calibri"/>
              </a:rPr>
              <a:t>●   Enforcing a physical boundary on RF requires costly countermeasures — shielding, Faraday enclosures, attenuation infrastructure</a:t>
            </a:r>
          </a:p>
          <a:p>
            <a:pPr>
              <a:spcAft>
                <a:spcPts val="1100"/>
              </a:spcAft>
            </a:pPr>
            <a:r>
              <a:rPr sz="1700">
                <a:solidFill>
                  <a:srgbClr val="0B0B0B"/>
                </a:solidFill>
                <a:latin typeface="Calibri"/>
              </a:rPr>
              <a:t>●   LEDs have quietly become the dominant lighting technology in nearly every indoor environment — hospitals, schools, warehouses, offices</a:t>
            </a:r>
          </a:p>
          <a:p>
            <a:pPr>
              <a:spcAft>
                <a:spcPts val="1100"/>
              </a:spcAft>
            </a:pPr>
            <a:r>
              <a:rPr sz="1700">
                <a:solidFill>
                  <a:srgbClr val="0B0B0B"/>
                </a:solidFill>
                <a:latin typeface="Calibri"/>
              </a:rPr>
              <a:t>●   That installed, already-powered, already-trusted infrastructure can modulate data imperceptibly to the human eye</a:t>
            </a:r>
          </a:p>
          <a:p>
            <a:pPr>
              <a:spcAft>
                <a:spcPts val="1100"/>
              </a:spcAft>
            </a:pPr>
            <a:r>
              <a:rPr sz="1700">
                <a:solidFill>
                  <a:srgbClr val="0B0B0B"/>
                </a:solidFill>
                <a:latin typeface="Calibri"/>
              </a:rPr>
              <a:t>●   Light does not pass through opaque walls or travel around corners without deliberate redirection — confinement by construction, not by policy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The Gap This Thesis Addresses</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“Authorized because you are here, now, in the light.”</a:t>
            </a:r>
          </a:p>
        </p:txBody>
      </p:sp>
      <p:sp>
        <p:nvSpPr>
          <p:cNvPr id="4" name="TextBox 3"/>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No existing work binds authorization to continuous, time-bounded optical reception with automatic revocation</a:t>
            </a:r>
          </a:p>
          <a:p>
            <a:pPr>
              <a:spcAft>
                <a:spcPts val="1100"/>
              </a:spcAft>
            </a:pPr>
            <a:r>
              <a:rPr sz="1700">
                <a:solidFill>
                  <a:srgbClr val="0B0B0B"/>
                </a:solidFill>
                <a:latin typeface="Calibri"/>
              </a:rPr>
              <a:t>●   This thesis reframes the optical signal as an active security primitive — not just a higher-bandwidth data channel</a:t>
            </a:r>
          </a:p>
          <a:p>
            <a:pPr>
              <a:spcAft>
                <a:spcPts val="1100"/>
              </a:spcAft>
            </a:pPr>
            <a:r>
              <a:rPr sz="1700">
                <a:solidFill>
                  <a:srgbClr val="0B0B0B"/>
                </a:solidFill>
                <a:latin typeface="Calibri"/>
              </a:rPr>
              <a:t>●   The optical signal is continuously asserted, continuously verified, and automatically revoked the instant the optical path breaks</a:t>
            </a:r>
          </a:p>
          <a:p>
            <a:pPr>
              <a:spcAft>
                <a:spcPts val="1100"/>
              </a:spcAft>
            </a:pPr>
            <a:r>
              <a:rPr sz="1700">
                <a:solidFill>
                  <a:srgbClr val="0B0B0B"/>
                </a:solidFill>
                <a:latin typeface="Calibri"/>
              </a:rPr>
              <a:t>●   Formalized as four concrete security goals:</a:t>
            </a:r>
          </a:p>
          <a:p>
            <a:pPr lvl="1">
              <a:spcAft>
                <a:spcPts val="700"/>
              </a:spcAft>
            </a:pPr>
            <a:r>
              <a:rPr sz="1450">
                <a:solidFill>
                  <a:srgbClr val="52514E"/>
                </a:solidFill>
                <a:latin typeface="Calibri"/>
              </a:rPr>
              <a:t>‒   G1 — Freshness &amp; Expiration</a:t>
            </a:r>
          </a:p>
          <a:p>
            <a:pPr lvl="1">
              <a:spcAft>
                <a:spcPts val="700"/>
              </a:spcAft>
            </a:pPr>
            <a:r>
              <a:rPr sz="1450">
                <a:solidFill>
                  <a:srgbClr val="52514E"/>
                </a:solidFill>
                <a:latin typeface="Calibri"/>
              </a:rPr>
              <a:t>‒   G2 — Replay Resistance</a:t>
            </a:r>
          </a:p>
          <a:p>
            <a:pPr lvl="1">
              <a:spcAft>
                <a:spcPts val="700"/>
              </a:spcAft>
            </a:pPr>
            <a:r>
              <a:rPr sz="1450">
                <a:solidFill>
                  <a:srgbClr val="52514E"/>
                </a:solidFill>
                <a:latin typeface="Calibri"/>
              </a:rPr>
              <a:t>‒   G3 — Relay-Bounded Authorization</a:t>
            </a:r>
          </a:p>
          <a:p>
            <a:pPr lvl="1">
              <a:spcAft>
                <a:spcPts val="700"/>
              </a:spcAft>
            </a:pPr>
            <a:r>
              <a:rPr sz="1450">
                <a:solidFill>
                  <a:srgbClr val="52514E"/>
                </a:solidFill>
                <a:latin typeface="Calibri"/>
              </a:rPr>
              <a:t>‒   G4 — Revocation on Interruption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Related Work — Where the Literature Stops Short</a:t>
            </a:r>
          </a:p>
        </p:txBody>
      </p:sp>
      <p:graphicFrame>
        <p:nvGraphicFramePr>
          <p:cNvPr id="3" name="Table 2"/>
          <p:cNvGraphicFramePr>
            <a:graphicFrameLocks noGrp="1"/>
          </p:cNvGraphicFramePr>
          <p:nvPr/>
        </p:nvGraphicFramePr>
        <p:xfrm>
          <a:off x="685800" y="1691640"/>
          <a:ext cx="10881359" cy="3291840"/>
        </p:xfrm>
        <a:graphic>
          <a:graphicData uri="http://schemas.openxmlformats.org/drawingml/2006/table">
            <a:tbl>
              <a:tblPr firstRow="1" bandRow="1">
                <a:tableStyleId>{5C22544A-7EE6-4342-B048-85BDC9FD1C3A}</a:tableStyleId>
              </a:tblPr>
              <a:tblGrid>
                <a:gridCol w="2651760"/>
                <a:gridCol w="4480560"/>
                <a:gridCol w="3749039"/>
              </a:tblGrid>
              <a:tr h="658368">
                <a:tc>
                  <a:txBody>
                    <a:bodyPr wrap="square"/>
                    <a:lstStyle/>
                    <a:p>
                      <a:pPr algn="l"/>
                      <a:r>
                        <a:rPr sz="1350" b="1">
                          <a:solidFill>
                            <a:srgbClr val="FFFFFF"/>
                          </a:solidFill>
                          <a:latin typeface="Calibri"/>
                        </a:rPr>
                        <a:t>Category</a:t>
                      </a:r>
                    </a:p>
                  </a:txBody>
                  <a:tcPr anchor="ctr" marL="91440" marR="91440" marT="45720" marB="45720">
                    <a:solidFill>
                      <a:srgbClr val="0B0B0B"/>
                    </a:solidFill>
                  </a:tcPr>
                </a:tc>
                <a:tc>
                  <a:txBody>
                    <a:bodyPr wrap="square"/>
                    <a:lstStyle/>
                    <a:p>
                      <a:pPr algn="ctr"/>
                      <a:r>
                        <a:rPr sz="1350" b="1">
                          <a:solidFill>
                            <a:srgbClr val="FFFFFF"/>
                          </a:solidFill>
                          <a:latin typeface="Calibri"/>
                        </a:rPr>
                        <a:t>What it does</a:t>
                      </a:r>
                    </a:p>
                  </a:txBody>
                  <a:tcPr anchor="ctr" marL="91440" marR="91440" marT="45720" marB="45720">
                    <a:solidFill>
                      <a:srgbClr val="0B0B0B"/>
                    </a:solidFill>
                  </a:tcPr>
                </a:tc>
                <a:tc>
                  <a:txBody>
                    <a:bodyPr wrap="square"/>
                    <a:lstStyle/>
                    <a:p>
                      <a:pPr algn="ctr"/>
                      <a:r>
                        <a:rPr sz="1350" b="1">
                          <a:solidFill>
                            <a:srgbClr val="FFFFFF"/>
                          </a:solidFill>
                          <a:latin typeface="Calibri"/>
                        </a:rPr>
                        <a:t>What it doesn't do</a:t>
                      </a:r>
                    </a:p>
                  </a:txBody>
                  <a:tcPr anchor="ctr" marL="91440" marR="91440" marT="45720" marB="45720">
                    <a:solidFill>
                      <a:srgbClr val="0B0B0B"/>
                    </a:solidFill>
                  </a:tcPr>
                </a:tc>
              </a:tr>
              <a:tr h="658368">
                <a:tc>
                  <a:txBody>
                    <a:bodyPr wrap="square"/>
                    <a:lstStyle/>
                    <a:p>
                      <a:pPr algn="l"/>
                      <a:r>
                        <a:rPr sz="1250" b="0">
                          <a:solidFill>
                            <a:srgbClr val="0B0B0B"/>
                          </a:solidFill>
                          <a:latin typeface="Calibri"/>
                        </a:rPr>
                        <a:t>Info-theoretic PLS</a:t>
                      </a:r>
                    </a:p>
                  </a:txBody>
                  <a:tcPr anchor="ctr" marL="91440" marR="91440" marT="45720" marB="45720">
                    <a:solidFill>
                      <a:srgbClr val="FFFFFF"/>
                    </a:solidFill>
                  </a:tcPr>
                </a:tc>
                <a:tc>
                  <a:txBody>
                    <a:bodyPr wrap="square"/>
                    <a:lstStyle/>
                    <a:p>
                      <a:pPr algn="ctr"/>
                      <a:r>
                        <a:rPr sz="1250" b="0">
                          <a:solidFill>
                            <a:srgbClr val="0B0B0B"/>
                          </a:solidFill>
                          <a:latin typeface="Calibri"/>
                        </a:rPr>
                        <a:t>Statistical eavesdropper disadvantage (Wyner wiretap model)</a:t>
                      </a:r>
                    </a:p>
                  </a:txBody>
                  <a:tcPr anchor="ctr" marL="91440" marR="91440" marT="45720" marB="45720">
                    <a:solidFill>
                      <a:srgbClr val="FFFFFF"/>
                    </a:solidFill>
                  </a:tcPr>
                </a:tc>
                <a:tc>
                  <a:txBody>
                    <a:bodyPr wrap="square"/>
                    <a:lstStyle/>
                    <a:p>
                      <a:pPr algn="ctr"/>
                      <a:r>
                        <a:rPr sz="1250" b="0">
                          <a:solidFill>
                            <a:srgbClr val="0B0B0B"/>
                          </a:solidFill>
                          <a:latin typeface="Calibri"/>
                        </a:rPr>
                        <a:t>No real-time authorization decision</a:t>
                      </a:r>
                    </a:p>
                  </a:txBody>
                  <a:tcPr anchor="ctr" marL="91440" marR="91440" marT="45720" marB="45720">
                    <a:solidFill>
                      <a:srgbClr val="FFFFFF"/>
                    </a:solidFill>
                  </a:tcPr>
                </a:tc>
              </a:tr>
              <a:tr h="658368">
                <a:tc>
                  <a:txBody>
                    <a:bodyPr wrap="square"/>
                    <a:lstStyle/>
                    <a:p>
                      <a:pPr algn="l"/>
                      <a:r>
                        <a:rPr sz="1250" b="0">
                          <a:solidFill>
                            <a:srgbClr val="0B0B0B"/>
                          </a:solidFill>
                          <a:latin typeface="Calibri"/>
                        </a:rPr>
                        <a:t>Physical-layer key generation</a:t>
                      </a:r>
                    </a:p>
                  </a:txBody>
                  <a:tcPr anchor="ctr" marL="91440" marR="91440" marT="45720" marB="45720">
                    <a:solidFill>
                      <a:srgbClr val="F0EFEC"/>
                    </a:solidFill>
                  </a:tcPr>
                </a:tc>
                <a:tc>
                  <a:txBody>
                    <a:bodyPr wrap="square"/>
                    <a:lstStyle/>
                    <a:p>
                      <a:pPr algn="ctr"/>
                      <a:r>
                        <a:rPr sz="1250" b="0">
                          <a:solidFill>
                            <a:srgbClr val="0B0B0B"/>
                          </a:solidFill>
                          <a:latin typeface="Calibri"/>
                        </a:rPr>
                        <a:t>Bootstraps a shared secret from channel measurements</a:t>
                      </a:r>
                    </a:p>
                  </a:txBody>
                  <a:tcPr anchor="ctr" marL="91440" marR="91440" marT="45720" marB="45720">
                    <a:solidFill>
                      <a:srgbClr val="F0EFEC"/>
                    </a:solidFill>
                  </a:tcPr>
                </a:tc>
                <a:tc>
                  <a:txBody>
                    <a:bodyPr wrap="square"/>
                    <a:lstStyle/>
                    <a:p>
                      <a:pPr algn="ctr"/>
                      <a:r>
                        <a:rPr sz="1250" b="0">
                          <a:solidFill>
                            <a:srgbClr val="0B0B0B"/>
                          </a:solidFill>
                          <a:latin typeface="Calibri"/>
                        </a:rPr>
                        <a:t>Key persists after the optical link ends</a:t>
                      </a:r>
                    </a:p>
                  </a:txBody>
                  <a:tcPr anchor="ctr" marL="91440" marR="91440" marT="45720" marB="45720">
                    <a:solidFill>
                      <a:srgbClr val="F0EFEC"/>
                    </a:solidFill>
                  </a:tcPr>
                </a:tc>
              </a:tr>
              <a:tr h="658368">
                <a:tc>
                  <a:txBody>
                    <a:bodyPr wrap="square"/>
                    <a:lstStyle/>
                    <a:p>
                      <a:pPr algn="l"/>
                      <a:r>
                        <a:rPr sz="1250" b="0">
                          <a:solidFill>
                            <a:srgbClr val="0B0B0B"/>
                          </a:solidFill>
                          <a:latin typeface="Calibri"/>
                        </a:rPr>
                        <a:t>Encrypted VLC implementations</a:t>
                      </a:r>
                    </a:p>
                  </a:txBody>
                  <a:tcPr anchor="ctr" marL="91440" marR="91440" marT="45720" marB="45720">
                    <a:solidFill>
                      <a:srgbClr val="FFFFFF"/>
                    </a:solidFill>
                  </a:tcPr>
                </a:tc>
                <a:tc>
                  <a:txBody>
                    <a:bodyPr wrap="square"/>
                    <a:lstStyle/>
                    <a:p>
                      <a:pPr algn="ctr"/>
                      <a:r>
                        <a:rPr sz="1250" b="0">
                          <a:solidFill>
                            <a:srgbClr val="0B0B0B"/>
                          </a:solidFill>
                          <a:latin typeface="Calibri"/>
                        </a:rPr>
                        <a:t>Protects data in transit (RSA/chaos-synchronized links)</a:t>
                      </a:r>
                    </a:p>
                  </a:txBody>
                  <a:tcPr anchor="ctr" marL="91440" marR="91440" marT="45720" marB="45720">
                    <a:solidFill>
                      <a:srgbClr val="FFFFFF"/>
                    </a:solidFill>
                  </a:tcPr>
                </a:tc>
                <a:tc>
                  <a:txBody>
                    <a:bodyPr wrap="square"/>
                    <a:lstStyle/>
                    <a:p>
                      <a:pPr algn="ctr"/>
                      <a:r>
                        <a:rPr sz="1250" b="0">
                          <a:solidFill>
                            <a:srgbClr val="0B0B0B"/>
                          </a:solidFill>
                          <a:latin typeface="Calibri"/>
                        </a:rPr>
                        <a:t>Optical channel not used for access control</a:t>
                      </a:r>
                    </a:p>
                  </a:txBody>
                  <a:tcPr anchor="ctr" marL="91440" marR="91440" marT="45720" marB="45720">
                    <a:solidFill>
                      <a:srgbClr val="FFFFFF"/>
                    </a:solidFill>
                  </a:tcPr>
                </a:tc>
              </a:tr>
              <a:tr h="658368">
                <a:tc>
                  <a:txBody>
                    <a:bodyPr wrap="square"/>
                    <a:lstStyle/>
                    <a:p>
                      <a:pPr algn="l"/>
                      <a:r>
                        <a:rPr sz="1250" b="0">
                          <a:solidFill>
                            <a:srgbClr val="0B0B0B"/>
                          </a:solidFill>
                          <a:latin typeface="Calibri"/>
                        </a:rPr>
                        <a:t>Commercial LiFi (Signify, Oledcomm)</a:t>
                      </a:r>
                    </a:p>
                  </a:txBody>
                  <a:tcPr anchor="ctr" marL="91440" marR="91440" marT="45720" marB="45720">
                    <a:solidFill>
                      <a:srgbClr val="F0EFEC"/>
                    </a:solidFill>
                  </a:tcPr>
                </a:tc>
                <a:tc>
                  <a:txBody>
                    <a:bodyPr wrap="square"/>
                    <a:lstStyle/>
                    <a:p>
                      <a:pPr algn="ctr"/>
                      <a:r>
                        <a:rPr sz="1250" b="0">
                          <a:solidFill>
                            <a:srgbClr val="0B0B0B"/>
                          </a:solidFill>
                          <a:latin typeface="Calibri"/>
                        </a:rPr>
                        <a:t>Markets spatial confinement as a security feature</a:t>
                      </a:r>
                    </a:p>
                  </a:txBody>
                  <a:tcPr anchor="ctr" marL="91440" marR="91440" marT="45720" marB="45720">
                    <a:solidFill>
                      <a:srgbClr val="F0EFEC"/>
                    </a:solidFill>
                  </a:tcPr>
                </a:tc>
                <a:tc>
                  <a:txBody>
                    <a:bodyPr wrap="square"/>
                    <a:lstStyle/>
                    <a:p>
                      <a:pPr algn="ctr"/>
                      <a:r>
                        <a:rPr sz="1250" b="0">
                          <a:solidFill>
                            <a:srgbClr val="0B0B0B"/>
                          </a:solidFill>
                          <a:latin typeface="Calibri"/>
                        </a:rPr>
                        <a:t>One-time authentication, not continuous</a:t>
                      </a:r>
                    </a:p>
                  </a:txBody>
                  <a:tcPr anchor="ctr" marL="91440" marR="91440" marT="45720" marB="45720">
                    <a:solidFill>
                      <a:srgbClr val="F0EFEC"/>
                    </a:solidFill>
                  </a:tcPr>
                </a:tc>
              </a:tr>
            </a:tbl>
          </a:graphicData>
        </a:graphic>
      </p:graphicFrame>
      <p:sp>
        <p:nvSpPr>
          <p:cNvPr id="4" name="TextBox 3"/>
          <p:cNvSpPr txBox="1"/>
          <p:nvPr/>
        </p:nvSpPr>
        <p:spPr>
          <a:xfrm>
            <a:off x="502920" y="5257800"/>
            <a:ext cx="11155680" cy="548640"/>
          </a:xfrm>
          <a:prstGeom prst="rect">
            <a:avLst/>
          </a:prstGeom>
          <a:noFill/>
        </p:spPr>
        <p:txBody>
          <a:bodyPr wrap="square">
            <a:spAutoFit/>
          </a:bodyPr>
          <a:lstStyle/>
          <a:p>
            <a:pPr algn="ctr"/>
            <a:r>
              <a:rPr sz="1250" i="0" b="1">
                <a:solidFill>
                  <a:srgbClr val="0B0B0B"/>
                </a:solidFill>
                <a:latin typeface="Calibri"/>
              </a:rPr>
              <a:t>Gap: no work formalizes, implements, and evaluates continuous optical-presence authorization with automatic revocation on signal loss.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System Architecture</a:t>
            </a:r>
          </a:p>
        </p:txBody>
      </p:sp>
      <p:pic>
        <p:nvPicPr>
          <p:cNvPr id="3" name="Picture 2" descr="system_block_diagram.png"/>
          <p:cNvPicPr>
            <a:picLocks noChangeAspect="1"/>
          </p:cNvPicPr>
          <p:nvPr/>
        </p:nvPicPr>
        <p:blipFill>
          <a:blip r:embed="rId2"/>
          <a:stretch>
            <a:fillRect/>
          </a:stretch>
        </p:blipFill>
        <p:spPr>
          <a:xfrm>
            <a:off x="1755455" y="1417320"/>
            <a:ext cx="8680784" cy="5074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Optical Beacon (Sender)</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Pico H · RP2040</a:t>
            </a:r>
          </a:p>
        </p:txBody>
      </p:sp>
      <p:pic>
        <p:nvPicPr>
          <p:cNvPr id="4" name="Picture 3" descr="lifi_sender_pcb.png"/>
          <p:cNvPicPr>
            <a:picLocks noChangeAspect="1"/>
          </p:cNvPicPr>
          <p:nvPr/>
        </p:nvPicPr>
        <p:blipFill>
          <a:blip r:embed="rId2"/>
          <a:stretch>
            <a:fillRect/>
          </a:stretch>
        </p:blipFill>
        <p:spPr>
          <a:xfrm>
            <a:off x="4290222" y="1417320"/>
            <a:ext cx="3611251" cy="3063240"/>
          </a:xfrm>
          <a:prstGeom prst="rect">
            <a:avLst/>
          </a:prstGeom>
        </p:spPr>
      </p:pic>
      <p:sp>
        <p:nvSpPr>
          <p:cNvPr id="5" name="TextBox 4"/>
          <p:cNvSpPr txBox="1"/>
          <p:nvPr/>
        </p:nvSpPr>
        <p:spPr>
          <a:xfrm>
            <a:off x="6309360" y="1554480"/>
            <a:ext cx="5486400" cy="4937760"/>
          </a:xfrm>
          <a:prstGeom prst="rect">
            <a:avLst/>
          </a:prstGeom>
          <a:noFill/>
        </p:spPr>
        <p:txBody>
          <a:bodyPr wrap="square">
            <a:spAutoFit/>
          </a:bodyPr>
          <a:lstStyle/>
          <a:p>
            <a:pPr>
              <a:spcAft>
                <a:spcPts val="1100"/>
              </a:spcAft>
            </a:pPr>
            <a:r>
              <a:rPr sz="1450">
                <a:solidFill>
                  <a:srgbClr val="0B0B0B"/>
                </a:solidFill>
                <a:latin typeface="Calibri"/>
              </a:rPr>
              <a:t>●   AES-128-GCM encrypt → nonce construction → frame → modulate</a:t>
            </a:r>
          </a:p>
          <a:p>
            <a:pPr>
              <a:spcAft>
                <a:spcPts val="1100"/>
              </a:spcAft>
            </a:pPr>
            <a:r>
              <a:rPr sz="1450">
                <a:solidFill>
                  <a:srgbClr val="0B0B0B"/>
                </a:solidFill>
                <a:latin typeface="Calibri"/>
              </a:rPr>
              <a:t>●   Nonce = 8-byte random boot salt (CTR_DRBG) + 4-byte monotonic counter</a:t>
            </a:r>
          </a:p>
          <a:p>
            <a:pPr>
              <a:spcAft>
                <a:spcPts val="1100"/>
              </a:spcAft>
            </a:pPr>
            <a:r>
              <a:rPr sz="1450">
                <a:solidFill>
                  <a:srgbClr val="0B0B0B"/>
                </a:solidFill>
                <a:latin typeface="Calibri"/>
              </a:rPr>
              <a:t>●   PIO state machine drives 4 LED channels in lockstep, 1 Mbps, zero CPU overhead during TX</a:t>
            </a:r>
          </a:p>
          <a:p>
            <a:pPr>
              <a:spcAft>
                <a:spcPts val="1100"/>
              </a:spcAft>
            </a:pPr>
            <a:r>
              <a:rPr sz="1450">
                <a:solidFill>
                  <a:srgbClr val="0B0B0B"/>
                </a:solidFill>
                <a:latin typeface="Calibri"/>
              </a:rPr>
              <a:t>●   Frame: preamble · type · length · nonce · ciphertext · 16B GCM tag · CRC16</a:t>
            </a:r>
          </a:p>
          <a:p>
            <a:pPr>
              <a:spcAft>
                <a:spcPts val="1100"/>
              </a:spcAft>
            </a:pPr>
            <a:r>
              <a:rPr sz="1450">
                <a:solidFill>
                  <a:srgbClr val="0B0B0B"/>
                </a:solidFill>
                <a:latin typeface="Calibri"/>
              </a:rPr>
              <a:t>●   Dual-slot A/B flash key storage, SHA-256 integrity hash, secure_zero() RAM clearing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Client Device (Receiver)</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Pico 2 H · RP2350</a:t>
            </a:r>
          </a:p>
        </p:txBody>
      </p:sp>
      <p:pic>
        <p:nvPicPr>
          <p:cNvPr id="4" name="Picture 3" descr="lifi_receiver_pcb.png"/>
          <p:cNvPicPr>
            <a:picLocks noChangeAspect="1"/>
          </p:cNvPicPr>
          <p:nvPr/>
        </p:nvPicPr>
        <p:blipFill>
          <a:blip r:embed="rId2"/>
          <a:stretch>
            <a:fillRect/>
          </a:stretch>
        </p:blipFill>
        <p:spPr>
          <a:xfrm>
            <a:off x="3329787" y="1417320"/>
            <a:ext cx="5532120" cy="3020151"/>
          </a:xfrm>
          <a:prstGeom prst="rect">
            <a:avLst/>
          </a:prstGeom>
        </p:spPr>
      </p:pic>
      <p:sp>
        <p:nvSpPr>
          <p:cNvPr id="5" name="TextBox 4"/>
          <p:cNvSpPr txBox="1"/>
          <p:nvPr/>
        </p:nvSpPr>
        <p:spPr>
          <a:xfrm>
            <a:off x="6309360" y="1554480"/>
            <a:ext cx="5486400" cy="4937760"/>
          </a:xfrm>
          <a:prstGeom prst="rect">
            <a:avLst/>
          </a:prstGeom>
          <a:noFill/>
        </p:spPr>
        <p:txBody>
          <a:bodyPr wrap="square">
            <a:spAutoFit/>
          </a:bodyPr>
          <a:lstStyle/>
          <a:p>
            <a:pPr>
              <a:spcAft>
                <a:spcPts val="1100"/>
              </a:spcAft>
            </a:pPr>
            <a:r>
              <a:rPr sz="1450">
                <a:solidFill>
                  <a:srgbClr val="0B0B0B"/>
                </a:solidFill>
                <a:latin typeface="Calibri"/>
              </a:rPr>
              <a:t>●   Photodiode (SFH 2400) → OPA381 TIA → TLV3501 comparator → PIO UART RX</a:t>
            </a:r>
          </a:p>
          <a:p>
            <a:pPr>
              <a:spcAft>
                <a:spcPts val="1100"/>
              </a:spcAft>
            </a:pPr>
            <a:r>
              <a:rPr sz="1450">
                <a:solidFill>
                  <a:srgbClr val="0B0B0B"/>
                </a:solidFill>
                <a:latin typeface="Calibri"/>
              </a:rPr>
              <a:t>●   Programmable threshold via MCP4725 12-bit DAC, tuned each boot (~0.8V)</a:t>
            </a:r>
          </a:p>
          <a:p>
            <a:pPr>
              <a:spcAft>
                <a:spcPts val="1100"/>
              </a:spcAft>
            </a:pPr>
            <a:r>
              <a:rPr sz="1450">
                <a:solidFill>
                  <a:srgbClr val="0B0B0B"/>
                </a:solidFill>
                <a:latin typeface="Calibri"/>
              </a:rPr>
              <a:t>●   64-entry nonce window checked before decryption is ever attempted</a:t>
            </a:r>
          </a:p>
          <a:p>
            <a:pPr>
              <a:spcAft>
                <a:spcPts val="1100"/>
              </a:spcAft>
            </a:pPr>
            <a:r>
              <a:rPr sz="1450">
                <a:solidFill>
                  <a:srgbClr val="0B0B0B"/>
                </a:solidFill>
                <a:latin typeface="Calibri"/>
              </a:rPr>
              <a:t>●   Robotic integration: Pololu 3pi+ headers, LiPo + buck-boost, USB-C charging</a:t>
            </a:r>
          </a:p>
          <a:p>
            <a:pPr>
              <a:spcAft>
                <a:spcPts val="1100"/>
              </a:spcAft>
            </a:pPr>
            <a:r>
              <a:rPr sz="1450">
                <a:solidFill>
                  <a:srgbClr val="0B0B0B"/>
                </a:solidFill>
                <a:latin typeface="Calibri"/>
              </a:rPr>
              <a:t>●   Same board can operate untethered aboard a mobile CPS platform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SST / IoTAuth — the Security Foundation</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Not a homebrew crypto stack — a published, decade-long IoT authorization research line</a:t>
            </a:r>
          </a:p>
        </p:txBody>
      </p:sp>
      <p:sp>
        <p:nvSpPr>
          <p:cNvPr id="4" name="TextBox 3"/>
          <p:cNvSpPr txBox="1"/>
          <p:nvPr/>
        </p:nvSpPr>
        <p:spPr>
          <a:xfrm>
            <a:off x="685800" y="1508760"/>
            <a:ext cx="10789920" cy="4892040"/>
          </a:xfrm>
          <a:prstGeom prst="rect">
            <a:avLst/>
          </a:prstGeom>
          <a:noFill/>
        </p:spPr>
        <p:txBody>
          <a:bodyPr wrap="square">
            <a:spAutoFit/>
          </a:bodyPr>
          <a:lstStyle/>
          <a:p>
            <a:pPr>
              <a:spcAft>
                <a:spcPts val="1100"/>
              </a:spcAft>
            </a:pPr>
            <a:r>
              <a:rPr sz="1500">
                <a:solidFill>
                  <a:srgbClr val="0B0B0B"/>
                </a:solidFill>
                <a:latin typeface="Calibri"/>
              </a:rPr>
              <a:t>●   SST (Secure Swarm Toolkit): open-source authentication &amp; authorization framework for distributed IoT systems</a:t>
            </a:r>
          </a:p>
          <a:p>
            <a:pPr>
              <a:spcAft>
                <a:spcPts val="1100"/>
              </a:spcAft>
            </a:pPr>
            <a:r>
              <a:rPr sz="1500">
                <a:solidFill>
                  <a:srgbClr val="0B0B0B"/>
                </a:solidFill>
                <a:latin typeface="Calibri"/>
              </a:rPr>
              <a:t>●   Auth = the local, automated point of authorization — two roles:</a:t>
            </a:r>
          </a:p>
          <a:p>
            <a:pPr lvl="1">
              <a:spcAft>
                <a:spcPts val="700"/>
              </a:spcAft>
            </a:pPr>
            <a:r>
              <a:rPr sz="1300">
                <a:solidFill>
                  <a:srgbClr val="52514E"/>
                </a:solidFill>
                <a:latin typeface="Calibri"/>
              </a:rPr>
              <a:t>‒   Authenticates/authorizes its own locally registered entities</a:t>
            </a:r>
          </a:p>
          <a:p>
            <a:pPr lvl="1">
              <a:spcAft>
                <a:spcPts val="700"/>
              </a:spcAft>
            </a:pPr>
            <a:r>
              <a:rPr sz="1300">
                <a:solidFill>
                  <a:srgbClr val="52514E"/>
                </a:solidFill>
                <a:latin typeface="Calibri"/>
              </a:rPr>
              <a:t>‒   Bridges authorization between local entities and the wider network</a:t>
            </a:r>
          </a:p>
          <a:p>
            <a:pPr>
              <a:spcAft>
                <a:spcPts val="1100"/>
              </a:spcAft>
            </a:pPr>
            <a:r>
              <a:rPr sz="1500">
                <a:solidFill>
                  <a:srgbClr val="0B0B0B"/>
                </a:solidFill>
                <a:latin typeface="Calibri"/>
              </a:rPr>
              <a:t>●   Architectural concept: “locally centralized, globally distributed” authentication and authorization</a:t>
            </a:r>
          </a:p>
          <a:p>
            <a:pPr>
              <a:spcAft>
                <a:spcPts val="1100"/>
              </a:spcAft>
            </a:pPr>
            <a:r>
              <a:rPr sz="1500">
                <a:solidFill>
                  <a:srgbClr val="0B0B0B"/>
                </a:solidFill>
                <a:latin typeface="Calibri"/>
              </a:rPr>
              <a:t>●   Published research lineage spanning a decade: IoTDI '17, FiCloud '16, IT Professional '17, ACM TIOT '20, SoftwareX '23</a:t>
            </a:r>
          </a:p>
          <a:p>
            <a:pPr>
              <a:spcAft>
                <a:spcPts val="1100"/>
              </a:spcAft>
            </a:pPr>
            <a:r>
              <a:rPr sz="1500">
                <a:solidFill>
                  <a:srgbClr val="0B0B0B"/>
                </a:solidFill>
                <a:latin typeface="Calibri"/>
              </a:rPr>
              <a:t>●   Built and maintained at ASU KIM Labs — this thesis's own lab:</a:t>
            </a:r>
          </a:p>
          <a:p>
            <a:pPr lvl="1">
              <a:spcAft>
                <a:spcPts val="700"/>
              </a:spcAft>
            </a:pPr>
            <a:r>
              <a:rPr sz="1300">
                <a:solidFill>
                  <a:srgbClr val="52514E"/>
                </a:solidFill>
                <a:latin typeface="Calibri"/>
              </a:rPr>
              <a:t>‒   Hokeun Kim (co-author) leads the project; Dongha Kim (co-author) is a core contributor</a:t>
            </a:r>
          </a:p>
          <a:p>
            <a:pPr lvl="1">
              <a:spcAft>
                <a:spcPts val="700"/>
              </a:spcAft>
            </a:pPr>
            <a:r>
              <a:rPr sz="1300">
                <a:solidFill>
                  <a:srgbClr val="52514E"/>
                </a:solidFill>
                <a:latin typeface="Calibri"/>
              </a:rPr>
              <a:t>‒   Jose Felix — this thesis's author — is a listed active contributor to the SST/IoTAuth repo itself</a:t>
            </a:r>
          </a:p>
          <a:p>
            <a:pPr>
              <a:spcAft>
                <a:spcPts val="1100"/>
              </a:spcAft>
            </a:pPr>
            <a:r>
              <a:rPr sz="1500">
                <a:solidFill>
                  <a:srgbClr val="0B0B0B"/>
                </a:solidFill>
                <a:latin typeface="Calibri"/>
              </a:rPr>
              <a:t>●   This work integrates via the sst-c-api C library, rather than reimplementing key distribution from scratch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Sender Provisioning &amp; Key Rotation</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Corrected against source — pico_provisioner.c and lifi_session_sender.c, not the earlier diagram</a:t>
            </a:r>
          </a:p>
        </p:txBody>
      </p:sp>
      <p:sp>
        <p:nvSpPr>
          <p:cNvPr id="4" name="TextBox 3"/>
          <p:cNvSpPr txBox="1"/>
          <p:nvPr/>
        </p:nvSpPr>
        <p:spPr>
          <a:xfrm>
            <a:off x="685800" y="1600200"/>
            <a:ext cx="10789920" cy="4846320"/>
          </a:xfrm>
          <a:prstGeom prst="rect">
            <a:avLst/>
          </a:prstGeom>
          <a:noFill/>
        </p:spPr>
        <p:txBody>
          <a:bodyPr wrap="square">
            <a:spAutoFit/>
          </a:bodyPr>
          <a:lstStyle/>
          <a:p>
            <a:pPr>
              <a:spcAft>
                <a:spcPts val="1100"/>
              </a:spcAft>
            </a:pPr>
            <a:r>
              <a:rPr sz="1450">
                <a:solidFill>
                  <a:srgbClr val="0B0B0B"/>
                </a:solidFill>
                <a:latin typeface="Calibri"/>
              </a:rPr>
              <a:t>●   IoTAuth Server (Java, TLS-protected) → pico_provisioner (Linux host) via the SST C API</a:t>
            </a:r>
          </a:p>
          <a:p>
            <a:pPr lvl="1">
              <a:spcAft>
                <a:spcPts val="700"/>
              </a:spcAft>
            </a:pPr>
            <a:r>
              <a:rPr sz="1250">
                <a:solidFill>
                  <a:srgbClr val="52514E"/>
                </a:solidFill>
                <a:latin typeface="Calibri"/>
              </a:rPr>
              <a:t>‒   init_SST() → get_session_key() → session_key_t { key ID, cipher key, MAC key, mode, validity }</a:t>
            </a:r>
          </a:p>
          <a:p>
            <a:pPr>
              <a:spcAft>
                <a:spcPts val="1100"/>
              </a:spcAft>
            </a:pPr>
            <a:r>
              <a:rPr sz="1450">
                <a:solidFill>
                  <a:srgbClr val="0B0B0B"/>
                </a:solidFill>
                <a:latin typeface="Calibri"/>
              </a:rPr>
              <a:t>●   Session key pushed to the Pico sender over its USB serial port (CDC-ACM, /dev/ttyACM0, 1 Mbps) — the same USB connection used for power and the console, not a separate dedicated UART wire</a:t>
            </a:r>
          </a:p>
          <a:p>
            <a:pPr>
              <a:spcAft>
                <a:spcPts val="1100"/>
              </a:spcAft>
            </a:pPr>
            <a:r>
              <a:rPr sz="1450">
                <a:solidFill>
                  <a:srgbClr val="0B0B0B"/>
                </a:solidFill>
                <a:latin typeface="Calibri"/>
              </a:rPr>
              <a:t>●   Delivery is best-effort, not confirmed: pico_provisioner writes the MSG_TYPE_KEY frame and reports success as soon as write() returns — nothing reads back an acknowledgment from the Pico</a:t>
            </a:r>
          </a:p>
          <a:p>
            <a:pPr lvl="1">
              <a:spcAft>
                <a:spcPts val="700"/>
              </a:spcAft>
            </a:pPr>
            <a:r>
              <a:rPr sz="1250">
                <a:solidFill>
                  <a:srgbClr val="52514E"/>
                </a:solidFill>
                <a:latin typeface="Calibri"/>
              </a:rPr>
              <a:t>‒   If the write itself fails (Pico not connected), the key is saved to session_key.json for manual retry — but a successful write is never verified end-to-end. The 4-state HMAC handshake once shown here (IDLE→WAITING_FOR_YES→WAITING_FOR_ACK→WAITING_FOR_HMAC_RESP) is real code, but it lives in the retired Pi4-side receiver binaries (flash_receiver.c/dash_receiver.c), explicitly marked legacy — it never confirmed sender key delivery.</a:t>
            </a:r>
          </a:p>
          <a:p>
            <a:pPr>
              <a:spcAft>
                <a:spcPts val="1100"/>
              </a:spcAft>
            </a:pPr>
            <a:r>
              <a:rPr sz="1450">
                <a:solidFill>
                  <a:srgbClr val="0B0B0B"/>
                </a:solidFill>
                <a:latin typeface="Calibri"/>
              </a:rPr>
              <a:t>●   Keys persist in dual-slot (A/B) flash, SHA-256 integrity-checked</a:t>
            </a:r>
          </a:p>
          <a:p>
            <a:pPr lvl="1">
              <a:spcAft>
                <a:spcPts val="700"/>
              </a:spcAft>
            </a:pPr>
            <a:r>
              <a:rPr sz="1250">
                <a:solidFill>
                  <a:srgbClr val="52514E"/>
                </a:solidFill>
                <a:latin typeface="Calibri"/>
              </a:rPr>
              <a:t>‒   Operator-driven rotation ('CMD: new key' at the sender console) writes the inactive slot first and refuses to overwrite an occupied slot without -f — genuine rollback safety</a:t>
            </a:r>
          </a:p>
          <a:p>
            <a:pPr lvl="1">
              <a:spcAft>
                <a:spcPts val="700"/>
              </a:spcAft>
            </a:pPr>
            <a:r>
              <a:rPr sz="1250">
                <a:solidFill>
                  <a:srgbClr val="52514E"/>
                </a:solidFill>
                <a:latin typeface="Calibri"/>
              </a:rPr>
              <a:t>‒   The automated provisioning push above writes directly to whichever slot is currently active — it does not use the inactive-slot-first pattern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Auth's Role Doesn't Stop After Provisioning</a:t>
            </a:r>
          </a:p>
        </p:txBody>
      </p:sp>
      <p:pic>
        <p:nvPicPr>
          <p:cNvPr id="3" name="Picture 2" descr="sst_auth_role.png"/>
          <p:cNvPicPr>
            <a:picLocks noChangeAspect="1"/>
          </p:cNvPicPr>
          <p:nvPr/>
        </p:nvPicPr>
        <p:blipFill>
          <a:blip r:embed="rId2"/>
          <a:stretch>
            <a:fillRect/>
          </a:stretch>
        </p:blipFill>
        <p:spPr>
          <a:xfrm>
            <a:off x="2818295" y="1417320"/>
            <a:ext cx="6555105" cy="5074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Adversary Model</a:t>
            </a:r>
          </a:p>
        </p:txBody>
      </p:sp>
      <p:sp>
        <p:nvSpPr>
          <p:cNvPr id="3" name="TextBox 2"/>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Network control — standard Dolev-Yao adversary on RF/network links (eavesdrop, replay, delay, drop, inject)</a:t>
            </a:r>
          </a:p>
          <a:p>
            <a:pPr>
              <a:spcAft>
                <a:spcPts val="1100"/>
              </a:spcAft>
            </a:pPr>
            <a:r>
              <a:rPr sz="1700">
                <a:solidFill>
                  <a:srgbClr val="0B0B0B"/>
                </a:solidFill>
                <a:latin typeface="Calibri"/>
              </a:rPr>
              <a:t>●   Optical observation — passive sensors capture ciphertext, tags, nonces — never plaintext or key material</a:t>
            </a:r>
          </a:p>
          <a:p>
            <a:pPr>
              <a:spcAft>
                <a:spcPts val="1100"/>
              </a:spcAft>
            </a:pPr>
            <a:r>
              <a:rPr sz="1700">
                <a:solidFill>
                  <a:srgbClr val="0B0B0B"/>
                </a:solidFill>
                <a:latin typeface="Calibri"/>
              </a:rPr>
              <a:t>●   Relay — capture the optical signal, transport it, re-emit remotely; introduces latency δᵣₑₗₐᵧ</a:t>
            </a:r>
          </a:p>
          <a:p>
            <a:pPr>
              <a:spcAft>
                <a:spcPts val="1100"/>
              </a:spcAft>
            </a:pPr>
            <a:r>
              <a:rPr sz="1700">
                <a:solidFill>
                  <a:srgbClr val="0B0B0B"/>
                </a:solidFill>
                <a:latin typeface="Calibri"/>
              </a:rPr>
              <a:t>●   Optical injection — a rogue light source without the session key fails AES-128-GCM tag verification</a:t>
            </a:r>
          </a:p>
          <a:p>
            <a:pPr>
              <a:spcAft>
                <a:spcPts val="1100"/>
              </a:spcAft>
            </a:pPr>
            <a:r>
              <a:rPr sz="1700">
                <a:solidFill>
                  <a:srgbClr val="0B0B0B"/>
                </a:solidFill>
                <a:latin typeface="Calibri"/>
              </a:rPr>
              <a:t>●   Denial of service — physical obstruction, ambient-light saturation, RF jamming of the network link</a:t>
            </a:r>
          </a:p>
          <a:p>
            <a:pPr lvl="1">
              <a:spcAft>
                <a:spcPts val="700"/>
              </a:spcAft>
            </a:pPr>
            <a:r>
              <a:rPr sz="1450">
                <a:solidFill>
                  <a:srgbClr val="52514E"/>
                </a:solidFill>
                <a:latin typeface="Calibri"/>
              </a:rPr>
              <a:t>‒   The system fails closed by design: denial of signal → revocation, never false authorization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Security Goals G1–G4</a:t>
            </a:r>
          </a:p>
        </p:txBody>
      </p:sp>
      <p:graphicFrame>
        <p:nvGraphicFramePr>
          <p:cNvPr id="3" name="Table 2"/>
          <p:cNvGraphicFramePr>
            <a:graphicFrameLocks noGrp="1"/>
          </p:cNvGraphicFramePr>
          <p:nvPr/>
        </p:nvGraphicFramePr>
        <p:xfrm>
          <a:off x="685800" y="1828800"/>
          <a:ext cx="10881360" cy="2926080"/>
        </p:xfrm>
        <a:graphic>
          <a:graphicData uri="http://schemas.openxmlformats.org/drawingml/2006/table">
            <a:tbl>
              <a:tblPr firstRow="1" bandRow="1">
                <a:tableStyleId>{5C22544A-7EE6-4342-B048-85BDC9FD1C3A}</a:tableStyleId>
              </a:tblPr>
              <a:tblGrid>
                <a:gridCol w="1005840"/>
                <a:gridCol w="3291840"/>
                <a:gridCol w="4206240"/>
                <a:gridCol w="2377440"/>
              </a:tblGrid>
              <a:tr h="585216">
                <a:tc>
                  <a:txBody>
                    <a:bodyPr wrap="square"/>
                    <a:lstStyle/>
                    <a:p>
                      <a:pPr algn="l"/>
                      <a:r>
                        <a:rPr sz="1350" b="1">
                          <a:solidFill>
                            <a:srgbClr val="FFFFFF"/>
                          </a:solidFill>
                          <a:latin typeface="Calibri"/>
                        </a:rPr>
                        <a:t>Goal</a:t>
                      </a:r>
                    </a:p>
                  </a:txBody>
                  <a:tcPr anchor="ctr" marL="91440" marR="91440" marT="45720" marB="45720">
                    <a:solidFill>
                      <a:srgbClr val="0B0B0B"/>
                    </a:solidFill>
                  </a:tcPr>
                </a:tc>
                <a:tc>
                  <a:txBody>
                    <a:bodyPr wrap="square"/>
                    <a:lstStyle/>
                    <a:p>
                      <a:pPr algn="ctr"/>
                      <a:r>
                        <a:rPr sz="1350" b="1">
                          <a:solidFill>
                            <a:srgbClr val="FFFFFF"/>
                          </a:solidFill>
                          <a:latin typeface="Calibri"/>
                        </a:rPr>
                        <a:t>Property</a:t>
                      </a:r>
                    </a:p>
                  </a:txBody>
                  <a:tcPr anchor="ctr" marL="91440" marR="91440" marT="45720" marB="45720">
                    <a:solidFill>
                      <a:srgbClr val="0B0B0B"/>
                    </a:solidFill>
                  </a:tcPr>
                </a:tc>
                <a:tc>
                  <a:txBody>
                    <a:bodyPr wrap="square"/>
                    <a:lstStyle/>
                    <a:p>
                      <a:pPr algn="ctr"/>
                      <a:r>
                        <a:rPr sz="1350" b="1">
                          <a:solidFill>
                            <a:srgbClr val="FFFFFF"/>
                          </a:solidFill>
                          <a:latin typeface="Calibri"/>
                        </a:rPr>
                        <a:t>Mechanism</a:t>
                      </a:r>
                    </a:p>
                  </a:txBody>
                  <a:tcPr anchor="ctr" marL="91440" marR="91440" marT="45720" marB="45720">
                    <a:solidFill>
                      <a:srgbClr val="0B0B0B"/>
                    </a:solidFill>
                  </a:tcPr>
                </a:tc>
                <a:tc>
                  <a:txBody>
                    <a:bodyPr wrap="square"/>
                    <a:lstStyle/>
                    <a:p>
                      <a:pPr algn="ctr"/>
                      <a:r>
                        <a:rPr sz="1350" b="1">
                          <a:solidFill>
                            <a:srgbClr val="FFFFFF"/>
                          </a:solidFill>
                          <a:latin typeface="Calibri"/>
                        </a:rPr>
                        <a:t>Status</a:t>
                      </a:r>
                    </a:p>
                  </a:txBody>
                  <a:tcPr anchor="ctr" marL="91440" marR="91440" marT="45720" marB="45720">
                    <a:solidFill>
                      <a:srgbClr val="0B0B0B"/>
                    </a:solidFill>
                  </a:tcPr>
                </a:tc>
              </a:tr>
              <a:tr h="585216">
                <a:tc>
                  <a:txBody>
                    <a:bodyPr wrap="square"/>
                    <a:lstStyle/>
                    <a:p>
                      <a:pPr algn="l"/>
                      <a:r>
                        <a:rPr sz="1250" b="0">
                          <a:solidFill>
                            <a:srgbClr val="0B0B0B"/>
                          </a:solidFill>
                          <a:latin typeface="Calibri"/>
                        </a:rPr>
                        <a:t>G1</a:t>
                      </a:r>
                    </a:p>
                  </a:txBody>
                  <a:tcPr anchor="ctr" marL="91440" marR="91440" marT="45720" marB="45720">
                    <a:solidFill>
                      <a:srgbClr val="FFFFFF"/>
                    </a:solidFill>
                  </a:tcPr>
                </a:tc>
                <a:tc>
                  <a:txBody>
                    <a:bodyPr wrap="square"/>
                    <a:lstStyle/>
                    <a:p>
                      <a:pPr algn="ctr"/>
                      <a:r>
                        <a:rPr sz="1250" b="0">
                          <a:solidFill>
                            <a:srgbClr val="0B0B0B"/>
                          </a:solidFill>
                          <a:latin typeface="Calibri"/>
                        </a:rPr>
                        <a:t>Freshness / Expiration</a:t>
                      </a:r>
                    </a:p>
                  </a:txBody>
                  <a:tcPr anchor="ctr" marL="91440" marR="91440" marT="45720" marB="45720">
                    <a:solidFill>
                      <a:srgbClr val="FFFFFF"/>
                    </a:solidFill>
                  </a:tcPr>
                </a:tc>
                <a:tc>
                  <a:txBody>
                    <a:bodyPr wrap="square"/>
                    <a:lstStyle/>
                    <a:p>
                      <a:pPr algn="ctr"/>
                      <a:r>
                        <a:rPr sz="1250" b="0">
                          <a:solidFill>
                            <a:srgbClr val="0B0B0B"/>
                          </a:solidFill>
                          <a:latin typeface="Calibri"/>
                        </a:rPr>
                        <a:t>Token window Δ</a:t>
                      </a:r>
                    </a:p>
                  </a:txBody>
                  <a:tcPr anchor="ctr" marL="91440" marR="91440" marT="45720" marB="45720">
                    <a:solidFill>
                      <a:srgbClr val="FFFFFF"/>
                    </a:solidFill>
                  </a:tcPr>
                </a:tc>
                <a:tc>
                  <a:txBody>
                    <a:bodyPr wrap="square"/>
                    <a:lstStyle/>
                    <a:p>
                      <a:pPr algn="ctr"/>
                      <a:r>
                        <a:rPr sz="1250" b="1">
                          <a:solidFill>
                            <a:srgbClr val="0CA30C"/>
                          </a:solidFill>
                          <a:latin typeface="Calibri"/>
                        </a:rPr>
                        <a:t>Achieved</a:t>
                      </a:r>
                    </a:p>
                  </a:txBody>
                  <a:tcPr anchor="ctr" marL="91440" marR="91440" marT="45720" marB="45720">
                    <a:solidFill>
                      <a:srgbClr val="FFFFFF"/>
                    </a:solidFill>
                  </a:tcPr>
                </a:tc>
              </a:tr>
              <a:tr h="585216">
                <a:tc>
                  <a:txBody>
                    <a:bodyPr wrap="square"/>
                    <a:lstStyle/>
                    <a:p>
                      <a:pPr algn="l"/>
                      <a:r>
                        <a:rPr sz="1250" b="0">
                          <a:solidFill>
                            <a:srgbClr val="0B0B0B"/>
                          </a:solidFill>
                          <a:latin typeface="Calibri"/>
                        </a:rPr>
                        <a:t>G2</a:t>
                      </a:r>
                    </a:p>
                  </a:txBody>
                  <a:tcPr anchor="ctr" marL="91440" marR="91440" marT="45720" marB="45720">
                    <a:solidFill>
                      <a:srgbClr val="F0EFEC"/>
                    </a:solidFill>
                  </a:tcPr>
                </a:tc>
                <a:tc>
                  <a:txBody>
                    <a:bodyPr wrap="square"/>
                    <a:lstStyle/>
                    <a:p>
                      <a:pPr algn="ctr"/>
                      <a:r>
                        <a:rPr sz="1250" b="0">
                          <a:solidFill>
                            <a:srgbClr val="0B0B0B"/>
                          </a:solidFill>
                          <a:latin typeface="Calibri"/>
                        </a:rPr>
                        <a:t>Replay Resistance</a:t>
                      </a:r>
                    </a:p>
                  </a:txBody>
                  <a:tcPr anchor="ctr" marL="91440" marR="91440" marT="45720" marB="45720">
                    <a:solidFill>
                      <a:srgbClr val="F0EFEC"/>
                    </a:solidFill>
                  </a:tcPr>
                </a:tc>
                <a:tc>
                  <a:txBody>
                    <a:bodyPr wrap="square"/>
                    <a:lstStyle/>
                    <a:p>
                      <a:pPr algn="ctr"/>
                      <a:r>
                        <a:rPr sz="1250" b="0">
                          <a:solidFill>
                            <a:srgbClr val="0B0B0B"/>
                          </a:solidFill>
                          <a:latin typeface="Calibri"/>
                        </a:rPr>
                        <a:t>64-entry nonce sliding window</a:t>
                      </a:r>
                    </a:p>
                  </a:txBody>
                  <a:tcPr anchor="ctr" marL="91440" marR="91440" marT="45720" marB="45720">
                    <a:solidFill>
                      <a:srgbClr val="F0EFEC"/>
                    </a:solidFill>
                  </a:tcPr>
                </a:tc>
                <a:tc>
                  <a:txBody>
                    <a:bodyPr wrap="square"/>
                    <a:lstStyle/>
                    <a:p>
                      <a:pPr algn="ctr"/>
                      <a:r>
                        <a:rPr sz="1250" b="1">
                          <a:solidFill>
                            <a:srgbClr val="0CA30C"/>
                          </a:solidFill>
                          <a:latin typeface="Calibri"/>
                        </a:rPr>
                        <a:t>Achieved</a:t>
                      </a:r>
                    </a:p>
                  </a:txBody>
                  <a:tcPr anchor="ctr" marL="91440" marR="91440" marT="45720" marB="45720">
                    <a:solidFill>
                      <a:srgbClr val="F0EFEC"/>
                    </a:solidFill>
                  </a:tcPr>
                </a:tc>
              </a:tr>
              <a:tr h="585216">
                <a:tc>
                  <a:txBody>
                    <a:bodyPr wrap="square"/>
                    <a:lstStyle/>
                    <a:p>
                      <a:pPr algn="l"/>
                      <a:r>
                        <a:rPr sz="1250" b="0">
                          <a:solidFill>
                            <a:srgbClr val="0B0B0B"/>
                          </a:solidFill>
                          <a:latin typeface="Calibri"/>
                        </a:rPr>
                        <a:t>G3</a:t>
                      </a:r>
                    </a:p>
                  </a:txBody>
                  <a:tcPr anchor="ctr" marL="91440" marR="91440" marT="45720" marB="45720">
                    <a:solidFill>
                      <a:srgbClr val="FFFFFF"/>
                    </a:solidFill>
                  </a:tcPr>
                </a:tc>
                <a:tc>
                  <a:txBody>
                    <a:bodyPr wrap="square"/>
                    <a:lstStyle/>
                    <a:p>
                      <a:pPr algn="ctr"/>
                      <a:r>
                        <a:rPr sz="1250" b="0">
                          <a:solidFill>
                            <a:srgbClr val="0B0B0B"/>
                          </a:solidFill>
                          <a:latin typeface="Calibri"/>
                        </a:rPr>
                        <a:t>Relay-Bounded Authorization</a:t>
                      </a:r>
                    </a:p>
                  </a:txBody>
                  <a:tcPr anchor="ctr" marL="91440" marR="91440" marT="45720" marB="45720">
                    <a:solidFill>
                      <a:srgbClr val="FFFFFF"/>
                    </a:solidFill>
                  </a:tcPr>
                </a:tc>
                <a:tc>
                  <a:txBody>
                    <a:bodyPr wrap="square"/>
                    <a:lstStyle/>
                    <a:p>
                      <a:pPr algn="ctr"/>
                      <a:r>
                        <a:rPr sz="1250" b="0">
                          <a:solidFill>
                            <a:srgbClr val="0B0B0B"/>
                          </a:solidFill>
                          <a:latin typeface="Calibri"/>
                        </a:rPr>
                        <a:t>No timing check on data path</a:t>
                      </a:r>
                    </a:p>
                  </a:txBody>
                  <a:tcPr anchor="ctr" marL="91440" marR="91440" marT="45720" marB="45720">
                    <a:solidFill>
                      <a:srgbClr val="FFFFFF"/>
                    </a:solidFill>
                  </a:tcPr>
                </a:tc>
                <a:tc>
                  <a:txBody>
                    <a:bodyPr wrap="square"/>
                    <a:lstStyle/>
                    <a:p>
                      <a:pPr algn="ctr"/>
                      <a:r>
                        <a:rPr sz="1250" b="1">
                          <a:solidFill>
                            <a:srgbClr val="D03B3B"/>
                          </a:solidFill>
                          <a:latin typeface="Calibri"/>
                        </a:rPr>
                        <a:t>Not achieved</a:t>
                      </a:r>
                    </a:p>
                  </a:txBody>
                  <a:tcPr anchor="ctr" marL="91440" marR="91440" marT="45720" marB="45720">
                    <a:solidFill>
                      <a:srgbClr val="FFFFFF"/>
                    </a:solidFill>
                  </a:tcPr>
                </a:tc>
              </a:tr>
              <a:tr h="585216">
                <a:tc>
                  <a:txBody>
                    <a:bodyPr wrap="square"/>
                    <a:lstStyle/>
                    <a:p>
                      <a:pPr algn="l"/>
                      <a:r>
                        <a:rPr sz="1250" b="0">
                          <a:solidFill>
                            <a:srgbClr val="0B0B0B"/>
                          </a:solidFill>
                          <a:latin typeface="Calibri"/>
                        </a:rPr>
                        <a:t>G4</a:t>
                      </a:r>
                    </a:p>
                  </a:txBody>
                  <a:tcPr anchor="ctr" marL="91440" marR="91440" marT="45720" marB="45720">
                    <a:solidFill>
                      <a:srgbClr val="F0EFEC"/>
                    </a:solidFill>
                  </a:tcPr>
                </a:tc>
                <a:tc>
                  <a:txBody>
                    <a:bodyPr wrap="square"/>
                    <a:lstStyle/>
                    <a:p>
                      <a:pPr algn="ctr"/>
                      <a:r>
                        <a:rPr sz="1250" b="0">
                          <a:solidFill>
                            <a:srgbClr val="0B0B0B"/>
                          </a:solidFill>
                          <a:latin typeface="Calibri"/>
                        </a:rPr>
                        <a:t>Revocation on Interruption</a:t>
                      </a:r>
                    </a:p>
                  </a:txBody>
                  <a:tcPr anchor="ctr" marL="91440" marR="91440" marT="45720" marB="45720">
                    <a:solidFill>
                      <a:srgbClr val="F0EFEC"/>
                    </a:solidFill>
                  </a:tcPr>
                </a:tc>
                <a:tc>
                  <a:txBody>
                    <a:bodyPr wrap="square"/>
                    <a:lstStyle/>
                    <a:p>
                      <a:pPr algn="ctr"/>
                      <a:r>
                        <a:rPr sz="1250" b="0">
                          <a:solidFill>
                            <a:srgbClr val="0B0B0B"/>
                          </a:solidFill>
                          <a:latin typeface="Calibri"/>
                        </a:rPr>
                        <a:t>Absence of signal = revocation</a:t>
                      </a:r>
                    </a:p>
                  </a:txBody>
                  <a:tcPr anchor="ctr" marL="91440" marR="91440" marT="45720" marB="45720">
                    <a:solidFill>
                      <a:srgbClr val="F0EFEC"/>
                    </a:solidFill>
                  </a:tcPr>
                </a:tc>
                <a:tc>
                  <a:txBody>
                    <a:bodyPr wrap="square"/>
                    <a:lstStyle/>
                    <a:p>
                      <a:pPr algn="ctr"/>
                      <a:r>
                        <a:rPr sz="1250" b="1">
                          <a:solidFill>
                            <a:srgbClr val="0CA30C"/>
                          </a:solidFill>
                          <a:latin typeface="Calibri"/>
                        </a:rPr>
                        <a:t>Achieved</a:t>
                      </a:r>
                    </a:p>
                  </a:txBody>
                  <a:tcPr anchor="ctr" marL="91440" marR="91440" marT="45720" marB="45720">
                    <a:solidFill>
                      <a:srgbClr val="F0EFEC"/>
                    </a:solidFill>
                  </a:tcPr>
                </a:tc>
              </a:tr>
            </a:tbl>
          </a:graphicData>
        </a:graphic>
      </p:graphicFrame>
      <p:sp>
        <p:nvSpPr>
          <p:cNvPr id="4" name="TextBox 3"/>
          <p:cNvSpPr txBox="1"/>
          <p:nvPr/>
        </p:nvSpPr>
        <p:spPr>
          <a:xfrm>
            <a:off x="502920" y="5074920"/>
            <a:ext cx="11155680" cy="548640"/>
          </a:xfrm>
          <a:prstGeom prst="rect">
            <a:avLst/>
          </a:prstGeom>
          <a:noFill/>
        </p:spPr>
        <p:txBody>
          <a:bodyPr wrap="square">
            <a:spAutoFit/>
          </a:bodyPr>
          <a:lstStyle/>
          <a:p>
            <a:pPr algn="ctr"/>
            <a:r>
              <a:rPr sz="1250" i="0" b="1">
                <a:solidFill>
                  <a:srgbClr val="898781"/>
                </a:solidFill>
                <a:latin typeface="Calibri"/>
              </a:rPr>
              <a:t>This table is the scorecard for the rest of the talk — every evaluation result maps back to one row.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Experimental Setup &amp; Methodology</a:t>
            </a:r>
          </a:p>
        </p:txBody>
      </p:sp>
      <p:sp>
        <p:nvSpPr>
          <p:cNvPr id="3" name="TextBox 2"/>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Testbed: Pico H sender + Pico 2 H receiver, ~15cm separation, indoor ambient light, no shielding</a:t>
            </a:r>
          </a:p>
          <a:p>
            <a:pPr>
              <a:spcAft>
                <a:spcPts val="1100"/>
              </a:spcAft>
            </a:pPr>
            <a:r>
              <a:rPr sz="1700">
                <a:solidFill>
                  <a:srgbClr val="0B0B0B"/>
                </a:solidFill>
                <a:latin typeface="Calibri"/>
              </a:rPr>
              <a:t>●   IoTAuth provisioning server runs on a Raspberry Pi 4 under Linux, used only at session-key setup — not part of the runtime data path</a:t>
            </a:r>
          </a:p>
          <a:p>
            <a:pPr>
              <a:spcAft>
                <a:spcPts val="1100"/>
              </a:spcAft>
            </a:pPr>
            <a:r>
              <a:rPr sz="1700">
                <a:solidFill>
                  <a:srgbClr val="0B0B0B"/>
                </a:solidFill>
                <a:latin typeface="Calibri"/>
              </a:rPr>
              <a:t>●   Frame-level protocol logic (CRC, replay, decrypt) runs on the deployed receiver firmware (receiver_pico/src/main.c)</a:t>
            </a:r>
          </a:p>
          <a:p>
            <a:pPr lvl="1">
              <a:spcAft>
                <a:spcPts val="700"/>
              </a:spcAft>
            </a:pPr>
            <a:r>
              <a:rPr sz="1450">
                <a:solidFill>
                  <a:srgbClr val="52514E"/>
                </a:solidFill>
                <a:latin typeface="Calibri"/>
              </a:rPr>
              <a:t>‒   The Δ-based revocation decision itself was computed by an external monitoring script at measurement time</a:t>
            </a:r>
          </a:p>
          <a:p>
            <a:pPr lvl="1">
              <a:spcAft>
                <a:spcPts val="700"/>
              </a:spcAft>
            </a:pPr>
            <a:r>
              <a:rPr sz="1450">
                <a:solidFill>
                  <a:srgbClr val="52514E"/>
                </a:solidFill>
                <a:latin typeface="Calibri"/>
              </a:rPr>
              <a:t>‒   That decision logic has since been ported directly into the receiver firmware as well (presence_check_decay())</a:t>
            </a:r>
          </a:p>
          <a:p>
            <a:pPr>
              <a:spcAft>
                <a:spcPts val="1100"/>
              </a:spcAft>
            </a:pPr>
            <a:r>
              <a:rPr sz="1700">
                <a:solidFill>
                  <a:srgbClr val="0B0B0B"/>
                </a:solidFill>
                <a:latin typeface="Calibri"/>
              </a:rPr>
              <a:t>●   Re-confirming the reported numbers against this on-device decision is named explicitly as pending work, not silently assumed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Link Geometry — Alignment Tolerance</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How much lateral misalignment the testbed's ~15cm separation actually tolerates</a:t>
            </a:r>
          </a:p>
        </p:txBody>
      </p:sp>
      <p:pic>
        <p:nvPicPr>
          <p:cNvPr id="4" name="Picture 3" descr="cone_geometry.png"/>
          <p:cNvPicPr>
            <a:picLocks noChangeAspect="1"/>
          </p:cNvPicPr>
          <p:nvPr/>
        </p:nvPicPr>
        <p:blipFill>
          <a:blip r:embed="rId2"/>
          <a:stretch>
            <a:fillRect/>
          </a:stretch>
        </p:blipFill>
        <p:spPr>
          <a:xfrm>
            <a:off x="1625447" y="1417320"/>
            <a:ext cx="8940800" cy="4023360"/>
          </a:xfrm>
          <a:prstGeom prst="rect">
            <a:avLst/>
          </a:prstGeom>
        </p:spPr>
      </p:pic>
      <p:sp>
        <p:nvSpPr>
          <p:cNvPr id="5" name="TextBox 4"/>
          <p:cNvSpPr txBox="1"/>
          <p:nvPr/>
        </p:nvSpPr>
        <p:spPr>
          <a:xfrm>
            <a:off x="502920" y="5577840"/>
            <a:ext cx="11155680" cy="548640"/>
          </a:xfrm>
          <a:prstGeom prst="rect">
            <a:avLst/>
          </a:prstGeom>
          <a:noFill/>
        </p:spPr>
        <p:txBody>
          <a:bodyPr wrap="square">
            <a:spAutoFit/>
          </a:bodyPr>
          <a:lstStyle/>
          <a:p>
            <a:pPr algn="ctr"/>
            <a:r>
              <a:rPr sz="1250" i="0" b="1">
                <a:solidFill>
                  <a:srgbClr val="898781"/>
                </a:solidFill>
                <a:latin typeface="Calibri"/>
              </a:rPr>
              <a:t>Free-intercept fit: half-angle ≈ 4.2° (R²=0.997) — the naive origin-forced fit overstates the cone at ≈6.1° and its residuals drift systematically.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G4 — Revocation Latency on Occlusion</a:t>
            </a:r>
          </a:p>
        </p:txBody>
      </p:sp>
      <p:pic>
        <p:nvPicPr>
          <p:cNvPr id="3" name="Picture 2" descr="revocation_latency.png"/>
          <p:cNvPicPr>
            <a:picLocks noChangeAspect="1"/>
          </p:cNvPicPr>
          <p:nvPr/>
        </p:nvPicPr>
        <p:blipFill>
          <a:blip r:embed="rId2"/>
          <a:stretch>
            <a:fillRect/>
          </a:stretch>
        </p:blipFill>
        <p:spPr>
          <a:xfrm>
            <a:off x="458571" y="1417320"/>
            <a:ext cx="11274552" cy="3989456"/>
          </a:xfrm>
          <a:prstGeom prst="rect">
            <a:avLst/>
          </a:prstGeom>
        </p:spPr>
      </p:pic>
      <p:sp>
        <p:nvSpPr>
          <p:cNvPr id="4" name="TextBox 3"/>
          <p:cNvSpPr txBox="1"/>
          <p:nvPr/>
        </p:nvSpPr>
        <p:spPr>
          <a:xfrm>
            <a:off x="502920" y="5806440"/>
            <a:ext cx="11155680" cy="548640"/>
          </a:xfrm>
          <a:prstGeom prst="rect">
            <a:avLst/>
          </a:prstGeom>
          <a:noFill/>
        </p:spPr>
        <p:txBody>
          <a:bodyPr wrap="square">
            <a:spAutoFit/>
          </a:bodyPr>
          <a:lstStyle/>
          <a:p>
            <a:pPr algn="ctr"/>
            <a:r>
              <a:rPr sz="1250" i="0" b="1">
                <a:solidFill>
                  <a:srgbClr val="898781"/>
                </a:solidFill>
                <a:latin typeface="Calibri"/>
              </a:rPr>
              <a:t>Intrinsic time-to-revoke: 15.11s ± 0.06s — essentially exactly Δ (15s) plus fixed overhead.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Δ-Sensitivity to Benign Traffic</a:t>
            </a:r>
          </a:p>
        </p:txBody>
      </p:sp>
      <p:pic>
        <p:nvPicPr>
          <p:cNvPr id="3" name="Picture 2" descr="delta_sensitivity.png"/>
          <p:cNvPicPr>
            <a:picLocks noChangeAspect="1"/>
          </p:cNvPicPr>
          <p:nvPr/>
        </p:nvPicPr>
        <p:blipFill>
          <a:blip r:embed="rId2"/>
          <a:stretch>
            <a:fillRect/>
          </a:stretch>
        </p:blipFill>
        <p:spPr>
          <a:xfrm>
            <a:off x="1320647" y="1417320"/>
            <a:ext cx="9550400" cy="4297680"/>
          </a:xfrm>
          <a:prstGeom prst="rect">
            <a:avLst/>
          </a:prstGeom>
        </p:spPr>
      </p:pic>
      <p:sp>
        <p:nvSpPr>
          <p:cNvPr id="4" name="TextBox 3"/>
          <p:cNvSpPr txBox="1"/>
          <p:nvPr/>
        </p:nvSpPr>
        <p:spPr>
          <a:xfrm>
            <a:off x="502920" y="5806440"/>
            <a:ext cx="11155680" cy="548640"/>
          </a:xfrm>
          <a:prstGeom prst="rect">
            <a:avLst/>
          </a:prstGeom>
          <a:noFill/>
        </p:spPr>
        <p:txBody>
          <a:bodyPr wrap="square">
            <a:spAutoFit/>
          </a:bodyPr>
          <a:lstStyle/>
          <a:p>
            <a:pPr algn="ctr"/>
            <a:r>
              <a:rPr sz="1250" i="0" b="1">
                <a:solidFill>
                  <a:srgbClr val="898781"/>
                </a:solidFill>
                <a:latin typeface="Calibri"/>
              </a:rPr>
              <a:t>0.0% false-revoke rate at every candidate Δ tested — but this session can't rule out a smaller crossover under degraded conditions.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G2 — Replay Rejection &amp; the Window-Boundary Limitation</a:t>
            </a:r>
          </a:p>
        </p:txBody>
      </p:sp>
      <p:pic>
        <p:nvPicPr>
          <p:cNvPr id="3" name="Picture 2" descr="replay_boundary.png"/>
          <p:cNvPicPr>
            <a:picLocks noChangeAspect="1"/>
          </p:cNvPicPr>
          <p:nvPr/>
        </p:nvPicPr>
        <p:blipFill>
          <a:blip r:embed="rId2"/>
          <a:stretch>
            <a:fillRect/>
          </a:stretch>
        </p:blipFill>
        <p:spPr>
          <a:xfrm>
            <a:off x="723747" y="1417320"/>
            <a:ext cx="10744200" cy="4297680"/>
          </a:xfrm>
          <a:prstGeom prst="rect">
            <a:avLst/>
          </a:prstGeom>
        </p:spPr>
      </p:pic>
      <p:sp>
        <p:nvSpPr>
          <p:cNvPr id="4" name="TextBox 3"/>
          <p:cNvSpPr txBox="1"/>
          <p:nvPr/>
        </p:nvSpPr>
        <p:spPr>
          <a:xfrm>
            <a:off x="502920" y="5806440"/>
            <a:ext cx="11155680" cy="548640"/>
          </a:xfrm>
          <a:prstGeom prst="rect">
            <a:avLst/>
          </a:prstGeom>
          <a:noFill/>
        </p:spPr>
        <p:txBody>
          <a:bodyPr wrap="square">
            <a:spAutoFit/>
          </a:bodyPr>
          <a:lstStyle/>
          <a:p>
            <a:pPr algn="ctr"/>
            <a:r>
              <a:rPr sz="1250" i="0" b="1">
                <a:solidFill>
                  <a:srgbClr val="898781"/>
                </a:solidFill>
                <a:latin typeface="Calibri"/>
              </a:rPr>
              <a:t>Immediate replay rejected; the same frame is re-accepted only after being deliberately evicted from a shrunk 2-slot window.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Communication Performance</a:t>
            </a:r>
          </a:p>
        </p:txBody>
      </p:sp>
      <p:pic>
        <p:nvPicPr>
          <p:cNvPr id="3" name="Picture 2" descr="baud_sweep.png"/>
          <p:cNvPicPr>
            <a:picLocks noChangeAspect="1"/>
          </p:cNvPicPr>
          <p:nvPr/>
        </p:nvPicPr>
        <p:blipFill>
          <a:blip r:embed="rId2"/>
          <a:stretch>
            <a:fillRect/>
          </a:stretch>
        </p:blipFill>
        <p:spPr>
          <a:xfrm>
            <a:off x="1107469" y="1417320"/>
            <a:ext cx="9976757" cy="4297680"/>
          </a:xfrm>
          <a:prstGeom prst="rect">
            <a:avLst/>
          </a:prstGeom>
        </p:spPr>
      </p:pic>
      <p:sp>
        <p:nvSpPr>
          <p:cNvPr id="4" name="TextBox 3"/>
          <p:cNvSpPr txBox="1"/>
          <p:nvPr/>
        </p:nvSpPr>
        <p:spPr>
          <a:xfrm>
            <a:off x="502920" y="5806440"/>
            <a:ext cx="11155680" cy="548640"/>
          </a:xfrm>
          <a:prstGeom prst="rect">
            <a:avLst/>
          </a:prstGeom>
          <a:noFill/>
        </p:spPr>
        <p:txBody>
          <a:bodyPr wrap="square">
            <a:spAutoFit/>
          </a:bodyPr>
          <a:lstStyle/>
          <a:p>
            <a:pPr algn="ctr"/>
            <a:r>
              <a:rPr sz="1250" i="0" b="1">
                <a:solidFill>
                  <a:srgbClr val="898781"/>
                </a:solidFill>
                <a:latin typeface="Calibri"/>
              </a:rPr>
              <a:t>Higher gain (470kΩ) beats higher bandwidth (100kΩ) at 15cm — SNR margin, not TIA bandwidth, limits close range.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Security Validation — Recap</a:t>
            </a:r>
          </a:p>
        </p:txBody>
      </p:sp>
      <p:graphicFrame>
        <p:nvGraphicFramePr>
          <p:cNvPr id="3" name="Table 2"/>
          <p:cNvGraphicFramePr>
            <a:graphicFrameLocks noGrp="1"/>
          </p:cNvGraphicFramePr>
          <p:nvPr/>
        </p:nvGraphicFramePr>
        <p:xfrm>
          <a:off x="685800" y="1965960"/>
          <a:ext cx="10881360" cy="2926080"/>
        </p:xfrm>
        <a:graphic>
          <a:graphicData uri="http://schemas.openxmlformats.org/drawingml/2006/table">
            <a:tbl>
              <a:tblPr firstRow="1" bandRow="1">
                <a:tableStyleId>{5C22544A-7EE6-4342-B048-85BDC9FD1C3A}</a:tableStyleId>
              </a:tblPr>
              <a:tblGrid>
                <a:gridCol w="914400"/>
                <a:gridCol w="2834640"/>
                <a:gridCol w="1920240"/>
                <a:gridCol w="5212080"/>
              </a:tblGrid>
              <a:tr h="585216">
                <a:tc>
                  <a:txBody>
                    <a:bodyPr wrap="square"/>
                    <a:lstStyle/>
                    <a:p>
                      <a:pPr algn="l"/>
                      <a:r>
                        <a:rPr sz="1350" b="1">
                          <a:solidFill>
                            <a:srgbClr val="FFFFFF"/>
                          </a:solidFill>
                          <a:latin typeface="Calibri"/>
                        </a:rPr>
                        <a:t>Goal</a:t>
                      </a:r>
                    </a:p>
                  </a:txBody>
                  <a:tcPr anchor="ctr" marL="91440" marR="91440" marT="45720" marB="45720">
                    <a:solidFill>
                      <a:srgbClr val="0B0B0B"/>
                    </a:solidFill>
                  </a:tcPr>
                </a:tc>
                <a:tc>
                  <a:txBody>
                    <a:bodyPr wrap="square"/>
                    <a:lstStyle/>
                    <a:p>
                      <a:pPr algn="ctr"/>
                      <a:r>
                        <a:rPr sz="1350" b="1">
                          <a:solidFill>
                            <a:srgbClr val="FFFFFF"/>
                          </a:solidFill>
                          <a:latin typeface="Calibri"/>
                        </a:rPr>
                        <a:t>Property</a:t>
                      </a:r>
                    </a:p>
                  </a:txBody>
                  <a:tcPr anchor="ctr" marL="91440" marR="91440" marT="45720" marB="45720">
                    <a:solidFill>
                      <a:srgbClr val="0B0B0B"/>
                    </a:solidFill>
                  </a:tcPr>
                </a:tc>
                <a:tc>
                  <a:txBody>
                    <a:bodyPr wrap="square"/>
                    <a:lstStyle/>
                    <a:p>
                      <a:pPr algn="ctr"/>
                      <a:r>
                        <a:rPr sz="1350" b="1">
                          <a:solidFill>
                            <a:srgbClr val="FFFFFF"/>
                          </a:solidFill>
                          <a:latin typeface="Calibri"/>
                        </a:rPr>
                        <a:t>Status</a:t>
                      </a:r>
                    </a:p>
                  </a:txBody>
                  <a:tcPr anchor="ctr" marL="91440" marR="91440" marT="45720" marB="45720">
                    <a:solidFill>
                      <a:srgbClr val="0B0B0B"/>
                    </a:solidFill>
                  </a:tcPr>
                </a:tc>
                <a:tc>
                  <a:txBody>
                    <a:bodyPr wrap="square"/>
                    <a:lstStyle/>
                    <a:p>
                      <a:pPr algn="ctr"/>
                      <a:r>
                        <a:rPr sz="1350" b="1">
                          <a:solidFill>
                            <a:srgbClr val="FFFFFF"/>
                          </a:solidFill>
                          <a:latin typeface="Calibri"/>
                        </a:rPr>
                        <a:t>Evidence</a:t>
                      </a:r>
                    </a:p>
                  </a:txBody>
                  <a:tcPr anchor="ctr" marL="91440" marR="91440" marT="45720" marB="45720">
                    <a:solidFill>
                      <a:srgbClr val="0B0B0B"/>
                    </a:solidFill>
                  </a:tcPr>
                </a:tc>
              </a:tr>
              <a:tr h="585216">
                <a:tc>
                  <a:txBody>
                    <a:bodyPr wrap="square"/>
                    <a:lstStyle/>
                    <a:p>
                      <a:pPr algn="l"/>
                      <a:r>
                        <a:rPr sz="1250" b="0">
                          <a:solidFill>
                            <a:srgbClr val="0B0B0B"/>
                          </a:solidFill>
                          <a:latin typeface="Calibri"/>
                        </a:rPr>
                        <a:t>G1</a:t>
                      </a:r>
                    </a:p>
                  </a:txBody>
                  <a:tcPr anchor="ctr" marL="91440" marR="91440" marT="45720" marB="45720">
                    <a:solidFill>
                      <a:srgbClr val="FFFFFF"/>
                    </a:solidFill>
                  </a:tcPr>
                </a:tc>
                <a:tc>
                  <a:txBody>
                    <a:bodyPr wrap="square"/>
                    <a:lstStyle/>
                    <a:p>
                      <a:pPr algn="ctr"/>
                      <a:r>
                        <a:rPr sz="1250" b="0">
                          <a:solidFill>
                            <a:srgbClr val="0B0B0B"/>
                          </a:solidFill>
                          <a:latin typeface="Calibri"/>
                        </a:rPr>
                        <a:t>Freshness / Expiration</a:t>
                      </a:r>
                    </a:p>
                  </a:txBody>
                  <a:tcPr anchor="ctr" marL="91440" marR="91440" marT="45720" marB="45720">
                    <a:solidFill>
                      <a:srgbClr val="FFFFFF"/>
                    </a:solidFill>
                  </a:tcPr>
                </a:tc>
                <a:tc>
                  <a:txBody>
                    <a:bodyPr wrap="square"/>
                    <a:lstStyle/>
                    <a:p>
                      <a:pPr algn="ctr"/>
                      <a:r>
                        <a:rPr sz="1250" b="1">
                          <a:solidFill>
                            <a:srgbClr val="0CA30C"/>
                          </a:solidFill>
                          <a:latin typeface="Calibri"/>
                        </a:rPr>
                        <a:t>Achieved</a:t>
                      </a:r>
                    </a:p>
                  </a:txBody>
                  <a:tcPr anchor="ctr" marL="91440" marR="91440" marT="45720" marB="45720">
                    <a:solidFill>
                      <a:srgbClr val="FFFFFF"/>
                    </a:solidFill>
                  </a:tcPr>
                </a:tc>
                <a:tc>
                  <a:txBody>
                    <a:bodyPr wrap="square"/>
                    <a:lstStyle/>
                    <a:p>
                      <a:pPr algn="ctr"/>
                      <a:r>
                        <a:rPr sz="1250" b="0">
                          <a:solidFill>
                            <a:srgbClr val="0B0B0B"/>
                          </a:solidFill>
                          <a:latin typeface="Calibri"/>
                        </a:rPr>
                        <a:t>15.11s ± 0.06s intrinsic ≈ Δ + 0.11s</a:t>
                      </a:r>
                    </a:p>
                  </a:txBody>
                  <a:tcPr anchor="ctr" marL="91440" marR="91440" marT="45720" marB="45720">
                    <a:solidFill>
                      <a:srgbClr val="FFFFFF"/>
                    </a:solidFill>
                  </a:tcPr>
                </a:tc>
              </a:tr>
              <a:tr h="585216">
                <a:tc>
                  <a:txBody>
                    <a:bodyPr wrap="square"/>
                    <a:lstStyle/>
                    <a:p>
                      <a:pPr algn="l"/>
                      <a:r>
                        <a:rPr sz="1250" b="0">
                          <a:solidFill>
                            <a:srgbClr val="0B0B0B"/>
                          </a:solidFill>
                          <a:latin typeface="Calibri"/>
                        </a:rPr>
                        <a:t>G2</a:t>
                      </a:r>
                    </a:p>
                  </a:txBody>
                  <a:tcPr anchor="ctr" marL="91440" marR="91440" marT="45720" marB="45720">
                    <a:solidFill>
                      <a:srgbClr val="F0EFEC"/>
                    </a:solidFill>
                  </a:tcPr>
                </a:tc>
                <a:tc>
                  <a:txBody>
                    <a:bodyPr wrap="square"/>
                    <a:lstStyle/>
                    <a:p>
                      <a:pPr algn="ctr"/>
                      <a:r>
                        <a:rPr sz="1250" b="0">
                          <a:solidFill>
                            <a:srgbClr val="0B0B0B"/>
                          </a:solidFill>
                          <a:latin typeface="Calibri"/>
                        </a:rPr>
                        <a:t>Replay Resistance</a:t>
                      </a:r>
                    </a:p>
                  </a:txBody>
                  <a:tcPr anchor="ctr" marL="91440" marR="91440" marT="45720" marB="45720">
                    <a:solidFill>
                      <a:srgbClr val="F0EFEC"/>
                    </a:solidFill>
                  </a:tcPr>
                </a:tc>
                <a:tc>
                  <a:txBody>
                    <a:bodyPr wrap="square"/>
                    <a:lstStyle/>
                    <a:p>
                      <a:pPr algn="ctr"/>
                      <a:r>
                        <a:rPr sz="1250" b="1">
                          <a:solidFill>
                            <a:srgbClr val="0CA30C"/>
                          </a:solidFill>
                          <a:latin typeface="Calibri"/>
                        </a:rPr>
                        <a:t>Achieved</a:t>
                      </a:r>
                    </a:p>
                  </a:txBody>
                  <a:tcPr anchor="ctr" marL="91440" marR="91440" marT="45720" marB="45720">
                    <a:solidFill>
                      <a:srgbClr val="F0EFEC"/>
                    </a:solidFill>
                  </a:tcPr>
                </a:tc>
                <a:tc>
                  <a:txBody>
                    <a:bodyPr wrap="square"/>
                    <a:lstStyle/>
                    <a:p>
                      <a:pPr algn="ctr"/>
                      <a:r>
                        <a:rPr sz="1250" b="0">
                          <a:solidFill>
                            <a:srgbClr val="0B0B0B"/>
                          </a:solidFill>
                          <a:latin typeface="Calibri"/>
                        </a:rPr>
                        <a:t>Immediate rejection confirmed; window-bounded (documented)</a:t>
                      </a:r>
                    </a:p>
                  </a:txBody>
                  <a:tcPr anchor="ctr" marL="91440" marR="91440" marT="45720" marB="45720">
                    <a:solidFill>
                      <a:srgbClr val="F0EFEC"/>
                    </a:solidFill>
                  </a:tcPr>
                </a:tc>
              </a:tr>
              <a:tr h="585216">
                <a:tc>
                  <a:txBody>
                    <a:bodyPr wrap="square"/>
                    <a:lstStyle/>
                    <a:p>
                      <a:pPr algn="l"/>
                      <a:r>
                        <a:rPr sz="1250" b="0">
                          <a:solidFill>
                            <a:srgbClr val="0B0B0B"/>
                          </a:solidFill>
                          <a:latin typeface="Calibri"/>
                        </a:rPr>
                        <a:t>G3</a:t>
                      </a:r>
                    </a:p>
                  </a:txBody>
                  <a:tcPr anchor="ctr" marL="91440" marR="91440" marT="45720" marB="45720">
                    <a:solidFill>
                      <a:srgbClr val="FFFFFF"/>
                    </a:solidFill>
                  </a:tcPr>
                </a:tc>
                <a:tc>
                  <a:txBody>
                    <a:bodyPr wrap="square"/>
                    <a:lstStyle/>
                    <a:p>
                      <a:pPr algn="ctr"/>
                      <a:r>
                        <a:rPr sz="1250" b="0">
                          <a:solidFill>
                            <a:srgbClr val="0B0B0B"/>
                          </a:solidFill>
                          <a:latin typeface="Calibri"/>
                        </a:rPr>
                        <a:t>Relay-Bounded Auth</a:t>
                      </a:r>
                    </a:p>
                  </a:txBody>
                  <a:tcPr anchor="ctr" marL="91440" marR="91440" marT="45720" marB="45720">
                    <a:solidFill>
                      <a:srgbClr val="FFFFFF"/>
                    </a:solidFill>
                  </a:tcPr>
                </a:tc>
                <a:tc>
                  <a:txBody>
                    <a:bodyPr wrap="square"/>
                    <a:lstStyle/>
                    <a:p>
                      <a:pPr algn="ctr"/>
                      <a:r>
                        <a:rPr sz="1250" b="1">
                          <a:solidFill>
                            <a:srgbClr val="D03B3B"/>
                          </a:solidFill>
                          <a:latin typeface="Calibri"/>
                        </a:rPr>
                        <a:t>Not achieved</a:t>
                      </a:r>
                    </a:p>
                  </a:txBody>
                  <a:tcPr anchor="ctr" marL="91440" marR="91440" marT="45720" marB="45720">
                    <a:solidFill>
                      <a:srgbClr val="FFFFFF"/>
                    </a:solidFill>
                  </a:tcPr>
                </a:tc>
                <a:tc>
                  <a:txBody>
                    <a:bodyPr wrap="square"/>
                    <a:lstStyle/>
                    <a:p>
                      <a:pPr algn="ctr"/>
                      <a:r>
                        <a:rPr sz="1250" b="0">
                          <a:solidFill>
                            <a:srgbClr val="0B0B0B"/>
                          </a:solidFill>
                          <a:latin typeface="Calibri"/>
                        </a:rPr>
                        <a:t>Named limitation — no timing check on data path</a:t>
                      </a:r>
                    </a:p>
                  </a:txBody>
                  <a:tcPr anchor="ctr" marL="91440" marR="91440" marT="45720" marB="45720">
                    <a:solidFill>
                      <a:srgbClr val="FFFFFF"/>
                    </a:solidFill>
                  </a:tcPr>
                </a:tc>
              </a:tr>
              <a:tr h="585216">
                <a:tc>
                  <a:txBody>
                    <a:bodyPr wrap="square"/>
                    <a:lstStyle/>
                    <a:p>
                      <a:pPr algn="l"/>
                      <a:r>
                        <a:rPr sz="1250" b="0">
                          <a:solidFill>
                            <a:srgbClr val="0B0B0B"/>
                          </a:solidFill>
                          <a:latin typeface="Calibri"/>
                        </a:rPr>
                        <a:t>G4</a:t>
                      </a:r>
                    </a:p>
                  </a:txBody>
                  <a:tcPr anchor="ctr" marL="91440" marR="91440" marT="45720" marB="45720">
                    <a:solidFill>
                      <a:srgbClr val="F0EFEC"/>
                    </a:solidFill>
                  </a:tcPr>
                </a:tc>
                <a:tc>
                  <a:txBody>
                    <a:bodyPr wrap="square"/>
                    <a:lstStyle/>
                    <a:p>
                      <a:pPr algn="ctr"/>
                      <a:r>
                        <a:rPr sz="1250" b="0">
                          <a:solidFill>
                            <a:srgbClr val="0B0B0B"/>
                          </a:solidFill>
                          <a:latin typeface="Calibri"/>
                        </a:rPr>
                        <a:t>Revocation on Interruption</a:t>
                      </a:r>
                    </a:p>
                  </a:txBody>
                  <a:tcPr anchor="ctr" marL="91440" marR="91440" marT="45720" marB="45720">
                    <a:solidFill>
                      <a:srgbClr val="F0EFEC"/>
                    </a:solidFill>
                  </a:tcPr>
                </a:tc>
                <a:tc>
                  <a:txBody>
                    <a:bodyPr wrap="square"/>
                    <a:lstStyle/>
                    <a:p>
                      <a:pPr algn="ctr"/>
                      <a:r>
                        <a:rPr sz="1250" b="1">
                          <a:solidFill>
                            <a:srgbClr val="0CA30C"/>
                          </a:solidFill>
                          <a:latin typeface="Calibri"/>
                        </a:rPr>
                        <a:t>Achieved</a:t>
                      </a:r>
                    </a:p>
                  </a:txBody>
                  <a:tcPr anchor="ctr" marL="91440" marR="91440" marT="45720" marB="45720">
                    <a:solidFill>
                      <a:srgbClr val="F0EFEC"/>
                    </a:solidFill>
                  </a:tcPr>
                </a:tc>
                <a:tc>
                  <a:txBody>
                    <a:bodyPr wrap="square"/>
                    <a:lstStyle/>
                    <a:p>
                      <a:pPr algn="ctr"/>
                      <a:r>
                        <a:rPr sz="1250" b="0">
                          <a:solidFill>
                            <a:srgbClr val="0B0B0B"/>
                          </a:solidFill>
                          <a:latin typeface="Calibri"/>
                        </a:rPr>
                        <a:t>Follows directly from G1's measured latency</a:t>
                      </a:r>
                    </a:p>
                  </a:txBody>
                  <a:tcPr anchor="ctr" marL="91440" marR="91440" marT="45720" marB="45720">
                    <a:solidFill>
                      <a:srgbClr val="F0EFEC"/>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G3 — A Named Limitation, Not a Discovered Gap</a:t>
            </a:r>
          </a:p>
        </p:txBody>
      </p:sp>
      <p:sp>
        <p:nvSpPr>
          <p:cNvPr id="3" name="TextBox 2"/>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G1 bounds how long a captured, later-resent frame stays useful. G2 rejects a byte-identical resend outright.</a:t>
            </a:r>
          </a:p>
          <a:p>
            <a:pPr>
              <a:spcAft>
                <a:spcPts val="1100"/>
              </a:spcAft>
            </a:pPr>
            <a:r>
              <a:rPr sz="1700">
                <a:solidFill>
                  <a:srgbClr val="0B0B0B"/>
                </a:solidFill>
                <a:latin typeface="Calibri"/>
              </a:rPr>
              <a:t>●   Neither mechanism examines WHEN a frame arrived — only whether its nonce is fresh and previously unseen</a:t>
            </a:r>
          </a:p>
          <a:p>
            <a:pPr>
              <a:spcAft>
                <a:spcPts val="1100"/>
              </a:spcAft>
            </a:pPr>
            <a:r>
              <a:rPr sz="1700">
                <a:solidFill>
                  <a:srgbClr val="0B0B0B"/>
                </a:solidFill>
                <a:latin typeface="Calibri"/>
              </a:rPr>
              <a:t>●   A live relay forwarding genuinely fresh frames in real time passes every check the receiver performs:</a:t>
            </a:r>
          </a:p>
          <a:p>
            <a:pPr lvl="1">
              <a:spcAft>
                <a:spcPts val="700"/>
              </a:spcAft>
            </a:pPr>
            <a:r>
              <a:rPr sz="1450">
                <a:solidFill>
                  <a:srgbClr val="52514E"/>
                </a:solidFill>
                <a:latin typeface="Calibri"/>
              </a:rPr>
              <a:t>‒   Nonce never seen before → G2 passes</a:t>
            </a:r>
          </a:p>
          <a:p>
            <a:pPr lvl="1">
              <a:spcAft>
                <a:spcPts val="700"/>
              </a:spcAft>
            </a:pPr>
            <a:r>
              <a:rPr sz="1450">
                <a:solidFill>
                  <a:srgbClr val="52514E"/>
                </a:solidFill>
                <a:latin typeface="Calibri"/>
              </a:rPr>
              <a:t>‒   GCM tag valid, ciphertext untouched → confidentiality/integrity passes</a:t>
            </a:r>
          </a:p>
          <a:p>
            <a:pPr lvl="1">
              <a:spcAft>
                <a:spcPts val="700"/>
              </a:spcAft>
            </a:pPr>
            <a:r>
              <a:rPr sz="1450">
                <a:solidFill>
                  <a:srgbClr val="52514E"/>
                </a:solidFill>
                <a:latin typeface="Calibri"/>
              </a:rPr>
              <a:t>‒   t_last continuously refreshed by relayed-but-fresh frames → G1 passes</a:t>
            </a:r>
          </a:p>
          <a:p>
            <a:pPr>
              <a:spcAft>
                <a:spcPts val="1100"/>
              </a:spcAft>
            </a:pPr>
            <a:r>
              <a:rPr sz="1700">
                <a:solidFill>
                  <a:srgbClr val="0B0B0B"/>
                </a:solidFill>
                <a:latin typeface="Calibri"/>
              </a:rPr>
              <a:t>●   Verified directly in the receiver implementation: the LiFi data-frame path checks only CRC and byte-exact nonce identity — no timestamp, no round-trip bound</a:t>
            </a:r>
          </a:p>
          <a:p>
            <a:pPr>
              <a:spcAft>
                <a:spcPts val="1100"/>
              </a:spcAft>
            </a:pPr>
            <a:r>
              <a:rPr sz="1700">
                <a:solidFill>
                  <a:srgbClr val="0B0B0B"/>
                </a:solidFill>
                <a:latin typeface="Calibri"/>
              </a:rPr>
              <a:t>●   What closing this gap requires: a Brands–Chaum-style distance-bounding challenge-response, binding authorization to measured round-trip 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Limitations</a:t>
            </a:r>
          </a:p>
        </p:txBody>
      </p:sp>
      <p:sp>
        <p:nvSpPr>
          <p:cNvPr id="3" name="TextBox 2"/>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Line-of-sight requirement — dust, fog, or vibration can trigger unnecessary revocation if Δ is set aggressively</a:t>
            </a:r>
          </a:p>
          <a:p>
            <a:pPr>
              <a:spcAft>
                <a:spcPts val="1100"/>
              </a:spcAft>
            </a:pPr>
            <a:r>
              <a:rPr sz="1700">
                <a:solidFill>
                  <a:srgbClr val="0B0B0B"/>
                </a:solidFill>
                <a:latin typeface="Calibri"/>
              </a:rPr>
              <a:t>●   No relay resistance (G3) — a live relay of genuinely fresh frames passes every current check</a:t>
            </a:r>
          </a:p>
          <a:p>
            <a:pPr>
              <a:spcAft>
                <a:spcPts val="1100"/>
              </a:spcAft>
            </a:pPr>
            <a:r>
              <a:rPr sz="1700">
                <a:solidFill>
                  <a:srgbClr val="0B0B0B"/>
                </a:solidFill>
                <a:latin typeface="Calibri"/>
              </a:rPr>
              <a:t>●   Single-channel reception — four LED channels transmit, but only one photodiode receives</a:t>
            </a:r>
          </a:p>
          <a:p>
            <a:pPr>
              <a:spcAft>
                <a:spcPts val="1100"/>
              </a:spcAft>
            </a:pPr>
            <a:r>
              <a:rPr sz="1700">
                <a:solidFill>
                  <a:srgbClr val="0B0B0B"/>
                </a:solidFill>
                <a:latin typeface="Calibri"/>
              </a:rPr>
              <a:t>●   Ambient light sensitivity — partial mitigation via programmable DAC threshold, no full adaptive control yet</a:t>
            </a:r>
          </a:p>
          <a:p>
            <a:pPr>
              <a:spcAft>
                <a:spcPts val="1100"/>
              </a:spcAft>
            </a:pPr>
            <a:r>
              <a:rPr sz="1700">
                <a:solidFill>
                  <a:srgbClr val="0B0B0B"/>
                </a:solidFill>
                <a:latin typeface="Calibri"/>
              </a:rPr>
              <a:t>●   No hardware key protection — RP2040/RP2350 lack a TPM or secure element; keys are extractable with physical access + debugger</a:t>
            </a:r>
          </a:p>
          <a:p>
            <a:pPr>
              <a:spcAft>
                <a:spcPts val="1100"/>
              </a:spcAft>
            </a:pPr>
            <a:r>
              <a:rPr sz="1700">
                <a:solidFill>
                  <a:srgbClr val="0B0B0B"/>
                </a:solidFill>
                <a:latin typeface="Calibri"/>
              </a:rPr>
              <a:t>●   Revocation-latency measurements are pending re-confirmation against the on-device presence decision, ported after these numbers were collected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Future Work</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Ordered by priority — not a wish list</a:t>
            </a:r>
          </a:p>
        </p:txBody>
      </p:sp>
      <p:sp>
        <p:nvSpPr>
          <p:cNvPr id="4" name="TextBox 3"/>
          <p:cNvSpPr txBox="1"/>
          <p:nvPr/>
        </p:nvSpPr>
        <p:spPr>
          <a:xfrm>
            <a:off x="685800" y="1508760"/>
            <a:ext cx="5120640" cy="365760"/>
          </a:xfrm>
          <a:prstGeom prst="rect">
            <a:avLst/>
          </a:prstGeom>
          <a:noFill/>
        </p:spPr>
        <p:txBody>
          <a:bodyPr wrap="none">
            <a:spAutoFit/>
          </a:bodyPr>
          <a:lstStyle/>
          <a:p>
            <a:r>
              <a:rPr sz="1250" b="1">
                <a:solidFill>
                  <a:srgbClr val="D03B3B"/>
                </a:solidFill>
                <a:latin typeface="Calibri"/>
              </a:rPr>
              <a:t>CLOSES A GAP NAMED IN THIS TALK</a:t>
            </a:r>
          </a:p>
        </p:txBody>
      </p:sp>
      <p:sp>
        <p:nvSpPr>
          <p:cNvPr id="5" name="TextBox 4"/>
          <p:cNvSpPr txBox="1"/>
          <p:nvPr/>
        </p:nvSpPr>
        <p:spPr>
          <a:xfrm>
            <a:off x="685800" y="1874519"/>
            <a:ext cx="5120640" cy="4206240"/>
          </a:xfrm>
          <a:prstGeom prst="rect">
            <a:avLst/>
          </a:prstGeom>
          <a:noFill/>
        </p:spPr>
        <p:txBody>
          <a:bodyPr wrap="square">
            <a:spAutoFit/>
          </a:bodyPr>
          <a:lstStyle/>
          <a:p>
            <a:pPr>
              <a:spcAft>
                <a:spcPts val="1100"/>
              </a:spcAft>
            </a:pPr>
            <a:r>
              <a:rPr sz="1500">
                <a:solidFill>
                  <a:srgbClr val="0B0B0B"/>
                </a:solidFill>
                <a:latin typeface="Calibri"/>
              </a:rPr>
              <a:t>●   Distance-bounding challenge-response for G3 — measured 3–6ms processing latency suggests ample timing margin</a:t>
            </a:r>
          </a:p>
          <a:p>
            <a:pPr>
              <a:spcAft>
                <a:spcPts val="1100"/>
              </a:spcAft>
            </a:pPr>
            <a:r>
              <a:rPr sz="1500">
                <a:solidFill>
                  <a:srgbClr val="0B0B0B"/>
                </a:solidFill>
                <a:latin typeface="Calibri"/>
              </a:rPr>
              <a:t>●   Confirm revocation-latency measurements against the on-device presence decision (receiver_pico/src/main.c), not just the external monitor</a:t>
            </a:r>
          </a:p>
          <a:p>
            <a:pPr>
              <a:spcAft>
                <a:spcPts val="1100"/>
              </a:spcAft>
            </a:pPr>
            <a:r>
              <a:rPr sz="1500">
                <a:solidFill>
                  <a:srgbClr val="0B0B0B"/>
                </a:solidFill>
                <a:latin typeface="Calibri"/>
              </a:rPr>
              <a:t>●   Formal protocol verification (Tamarin / ProVerif) of G1–G4 — not yet attempted, explicitly scoped out</a:t>
            </a:r>
          </a:p>
          <a:p>
            <a:pPr>
              <a:spcAft>
                <a:spcPts val="1100"/>
              </a:spcAft>
            </a:pPr>
            <a:r>
              <a:rPr sz="1500">
                <a:solidFill>
                  <a:srgbClr val="0B0B0B"/>
                </a:solidFill>
                <a:latin typeface="Calibri"/>
              </a:rPr>
              <a:t>●   Time-bounded key validity enforcement — abs_validity/rel_validity fields exist but are not yet enforced</a:t>
            </a:r>
          </a:p>
        </p:txBody>
      </p:sp>
      <p:sp>
        <p:nvSpPr>
          <p:cNvPr id="6" name="TextBox 5"/>
          <p:cNvSpPr txBox="1"/>
          <p:nvPr/>
        </p:nvSpPr>
        <p:spPr>
          <a:xfrm>
            <a:off x="6355080" y="1508760"/>
            <a:ext cx="5120640" cy="365760"/>
          </a:xfrm>
          <a:prstGeom prst="rect">
            <a:avLst/>
          </a:prstGeom>
          <a:noFill/>
        </p:spPr>
        <p:txBody>
          <a:bodyPr wrap="none">
            <a:spAutoFit/>
          </a:bodyPr>
          <a:lstStyle/>
          <a:p>
            <a:r>
              <a:rPr sz="1250" b="1">
                <a:solidFill>
                  <a:srgbClr val="1BAF7A"/>
                </a:solidFill>
                <a:latin typeface="Calibri"/>
              </a:rPr>
              <a:t>EXTENDS THE SYSTEM</a:t>
            </a:r>
          </a:p>
        </p:txBody>
      </p:sp>
      <p:sp>
        <p:nvSpPr>
          <p:cNvPr id="7" name="TextBox 6"/>
          <p:cNvSpPr txBox="1"/>
          <p:nvPr/>
        </p:nvSpPr>
        <p:spPr>
          <a:xfrm>
            <a:off x="6355080" y="1874519"/>
            <a:ext cx="5120640" cy="4206240"/>
          </a:xfrm>
          <a:prstGeom prst="rect">
            <a:avLst/>
          </a:prstGeom>
          <a:noFill/>
        </p:spPr>
        <p:txBody>
          <a:bodyPr wrap="square">
            <a:spAutoFit/>
          </a:bodyPr>
          <a:lstStyle/>
          <a:p>
            <a:pPr>
              <a:spcAft>
                <a:spcPts val="1100"/>
              </a:spcAft>
            </a:pPr>
            <a:r>
              <a:rPr sz="1500">
                <a:solidFill>
                  <a:srgbClr val="0B0B0B"/>
                </a:solidFill>
                <a:latin typeface="Calibri"/>
              </a:rPr>
              <a:t>●   Higher data rates — 47kΩ/1pF feedback network targeting 2–4 Mbps</a:t>
            </a:r>
          </a:p>
          <a:p>
            <a:pPr>
              <a:spcAft>
                <a:spcPts val="1100"/>
              </a:spcAft>
            </a:pPr>
            <a:r>
              <a:rPr sz="1500">
                <a:solidFill>
                  <a:srgbClr val="0B0B0B"/>
                </a:solidFill>
                <a:latin typeface="Calibri"/>
              </a:rPr>
              <a:t>●   Optical concentration — collimating lenses (TX), CPC/Fresnel concentrators (RX) to extend range</a:t>
            </a:r>
          </a:p>
          <a:p>
            <a:pPr>
              <a:spcAft>
                <a:spcPts val="1100"/>
              </a:spcAft>
            </a:pPr>
            <a:r>
              <a:rPr sz="1500">
                <a:solidFill>
                  <a:srgbClr val="0B0B0B"/>
                </a:solidFill>
                <a:latin typeface="Calibri"/>
              </a:rPr>
              <a:t>●   Hardware key protection — TPM or secure element (e.g., ATECC608)</a:t>
            </a:r>
          </a:p>
          <a:p>
            <a:pPr>
              <a:spcAft>
                <a:spcPts val="1100"/>
              </a:spcAft>
            </a:pPr>
            <a:r>
              <a:rPr sz="1500">
                <a:solidFill>
                  <a:srgbClr val="0B0B0B"/>
                </a:solidFill>
                <a:latin typeface="Calibri"/>
              </a:rPr>
              <a:t>●   Robotic platform demonstration — 3pi+ integration already designed into the receiver PCB</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Contributions</a:t>
            </a:r>
          </a:p>
        </p:txBody>
      </p:sp>
      <p:sp>
        <p:nvSpPr>
          <p:cNvPr id="3" name="TextBox 2"/>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First system to formalize and evaluate continuous, time-bounded optical-presence authorization with automatic revocation</a:t>
            </a:r>
          </a:p>
          <a:p>
            <a:pPr>
              <a:spcAft>
                <a:spcPts val="1100"/>
              </a:spcAft>
            </a:pPr>
            <a:r>
              <a:rPr sz="1700">
                <a:solidFill>
                  <a:srgbClr val="0B0B0B"/>
                </a:solidFill>
                <a:latin typeface="Calibri"/>
              </a:rPr>
              <a:t>●   Working physical prototype: AES-128-GCM authenticated encryption at 1 Mbps over free-space optical, custom analog front-end</a:t>
            </a:r>
          </a:p>
          <a:p>
            <a:pPr>
              <a:spcAft>
                <a:spcPts val="1100"/>
              </a:spcAft>
            </a:pPr>
            <a:r>
              <a:rPr sz="1700">
                <a:solidFill>
                  <a:srgbClr val="0B0B0B"/>
                </a:solidFill>
                <a:latin typeface="Calibri"/>
              </a:rPr>
              <a:t>●   ~$82 total hardware cost — two orders of magnitude below commercial LiFi access-point pricing</a:t>
            </a:r>
          </a:p>
          <a:p>
            <a:pPr>
              <a:spcAft>
                <a:spcPts val="1100"/>
              </a:spcAft>
            </a:pPr>
            <a:r>
              <a:rPr sz="1700">
                <a:solidFill>
                  <a:srgbClr val="0B0B0B"/>
                </a:solidFill>
                <a:latin typeface="Calibri"/>
              </a:rPr>
              <a:t>●   G1 (freshness), G2 (replay resistance), and G4 (revocation on interruption) empirically demonstrated with real measured data</a:t>
            </a:r>
          </a:p>
          <a:p>
            <a:pPr>
              <a:spcAft>
                <a:spcPts val="1100"/>
              </a:spcAft>
            </a:pPr>
            <a:r>
              <a:rPr sz="1700">
                <a:solidFill>
                  <a:srgbClr val="0B0B0B"/>
                </a:solidFill>
                <a:latin typeface="Calibri"/>
              </a:rPr>
              <a:t>●   G3 (relay-bounded auth) reported as an explicit, named limitation — verified directly against the implementation, not inferred</a:t>
            </a:r>
          </a:p>
          <a:p>
            <a:pPr>
              <a:spcAft>
                <a:spcPts val="1100"/>
              </a:spcAft>
            </a:pPr>
            <a:r>
              <a:rPr sz="1700">
                <a:solidFill>
                  <a:srgbClr val="0B0B0B"/>
                </a:solidFill>
                <a:latin typeface="Calibri"/>
              </a:rPr>
              <a:t>●   Symbolic verification explicitly scoped as future work — stated openly, not left for a reviewer to find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32720" cy="1097280"/>
          </a:xfrm>
          <a:prstGeom prst="rect">
            <a:avLst/>
          </a:prstGeom>
          <a:noFill/>
        </p:spPr>
        <p:txBody>
          <a:bodyPr wrap="none">
            <a:spAutoFit/>
          </a:bodyPr>
          <a:lstStyle/>
          <a:p>
            <a:r>
              <a:rPr sz="4000" b="1">
                <a:solidFill>
                  <a:srgbClr val="FFFFFF"/>
                </a:solidFill>
                <a:latin typeface="Calibri"/>
              </a:rPr>
              <a:t>Thank you — Questions</a:t>
            </a:r>
          </a:p>
        </p:txBody>
      </p:sp>
      <p:sp>
        <p:nvSpPr>
          <p:cNvPr id="4" name="TextBox 3"/>
          <p:cNvSpPr txBox="1"/>
          <p:nvPr/>
        </p:nvSpPr>
        <p:spPr>
          <a:xfrm>
            <a:off x="914400" y="3429000"/>
            <a:ext cx="10332720" cy="1371600"/>
          </a:xfrm>
          <a:prstGeom prst="rect">
            <a:avLst/>
          </a:prstGeom>
          <a:noFill/>
        </p:spPr>
        <p:txBody>
          <a:bodyPr wrap="square">
            <a:spAutoFit/>
          </a:bodyPr>
          <a:lstStyle/>
          <a:p>
            <a:r>
              <a:rPr sz="1500">
                <a:solidFill>
                  <a:srgbClr val="C3C2B7"/>
                </a:solidFill>
                <a:latin typeface="Calibri"/>
              </a:rPr>
              <a:t>Jose Felix · KIM Labs, Arizona State University</a:t>
            </a:r>
          </a:p>
          <a:p>
            <a:r>
              <a:rPr sz="1300">
                <a:solidFill>
                  <a:srgbClr val="898781"/>
                </a:solidFill>
                <a:latin typeface="Calibri"/>
              </a:rPr>
              <a:t>github.com/asu-kim/lifi-auth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32720" cy="1097280"/>
          </a:xfrm>
          <a:prstGeom prst="rect">
            <a:avLst/>
          </a:prstGeom>
          <a:noFill/>
        </p:spPr>
        <p:txBody>
          <a:bodyPr wrap="none">
            <a:spAutoFit/>
          </a:bodyPr>
          <a:lstStyle/>
          <a:p>
            <a:r>
              <a:rPr sz="4000" b="1">
                <a:solidFill>
                  <a:srgbClr val="FFFFFF"/>
                </a:solidFill>
                <a:latin typeface="Calibri"/>
              </a:rPr>
              <a:t>Backup</a:t>
            </a:r>
          </a:p>
        </p:txBody>
      </p:sp>
      <p:sp>
        <p:nvSpPr>
          <p:cNvPr id="4" name="TextBox 3"/>
          <p:cNvSpPr txBox="1"/>
          <p:nvPr/>
        </p:nvSpPr>
        <p:spPr>
          <a:xfrm>
            <a:off x="914400" y="3566160"/>
            <a:ext cx="10332720" cy="640080"/>
          </a:xfrm>
          <a:prstGeom prst="rect">
            <a:avLst/>
          </a:prstGeom>
          <a:noFill/>
        </p:spPr>
        <p:txBody>
          <a:bodyPr wrap="none">
            <a:spAutoFit/>
          </a:bodyPr>
          <a:lstStyle/>
          <a:p>
            <a:r>
              <a:rPr sz="1500" i="1">
                <a:solidFill>
                  <a:srgbClr val="C3C2B7"/>
                </a:solidFill>
                <a:latin typeface="Calibri"/>
              </a:rPr>
              <a:t>Reference material — pull up on demand during Q&amp;A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Backup — Bill of Materials</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Verified DigiKey invoices #120241715, #121892487 — total ≈ $82</a:t>
            </a:r>
          </a:p>
        </p:txBody>
      </p:sp>
      <p:graphicFrame>
        <p:nvGraphicFramePr>
          <p:cNvPr id="4" name="Table 3"/>
          <p:cNvGraphicFramePr>
            <a:graphicFrameLocks noGrp="1"/>
          </p:cNvGraphicFramePr>
          <p:nvPr/>
        </p:nvGraphicFramePr>
        <p:xfrm>
          <a:off x="685800" y="1463040"/>
          <a:ext cx="10515600" cy="4663440"/>
        </p:xfrm>
        <a:graphic>
          <a:graphicData uri="http://schemas.openxmlformats.org/drawingml/2006/table">
            <a:tbl>
              <a:tblPr firstRow="1" bandRow="1">
                <a:tableStyleId>{5C22544A-7EE6-4342-B048-85BDC9FD1C3A}</a:tableStyleId>
              </a:tblPr>
              <a:tblGrid>
                <a:gridCol w="3200400"/>
                <a:gridCol w="5029200"/>
                <a:gridCol w="2286000"/>
              </a:tblGrid>
              <a:tr h="333102">
                <a:tc>
                  <a:txBody>
                    <a:bodyPr wrap="square"/>
                    <a:lstStyle/>
                    <a:p>
                      <a:pPr algn="l"/>
                      <a:r>
                        <a:rPr sz="1350" b="1">
                          <a:solidFill>
                            <a:srgbClr val="FFFFFF"/>
                          </a:solidFill>
                          <a:latin typeface="Calibri"/>
                        </a:rPr>
                        <a:t>Component</a:t>
                      </a:r>
                    </a:p>
                  </a:txBody>
                  <a:tcPr anchor="ctr" marL="91440" marR="91440" marT="45720" marB="45720">
                    <a:solidFill>
                      <a:srgbClr val="0B0B0B"/>
                    </a:solidFill>
                  </a:tcPr>
                </a:tc>
                <a:tc>
                  <a:txBody>
                    <a:bodyPr wrap="square"/>
                    <a:lstStyle/>
                    <a:p>
                      <a:pPr algn="ctr"/>
                      <a:r>
                        <a:rPr sz="1350" b="1">
                          <a:solidFill>
                            <a:srgbClr val="FFFFFF"/>
                          </a:solidFill>
                          <a:latin typeface="Calibri"/>
                        </a:rPr>
                        <a:t>Part Number</a:t>
                      </a:r>
                    </a:p>
                  </a:txBody>
                  <a:tcPr anchor="ctr" marL="91440" marR="91440" marT="45720" marB="45720">
                    <a:solidFill>
                      <a:srgbClr val="0B0B0B"/>
                    </a:solidFill>
                  </a:tcPr>
                </a:tc>
                <a:tc>
                  <a:txBody>
                    <a:bodyPr wrap="square"/>
                    <a:lstStyle/>
                    <a:p>
                      <a:pPr algn="ctr"/>
                      <a:r>
                        <a:rPr sz="1350" b="1">
                          <a:solidFill>
                            <a:srgbClr val="FFFFFF"/>
                          </a:solidFill>
                          <a:latin typeface="Calibri"/>
                        </a:rPr>
                        <a:t>Cost</a:t>
                      </a:r>
                    </a:p>
                  </a:txBody>
                  <a:tcPr anchor="ctr" marL="91440" marR="91440" marT="45720" marB="45720">
                    <a:solidFill>
                      <a:srgbClr val="0B0B0B"/>
                    </a:solidFill>
                  </a:tcPr>
                </a:tc>
              </a:tr>
              <a:tr h="333102">
                <a:tc>
                  <a:txBody>
                    <a:bodyPr wrap="square"/>
                    <a:lstStyle/>
                    <a:p>
                      <a:pPr algn="l"/>
                      <a:r>
                        <a:rPr sz="1250" b="0">
                          <a:solidFill>
                            <a:srgbClr val="0B0B0B"/>
                          </a:solidFill>
                          <a:latin typeface="Calibri"/>
                        </a:rPr>
                        <a:t>Sender MCU</a:t>
                      </a:r>
                    </a:p>
                  </a:txBody>
                  <a:tcPr anchor="ctr" marL="91440" marR="91440" marT="45720" marB="45720">
                    <a:solidFill>
                      <a:srgbClr val="FFFFFF"/>
                    </a:solidFill>
                  </a:tcPr>
                </a:tc>
                <a:tc>
                  <a:txBody>
                    <a:bodyPr wrap="square"/>
                    <a:lstStyle/>
                    <a:p>
                      <a:pPr algn="ctr"/>
                      <a:r>
                        <a:rPr sz="1250" b="0">
                          <a:solidFill>
                            <a:srgbClr val="0B0B0B"/>
                          </a:solidFill>
                          <a:latin typeface="Calibri"/>
                        </a:rPr>
                        <a:t>Pico H, RP2040</a:t>
                      </a:r>
                    </a:p>
                  </a:txBody>
                  <a:tcPr anchor="ctr" marL="91440" marR="91440" marT="45720" marB="45720">
                    <a:solidFill>
                      <a:srgbClr val="FFFFFF"/>
                    </a:solidFill>
                  </a:tcPr>
                </a:tc>
                <a:tc>
                  <a:txBody>
                    <a:bodyPr wrap="square"/>
                    <a:lstStyle/>
                    <a:p>
                      <a:pPr algn="ctr"/>
                      <a:r>
                        <a:rPr sz="1250" b="0">
                          <a:solidFill>
                            <a:srgbClr val="0B0B0B"/>
                          </a:solidFill>
                          <a:latin typeface="Calibri"/>
                        </a:rPr>
                        <a:t>$5.00</a:t>
                      </a:r>
                    </a:p>
                  </a:txBody>
                  <a:tcPr anchor="ctr" marL="91440" marR="91440" marT="45720" marB="45720">
                    <a:solidFill>
                      <a:srgbClr val="FFFFFF"/>
                    </a:solidFill>
                  </a:tcPr>
                </a:tc>
              </a:tr>
              <a:tr h="333102">
                <a:tc>
                  <a:txBody>
                    <a:bodyPr wrap="square"/>
                    <a:lstStyle/>
                    <a:p>
                      <a:pPr algn="l"/>
                      <a:r>
                        <a:rPr sz="1250" b="0">
                          <a:solidFill>
                            <a:srgbClr val="0B0B0B"/>
                          </a:solidFill>
                          <a:latin typeface="Calibri"/>
                        </a:rPr>
                        <a:t>Gate Driver ×4</a:t>
                      </a:r>
                    </a:p>
                  </a:txBody>
                  <a:tcPr anchor="ctr" marL="91440" marR="91440" marT="45720" marB="45720">
                    <a:solidFill>
                      <a:srgbClr val="F0EFEC"/>
                    </a:solidFill>
                  </a:tcPr>
                </a:tc>
                <a:tc>
                  <a:txBody>
                    <a:bodyPr wrap="square"/>
                    <a:lstStyle/>
                    <a:p>
                      <a:pPr algn="ctr"/>
                      <a:r>
                        <a:rPr sz="1250" b="0">
                          <a:solidFill>
                            <a:srgbClr val="0B0B0B"/>
                          </a:solidFill>
                          <a:latin typeface="Calibri"/>
                        </a:rPr>
                        <a:t>TC4420COA</a:t>
                      </a:r>
                    </a:p>
                  </a:txBody>
                  <a:tcPr anchor="ctr" marL="91440" marR="91440" marT="45720" marB="45720">
                    <a:solidFill>
                      <a:srgbClr val="F0EFEC"/>
                    </a:solidFill>
                  </a:tcPr>
                </a:tc>
                <a:tc>
                  <a:txBody>
                    <a:bodyPr wrap="square"/>
                    <a:lstStyle/>
                    <a:p>
                      <a:pPr algn="ctr"/>
                      <a:r>
                        <a:rPr sz="1250" b="0">
                          <a:solidFill>
                            <a:srgbClr val="0B0B0B"/>
                          </a:solidFill>
                          <a:latin typeface="Calibri"/>
                        </a:rPr>
                        <a:t>$1.80 ea.</a:t>
                      </a:r>
                    </a:p>
                  </a:txBody>
                  <a:tcPr anchor="ctr" marL="91440" marR="91440" marT="45720" marB="45720">
                    <a:solidFill>
                      <a:srgbClr val="F0EFEC"/>
                    </a:solidFill>
                  </a:tcPr>
                </a:tc>
              </a:tr>
              <a:tr h="333102">
                <a:tc>
                  <a:txBody>
                    <a:bodyPr wrap="square"/>
                    <a:lstStyle/>
                    <a:p>
                      <a:pPr algn="l"/>
                      <a:r>
                        <a:rPr sz="1250" b="0">
                          <a:solidFill>
                            <a:srgbClr val="0B0B0B"/>
                          </a:solidFill>
                          <a:latin typeface="Calibri"/>
                        </a:rPr>
                        <a:t>MOSFET ×4</a:t>
                      </a:r>
                    </a:p>
                  </a:txBody>
                  <a:tcPr anchor="ctr" marL="91440" marR="91440" marT="45720" marB="45720">
                    <a:solidFill>
                      <a:srgbClr val="FFFFFF"/>
                    </a:solidFill>
                  </a:tcPr>
                </a:tc>
                <a:tc>
                  <a:txBody>
                    <a:bodyPr wrap="square"/>
                    <a:lstStyle/>
                    <a:p>
                      <a:pPr algn="ctr"/>
                      <a:r>
                        <a:rPr sz="1250" b="0">
                          <a:solidFill>
                            <a:srgbClr val="0B0B0B"/>
                          </a:solidFill>
                          <a:latin typeface="Calibri"/>
                        </a:rPr>
                        <a:t>SIR800DP-T1-GE3</a:t>
                      </a:r>
                    </a:p>
                  </a:txBody>
                  <a:tcPr anchor="ctr" marL="91440" marR="91440" marT="45720" marB="45720">
                    <a:solidFill>
                      <a:srgbClr val="FFFFFF"/>
                    </a:solidFill>
                  </a:tcPr>
                </a:tc>
                <a:tc>
                  <a:txBody>
                    <a:bodyPr wrap="square"/>
                    <a:lstStyle/>
                    <a:p>
                      <a:pPr algn="ctr"/>
                      <a:r>
                        <a:rPr sz="1250" b="0">
                          <a:solidFill>
                            <a:srgbClr val="0B0B0B"/>
                          </a:solidFill>
                          <a:latin typeface="Calibri"/>
                        </a:rPr>
                        <a:t>$0.88 ea.</a:t>
                      </a:r>
                    </a:p>
                  </a:txBody>
                  <a:tcPr anchor="ctr" marL="91440" marR="91440" marT="45720" marB="45720">
                    <a:solidFill>
                      <a:srgbClr val="FFFFFF"/>
                    </a:solidFill>
                  </a:tcPr>
                </a:tc>
              </a:tr>
              <a:tr h="333102">
                <a:tc>
                  <a:txBody>
                    <a:bodyPr wrap="square"/>
                    <a:lstStyle/>
                    <a:p>
                      <a:pPr algn="l"/>
                      <a:r>
                        <a:rPr sz="1250" b="0">
                          <a:solidFill>
                            <a:srgbClr val="0B0B0B"/>
                          </a:solidFill>
                          <a:latin typeface="Calibri"/>
                        </a:rPr>
                        <a:t>DC-DC Module</a:t>
                      </a:r>
                    </a:p>
                  </a:txBody>
                  <a:tcPr anchor="ctr" marL="91440" marR="91440" marT="45720" marB="45720">
                    <a:solidFill>
                      <a:srgbClr val="F0EFEC"/>
                    </a:solidFill>
                  </a:tcPr>
                </a:tc>
                <a:tc>
                  <a:txBody>
                    <a:bodyPr wrap="square"/>
                    <a:lstStyle/>
                    <a:p>
                      <a:pPr algn="ctr"/>
                      <a:r>
                        <a:rPr sz="1250" b="0">
                          <a:solidFill>
                            <a:srgbClr val="0B0B0B"/>
                          </a:solidFill>
                          <a:latin typeface="Calibri"/>
                        </a:rPr>
                        <a:t>PTN78000WAH (12V→5V)</a:t>
                      </a:r>
                    </a:p>
                  </a:txBody>
                  <a:tcPr anchor="ctr" marL="91440" marR="91440" marT="45720" marB="45720">
                    <a:solidFill>
                      <a:srgbClr val="F0EFEC"/>
                    </a:solidFill>
                  </a:tcPr>
                </a:tc>
                <a:tc>
                  <a:txBody>
                    <a:bodyPr wrap="square"/>
                    <a:lstStyle/>
                    <a:p>
                      <a:pPr algn="ctr"/>
                      <a:r>
                        <a:rPr sz="1250" b="0">
                          <a:solidFill>
                            <a:srgbClr val="0B0B0B"/>
                          </a:solidFill>
                          <a:latin typeface="Calibri"/>
                        </a:rPr>
                        <a:t>$24.58</a:t>
                      </a:r>
                    </a:p>
                  </a:txBody>
                  <a:tcPr anchor="ctr" marL="91440" marR="91440" marT="45720" marB="45720">
                    <a:solidFill>
                      <a:srgbClr val="F0EFEC"/>
                    </a:solidFill>
                  </a:tcPr>
                </a:tc>
              </a:tr>
              <a:tr h="333102">
                <a:tc>
                  <a:txBody>
                    <a:bodyPr wrap="square"/>
                    <a:lstStyle/>
                    <a:p>
                      <a:pPr algn="l"/>
                      <a:r>
                        <a:rPr sz="1250" b="0">
                          <a:solidFill>
                            <a:srgbClr val="0B0B0B"/>
                          </a:solidFill>
                          <a:latin typeface="Calibri"/>
                        </a:rPr>
                        <a:t>LED Array</a:t>
                      </a:r>
                    </a:p>
                  </a:txBody>
                  <a:tcPr anchor="ctr" marL="91440" marR="91440" marT="45720" marB="45720">
                    <a:solidFill>
                      <a:srgbClr val="FFFFFF"/>
                    </a:solidFill>
                  </a:tcPr>
                </a:tc>
                <a:tc>
                  <a:txBody>
                    <a:bodyPr wrap="square"/>
                    <a:lstStyle/>
                    <a:p>
                      <a:pPr algn="ctr"/>
                      <a:r>
                        <a:rPr sz="1250" b="0">
                          <a:solidFill>
                            <a:srgbClr val="0B0B0B"/>
                          </a:solidFill>
                          <a:latin typeface="Calibri"/>
                        </a:rPr>
                        <a:t>SFH 4715A-CBDB</a:t>
                      </a:r>
                    </a:p>
                  </a:txBody>
                  <a:tcPr anchor="ctr" marL="91440" marR="91440" marT="45720" marB="45720">
                    <a:solidFill>
                      <a:srgbClr val="FFFFFF"/>
                    </a:solidFill>
                  </a:tcPr>
                </a:tc>
                <a:tc>
                  <a:txBody>
                    <a:bodyPr wrap="square"/>
                    <a:lstStyle/>
                    <a:p>
                      <a:pPr algn="ctr"/>
                      <a:r>
                        <a:rPr sz="1250" b="0">
                          <a:solidFill>
                            <a:srgbClr val="0B0B0B"/>
                          </a:solidFill>
                          <a:latin typeface="Calibri"/>
                        </a:rPr>
                        <a:t>$2.50</a:t>
                      </a:r>
                    </a:p>
                  </a:txBody>
                  <a:tcPr anchor="ctr" marL="91440" marR="91440" marT="45720" marB="45720">
                    <a:solidFill>
                      <a:srgbClr val="FFFFFF"/>
                    </a:solidFill>
                  </a:tcPr>
                </a:tc>
              </a:tr>
              <a:tr h="333102">
                <a:tc>
                  <a:txBody>
                    <a:bodyPr wrap="square"/>
                    <a:lstStyle/>
                    <a:p>
                      <a:pPr algn="l"/>
                      <a:r>
                        <a:rPr sz="1250" b="0">
                          <a:solidFill>
                            <a:srgbClr val="0B0B0B"/>
                          </a:solidFill>
                          <a:latin typeface="Calibri"/>
                        </a:rPr>
                        <a:t>Receiver MCU</a:t>
                      </a:r>
                    </a:p>
                  </a:txBody>
                  <a:tcPr anchor="ctr" marL="91440" marR="91440" marT="45720" marB="45720">
                    <a:solidFill>
                      <a:srgbClr val="F0EFEC"/>
                    </a:solidFill>
                  </a:tcPr>
                </a:tc>
                <a:tc>
                  <a:txBody>
                    <a:bodyPr wrap="square"/>
                    <a:lstStyle/>
                    <a:p>
                      <a:pPr algn="ctr"/>
                      <a:r>
                        <a:rPr sz="1250" b="0">
                          <a:solidFill>
                            <a:srgbClr val="0B0B0B"/>
                          </a:solidFill>
                          <a:latin typeface="Calibri"/>
                        </a:rPr>
                        <a:t>Pico 2 H, RP2350</a:t>
                      </a:r>
                    </a:p>
                  </a:txBody>
                  <a:tcPr anchor="ctr" marL="91440" marR="91440" marT="45720" marB="45720">
                    <a:solidFill>
                      <a:srgbClr val="F0EFEC"/>
                    </a:solidFill>
                  </a:tcPr>
                </a:tc>
                <a:tc>
                  <a:txBody>
                    <a:bodyPr wrap="square"/>
                    <a:lstStyle/>
                    <a:p>
                      <a:pPr algn="ctr"/>
                      <a:r>
                        <a:rPr sz="1250" b="0">
                          <a:solidFill>
                            <a:srgbClr val="0B0B0B"/>
                          </a:solidFill>
                          <a:latin typeface="Calibri"/>
                        </a:rPr>
                        <a:t>$6.00</a:t>
                      </a:r>
                    </a:p>
                  </a:txBody>
                  <a:tcPr anchor="ctr" marL="91440" marR="91440" marT="45720" marB="45720">
                    <a:solidFill>
                      <a:srgbClr val="F0EFEC"/>
                    </a:solidFill>
                  </a:tcPr>
                </a:tc>
              </a:tr>
              <a:tr h="333102">
                <a:tc>
                  <a:txBody>
                    <a:bodyPr wrap="square"/>
                    <a:lstStyle/>
                    <a:p>
                      <a:pPr algn="l"/>
                      <a:r>
                        <a:rPr sz="1250" b="0">
                          <a:solidFill>
                            <a:srgbClr val="0B0B0B"/>
                          </a:solidFill>
                          <a:latin typeface="Calibri"/>
                        </a:rPr>
                        <a:t>TIA</a:t>
                      </a:r>
                    </a:p>
                  </a:txBody>
                  <a:tcPr anchor="ctr" marL="91440" marR="91440" marT="45720" marB="45720">
                    <a:solidFill>
                      <a:srgbClr val="FFFFFF"/>
                    </a:solidFill>
                  </a:tcPr>
                </a:tc>
                <a:tc>
                  <a:txBody>
                    <a:bodyPr wrap="square"/>
                    <a:lstStyle/>
                    <a:p>
                      <a:pPr algn="ctr"/>
                      <a:r>
                        <a:rPr sz="1250" b="0">
                          <a:solidFill>
                            <a:srgbClr val="0B0B0B"/>
                          </a:solidFill>
                          <a:latin typeface="Calibri"/>
                        </a:rPr>
                        <a:t>OPA381AIDGKT</a:t>
                      </a:r>
                    </a:p>
                  </a:txBody>
                  <a:tcPr anchor="ctr" marL="91440" marR="91440" marT="45720" marB="45720">
                    <a:solidFill>
                      <a:srgbClr val="FFFFFF"/>
                    </a:solidFill>
                  </a:tcPr>
                </a:tc>
                <a:tc>
                  <a:txBody>
                    <a:bodyPr wrap="square"/>
                    <a:lstStyle/>
                    <a:p>
                      <a:pPr algn="ctr"/>
                      <a:r>
                        <a:rPr sz="1250" b="0">
                          <a:solidFill>
                            <a:srgbClr val="0B0B0B"/>
                          </a:solidFill>
                          <a:latin typeface="Calibri"/>
                        </a:rPr>
                        <a:t>$2.93</a:t>
                      </a:r>
                    </a:p>
                  </a:txBody>
                  <a:tcPr anchor="ctr" marL="91440" marR="91440" marT="45720" marB="45720">
                    <a:solidFill>
                      <a:srgbClr val="FFFFFF"/>
                    </a:solidFill>
                  </a:tcPr>
                </a:tc>
              </a:tr>
              <a:tr h="333102">
                <a:tc>
                  <a:txBody>
                    <a:bodyPr wrap="square"/>
                    <a:lstStyle/>
                    <a:p>
                      <a:pPr algn="l"/>
                      <a:r>
                        <a:rPr sz="1250" b="0">
                          <a:solidFill>
                            <a:srgbClr val="0B0B0B"/>
                          </a:solidFill>
                          <a:latin typeface="Calibri"/>
                        </a:rPr>
                        <a:t>Photodiode</a:t>
                      </a:r>
                    </a:p>
                  </a:txBody>
                  <a:tcPr anchor="ctr" marL="91440" marR="91440" marT="45720" marB="45720">
                    <a:solidFill>
                      <a:srgbClr val="F0EFEC"/>
                    </a:solidFill>
                  </a:tcPr>
                </a:tc>
                <a:tc>
                  <a:txBody>
                    <a:bodyPr wrap="square"/>
                    <a:lstStyle/>
                    <a:p>
                      <a:pPr algn="ctr"/>
                      <a:r>
                        <a:rPr sz="1250" b="0">
                          <a:solidFill>
                            <a:srgbClr val="0B0B0B"/>
                          </a:solidFill>
                          <a:latin typeface="Calibri"/>
                        </a:rPr>
                        <a:t>SFH 2400-Z</a:t>
                      </a:r>
                    </a:p>
                  </a:txBody>
                  <a:tcPr anchor="ctr" marL="91440" marR="91440" marT="45720" marB="45720">
                    <a:solidFill>
                      <a:srgbClr val="F0EFEC"/>
                    </a:solidFill>
                  </a:tcPr>
                </a:tc>
                <a:tc>
                  <a:txBody>
                    <a:bodyPr wrap="square"/>
                    <a:lstStyle/>
                    <a:p>
                      <a:pPr algn="ctr"/>
                      <a:r>
                        <a:rPr sz="1250" b="0">
                          <a:solidFill>
                            <a:srgbClr val="0B0B0B"/>
                          </a:solidFill>
                          <a:latin typeface="Calibri"/>
                        </a:rPr>
                        <a:t>$0.79</a:t>
                      </a:r>
                    </a:p>
                  </a:txBody>
                  <a:tcPr anchor="ctr" marL="91440" marR="91440" marT="45720" marB="45720">
                    <a:solidFill>
                      <a:srgbClr val="F0EFEC"/>
                    </a:solidFill>
                  </a:tcPr>
                </a:tc>
              </a:tr>
              <a:tr h="333102">
                <a:tc>
                  <a:txBody>
                    <a:bodyPr wrap="square"/>
                    <a:lstStyle/>
                    <a:p>
                      <a:pPr algn="l"/>
                      <a:r>
                        <a:rPr sz="1250" b="0">
                          <a:solidFill>
                            <a:srgbClr val="0B0B0B"/>
                          </a:solidFill>
                          <a:latin typeface="Calibri"/>
                        </a:rPr>
                        <a:t>Comparator</a:t>
                      </a:r>
                    </a:p>
                  </a:txBody>
                  <a:tcPr anchor="ctr" marL="91440" marR="91440" marT="45720" marB="45720">
                    <a:solidFill>
                      <a:srgbClr val="FFFFFF"/>
                    </a:solidFill>
                  </a:tcPr>
                </a:tc>
                <a:tc>
                  <a:txBody>
                    <a:bodyPr wrap="square"/>
                    <a:lstStyle/>
                    <a:p>
                      <a:pPr algn="ctr"/>
                      <a:r>
                        <a:rPr sz="1250" b="0">
                          <a:solidFill>
                            <a:srgbClr val="0B0B0B"/>
                          </a:solidFill>
                          <a:latin typeface="Calibri"/>
                        </a:rPr>
                        <a:t>TLV3501AIDBVR</a:t>
                      </a:r>
                    </a:p>
                  </a:txBody>
                  <a:tcPr anchor="ctr" marL="91440" marR="91440" marT="45720" marB="45720">
                    <a:solidFill>
                      <a:srgbClr val="FFFFFF"/>
                    </a:solidFill>
                  </a:tcPr>
                </a:tc>
                <a:tc>
                  <a:txBody>
                    <a:bodyPr wrap="square"/>
                    <a:lstStyle/>
                    <a:p>
                      <a:pPr algn="ctr"/>
                      <a:r>
                        <a:rPr sz="1250" b="0">
                          <a:solidFill>
                            <a:srgbClr val="0B0B0B"/>
                          </a:solidFill>
                          <a:latin typeface="Calibri"/>
                        </a:rPr>
                        <a:t>$2.64</a:t>
                      </a:r>
                    </a:p>
                  </a:txBody>
                  <a:tcPr anchor="ctr" marL="91440" marR="91440" marT="45720" marB="45720">
                    <a:solidFill>
                      <a:srgbClr val="FFFFFF"/>
                    </a:solidFill>
                  </a:tcPr>
                </a:tc>
              </a:tr>
              <a:tr h="333102">
                <a:tc>
                  <a:txBody>
                    <a:bodyPr wrap="square"/>
                    <a:lstStyle/>
                    <a:p>
                      <a:pPr algn="l"/>
                      <a:r>
                        <a:rPr sz="1250" b="0">
                          <a:solidFill>
                            <a:srgbClr val="0B0B0B"/>
                          </a:solidFill>
                          <a:latin typeface="Calibri"/>
                        </a:rPr>
                        <a:t>DAC</a:t>
                      </a:r>
                    </a:p>
                  </a:txBody>
                  <a:tcPr anchor="ctr" marL="91440" marR="91440" marT="45720" marB="45720">
                    <a:solidFill>
                      <a:srgbClr val="F0EFEC"/>
                    </a:solidFill>
                  </a:tcPr>
                </a:tc>
                <a:tc>
                  <a:txBody>
                    <a:bodyPr wrap="square"/>
                    <a:lstStyle/>
                    <a:p>
                      <a:pPr algn="ctr"/>
                      <a:r>
                        <a:rPr sz="1250" b="0">
                          <a:solidFill>
                            <a:srgbClr val="0B0B0B"/>
                          </a:solidFill>
                          <a:latin typeface="Calibri"/>
                        </a:rPr>
                        <a:t>MCP4725A1T-E/CH</a:t>
                      </a:r>
                    </a:p>
                  </a:txBody>
                  <a:tcPr anchor="ctr" marL="91440" marR="91440" marT="45720" marB="45720">
                    <a:solidFill>
                      <a:srgbClr val="F0EFEC"/>
                    </a:solidFill>
                  </a:tcPr>
                </a:tc>
                <a:tc>
                  <a:txBody>
                    <a:bodyPr wrap="square"/>
                    <a:lstStyle/>
                    <a:p>
                      <a:pPr algn="ctr"/>
                      <a:r>
                        <a:rPr sz="1250" b="0">
                          <a:solidFill>
                            <a:srgbClr val="0B0B0B"/>
                          </a:solidFill>
                          <a:latin typeface="Calibri"/>
                        </a:rPr>
                        <a:t>$1.27</a:t>
                      </a:r>
                    </a:p>
                  </a:txBody>
                  <a:tcPr anchor="ctr" marL="91440" marR="91440" marT="45720" marB="45720">
                    <a:solidFill>
                      <a:srgbClr val="F0EFEC"/>
                    </a:solidFill>
                  </a:tcPr>
                </a:tc>
              </a:tr>
              <a:tr h="333102">
                <a:tc>
                  <a:txBody>
                    <a:bodyPr wrap="square"/>
                    <a:lstStyle/>
                    <a:p>
                      <a:pPr algn="l"/>
                      <a:r>
                        <a:rPr sz="1250" b="0">
                          <a:solidFill>
                            <a:srgbClr val="0B0B0B"/>
                          </a:solidFill>
                          <a:latin typeface="Calibri"/>
                        </a:rPr>
                        <a:t>LiPo Charger</a:t>
                      </a:r>
                    </a:p>
                  </a:txBody>
                  <a:tcPr anchor="ctr" marL="91440" marR="91440" marT="45720" marB="45720">
                    <a:solidFill>
                      <a:srgbClr val="FFFFFF"/>
                    </a:solidFill>
                  </a:tcPr>
                </a:tc>
                <a:tc>
                  <a:txBody>
                    <a:bodyPr wrap="square"/>
                    <a:lstStyle/>
                    <a:p>
                      <a:pPr algn="ctr"/>
                      <a:r>
                        <a:rPr sz="1250" b="0">
                          <a:solidFill>
                            <a:srgbClr val="0B0B0B"/>
                          </a:solidFill>
                          <a:latin typeface="Calibri"/>
                        </a:rPr>
                        <a:t>BQ24074RGTR</a:t>
                      </a:r>
                    </a:p>
                  </a:txBody>
                  <a:tcPr anchor="ctr" marL="91440" marR="91440" marT="45720" marB="45720">
                    <a:solidFill>
                      <a:srgbClr val="FFFFFF"/>
                    </a:solidFill>
                  </a:tcPr>
                </a:tc>
                <a:tc>
                  <a:txBody>
                    <a:bodyPr wrap="square"/>
                    <a:lstStyle/>
                    <a:p>
                      <a:pPr algn="ctr"/>
                      <a:r>
                        <a:rPr sz="1250" b="0">
                          <a:solidFill>
                            <a:srgbClr val="0B0B0B"/>
                          </a:solidFill>
                          <a:latin typeface="Calibri"/>
                        </a:rPr>
                        <a:t>$2.50</a:t>
                      </a:r>
                    </a:p>
                  </a:txBody>
                  <a:tcPr anchor="ctr" marL="91440" marR="91440" marT="45720" marB="45720">
                    <a:solidFill>
                      <a:srgbClr val="FFFFFF"/>
                    </a:solidFill>
                  </a:tcPr>
                </a:tc>
              </a:tr>
              <a:tr h="333102">
                <a:tc>
                  <a:txBody>
                    <a:bodyPr wrap="square"/>
                    <a:lstStyle/>
                    <a:p>
                      <a:pPr algn="l"/>
                      <a:r>
                        <a:rPr sz="1250" b="0">
                          <a:solidFill>
                            <a:srgbClr val="0B0B0B"/>
                          </a:solidFill>
                          <a:latin typeface="Calibri"/>
                        </a:rPr>
                        <a:t>Buck-Boost Reg.</a:t>
                      </a:r>
                    </a:p>
                  </a:txBody>
                  <a:tcPr anchor="ctr" marL="91440" marR="91440" marT="45720" marB="45720">
                    <a:solidFill>
                      <a:srgbClr val="F0EFEC"/>
                    </a:solidFill>
                  </a:tcPr>
                </a:tc>
                <a:tc>
                  <a:txBody>
                    <a:bodyPr wrap="square"/>
                    <a:lstStyle/>
                    <a:p>
                      <a:pPr algn="ctr"/>
                      <a:r>
                        <a:rPr sz="1250" b="0">
                          <a:solidFill>
                            <a:srgbClr val="0B0B0B"/>
                          </a:solidFill>
                          <a:latin typeface="Calibri"/>
                        </a:rPr>
                        <a:t>TPS63031DSKR</a:t>
                      </a:r>
                    </a:p>
                  </a:txBody>
                  <a:tcPr anchor="ctr" marL="91440" marR="91440" marT="45720" marB="45720">
                    <a:solidFill>
                      <a:srgbClr val="F0EFEC"/>
                    </a:solidFill>
                  </a:tcPr>
                </a:tc>
                <a:tc>
                  <a:txBody>
                    <a:bodyPr wrap="square"/>
                    <a:lstStyle/>
                    <a:p>
                      <a:pPr algn="ctr"/>
                      <a:r>
                        <a:rPr sz="1250" b="0">
                          <a:solidFill>
                            <a:srgbClr val="0B0B0B"/>
                          </a:solidFill>
                          <a:latin typeface="Calibri"/>
                        </a:rPr>
                        <a:t>$2.14</a:t>
                      </a:r>
                    </a:p>
                  </a:txBody>
                  <a:tcPr anchor="ctr" marL="91440" marR="91440" marT="45720" marB="45720">
                    <a:solidFill>
                      <a:srgbClr val="F0EFEC"/>
                    </a:solidFill>
                  </a:tcPr>
                </a:tc>
              </a:tr>
              <a:tr h="333114">
                <a:tc>
                  <a:txBody>
                    <a:bodyPr wrap="square"/>
                    <a:lstStyle/>
                    <a:p>
                      <a:pPr algn="l"/>
                      <a:r>
                        <a:rPr sz="1250" b="0">
                          <a:solidFill>
                            <a:srgbClr val="0B0B0B"/>
                          </a:solidFill>
                          <a:latin typeface="Calibri"/>
                        </a:rPr>
                        <a:t>Passives, PCBs (×2)</a:t>
                      </a:r>
                    </a:p>
                  </a:txBody>
                  <a:tcPr anchor="ctr" marL="91440" marR="91440" marT="45720" marB="45720">
                    <a:solidFill>
                      <a:srgbClr val="FFFFFF"/>
                    </a:solidFill>
                  </a:tcPr>
                </a:tc>
                <a:tc>
                  <a:txBody>
                    <a:bodyPr wrap="square"/>
                    <a:lstStyle/>
                    <a:p>
                      <a:pPr algn="ctr"/>
                      <a:r>
                        <a:rPr sz="1250" b="0">
                          <a:solidFill>
                            <a:srgbClr val="0B0B0B"/>
                          </a:solidFill>
                          <a:latin typeface="Calibri"/>
                        </a:rPr>
                        <a:t>R/C/fuses/JST + fab</a:t>
                      </a:r>
                    </a:p>
                  </a:txBody>
                  <a:tcPr anchor="ctr" marL="91440" marR="91440" marT="45720" marB="45720">
                    <a:solidFill>
                      <a:srgbClr val="FFFFFF"/>
                    </a:solidFill>
                  </a:tcPr>
                </a:tc>
                <a:tc>
                  <a:txBody>
                    <a:bodyPr wrap="square"/>
                    <a:lstStyle/>
                    <a:p>
                      <a:pPr algn="ctr"/>
                      <a:r>
                        <a:rPr sz="1250" b="0">
                          <a:solidFill>
                            <a:srgbClr val="0B0B0B"/>
                          </a:solidFill>
                          <a:latin typeface="Calibri"/>
                        </a:rPr>
                        <a:t>≈ $25</a:t>
                      </a:r>
                    </a:p>
                  </a:txBody>
                  <a:tcPr anchor="ctr" marL="91440" marR="91440" marT="45720" marB="45720">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Backup — Wire Frame Format</a:t>
            </a:r>
          </a:p>
        </p:txBody>
      </p:sp>
      <p:graphicFrame>
        <p:nvGraphicFramePr>
          <p:cNvPr id="3" name="Table 2"/>
          <p:cNvGraphicFramePr>
            <a:graphicFrameLocks noGrp="1"/>
          </p:cNvGraphicFramePr>
          <p:nvPr/>
        </p:nvGraphicFramePr>
        <p:xfrm>
          <a:off x="685800" y="1737360"/>
          <a:ext cx="10515600" cy="3291840"/>
        </p:xfrm>
        <a:graphic>
          <a:graphicData uri="http://schemas.openxmlformats.org/drawingml/2006/table">
            <a:tbl>
              <a:tblPr firstRow="1" bandRow="1">
                <a:tableStyleId>{5C22544A-7EE6-4342-B048-85BDC9FD1C3A}</a:tableStyleId>
              </a:tblPr>
              <a:tblGrid>
                <a:gridCol w="2377440"/>
                <a:gridCol w="1463040"/>
                <a:gridCol w="6675120"/>
              </a:tblGrid>
              <a:tr h="411480">
                <a:tc>
                  <a:txBody>
                    <a:bodyPr wrap="square"/>
                    <a:lstStyle/>
                    <a:p>
                      <a:pPr algn="l"/>
                      <a:r>
                        <a:rPr sz="1350" b="1">
                          <a:solidFill>
                            <a:srgbClr val="FFFFFF"/>
                          </a:solidFill>
                          <a:latin typeface="Calibri"/>
                        </a:rPr>
                        <a:t>Field</a:t>
                      </a:r>
                    </a:p>
                  </a:txBody>
                  <a:tcPr anchor="ctr" marL="91440" marR="91440" marT="45720" marB="45720">
                    <a:solidFill>
                      <a:srgbClr val="0B0B0B"/>
                    </a:solidFill>
                  </a:tcPr>
                </a:tc>
                <a:tc>
                  <a:txBody>
                    <a:bodyPr wrap="square"/>
                    <a:lstStyle/>
                    <a:p>
                      <a:pPr algn="ctr"/>
                      <a:r>
                        <a:rPr sz="1350" b="1">
                          <a:solidFill>
                            <a:srgbClr val="FFFFFF"/>
                          </a:solidFill>
                          <a:latin typeface="Calibri"/>
                        </a:rPr>
                        <a:t>Size</a:t>
                      </a:r>
                    </a:p>
                  </a:txBody>
                  <a:tcPr anchor="ctr" marL="91440" marR="91440" marT="45720" marB="45720">
                    <a:solidFill>
                      <a:srgbClr val="0B0B0B"/>
                    </a:solidFill>
                  </a:tcPr>
                </a:tc>
                <a:tc>
                  <a:txBody>
                    <a:bodyPr wrap="square"/>
                    <a:lstStyle/>
                    <a:p>
                      <a:pPr algn="ctr"/>
                      <a:r>
                        <a:rPr sz="1350" b="1">
                          <a:solidFill>
                            <a:srgbClr val="FFFFFF"/>
                          </a:solidFill>
                          <a:latin typeface="Calibri"/>
                        </a:rPr>
                        <a:t>Notes</a:t>
                      </a:r>
                    </a:p>
                  </a:txBody>
                  <a:tcPr anchor="ctr" marL="91440" marR="91440" marT="45720" marB="45720">
                    <a:solidFill>
                      <a:srgbClr val="0B0B0B"/>
                    </a:solidFill>
                  </a:tcPr>
                </a:tc>
              </a:tr>
              <a:tr h="411480">
                <a:tc>
                  <a:txBody>
                    <a:bodyPr wrap="square"/>
                    <a:lstStyle/>
                    <a:p>
                      <a:pPr algn="l"/>
                      <a:r>
                        <a:rPr sz="1250" b="0">
                          <a:solidFill>
                            <a:srgbClr val="0B0B0B"/>
                          </a:solidFill>
                          <a:latin typeface="Calibri"/>
                        </a:rPr>
                        <a:t>Preamble</a:t>
                      </a:r>
                    </a:p>
                  </a:txBody>
                  <a:tcPr anchor="ctr" marL="91440" marR="91440" marT="45720" marB="45720">
                    <a:solidFill>
                      <a:srgbClr val="FFFFFF"/>
                    </a:solidFill>
                  </a:tcPr>
                </a:tc>
                <a:tc>
                  <a:txBody>
                    <a:bodyPr wrap="square"/>
                    <a:lstStyle/>
                    <a:p>
                      <a:pPr algn="ctr"/>
                      <a:r>
                        <a:rPr sz="1250" b="0">
                          <a:solidFill>
                            <a:srgbClr val="0B0B0B"/>
                          </a:solidFill>
                          <a:latin typeface="Calibri"/>
                        </a:rPr>
                        <a:t>4 B</a:t>
                      </a:r>
                    </a:p>
                  </a:txBody>
                  <a:tcPr anchor="ctr" marL="91440" marR="91440" marT="45720" marB="45720">
                    <a:solidFill>
                      <a:srgbClr val="FFFFFF"/>
                    </a:solidFill>
                  </a:tcPr>
                </a:tc>
                <a:tc>
                  <a:txBody>
                    <a:bodyPr wrap="square"/>
                    <a:lstStyle/>
                    <a:p>
                      <a:pPr algn="ctr"/>
                      <a:r>
                        <a:rPr sz="1250" b="0">
                          <a:solidFill>
                            <a:srgbClr val="0B0B0B"/>
                          </a:solidFill>
                          <a:latin typeface="Calibri"/>
                        </a:rPr>
                        <a:t>0xAB 0xCD 0xEF 0x12 — synchronization marker</a:t>
                      </a:r>
                    </a:p>
                  </a:txBody>
                  <a:tcPr anchor="ctr" marL="91440" marR="91440" marT="45720" marB="45720">
                    <a:solidFill>
                      <a:srgbClr val="FFFFFF"/>
                    </a:solidFill>
                  </a:tcPr>
                </a:tc>
              </a:tr>
              <a:tr h="411480">
                <a:tc>
                  <a:txBody>
                    <a:bodyPr wrap="square"/>
                    <a:lstStyle/>
                    <a:p>
                      <a:pPr algn="l"/>
                      <a:r>
                        <a:rPr sz="1250" b="0">
                          <a:solidFill>
                            <a:srgbClr val="0B0B0B"/>
                          </a:solidFill>
                          <a:latin typeface="Calibri"/>
                        </a:rPr>
                        <a:t>Type</a:t>
                      </a:r>
                    </a:p>
                  </a:txBody>
                  <a:tcPr anchor="ctr" marL="91440" marR="91440" marT="45720" marB="45720">
                    <a:solidFill>
                      <a:srgbClr val="F0EFEC"/>
                    </a:solidFill>
                  </a:tcPr>
                </a:tc>
                <a:tc>
                  <a:txBody>
                    <a:bodyPr wrap="square"/>
                    <a:lstStyle/>
                    <a:p>
                      <a:pPr algn="ctr"/>
                      <a:r>
                        <a:rPr sz="1250" b="0">
                          <a:solidFill>
                            <a:srgbClr val="0B0B0B"/>
                          </a:solidFill>
                          <a:latin typeface="Calibri"/>
                        </a:rPr>
                        <a:t>1 B</a:t>
                      </a:r>
                    </a:p>
                  </a:txBody>
                  <a:tcPr anchor="ctr" marL="91440" marR="91440" marT="45720" marB="45720">
                    <a:solidFill>
                      <a:srgbClr val="F0EFEC"/>
                    </a:solidFill>
                  </a:tcPr>
                </a:tc>
                <a:tc>
                  <a:txBody>
                    <a:bodyPr wrap="square"/>
                    <a:lstStyle/>
                    <a:p>
                      <a:pPr algn="ctr"/>
                      <a:r>
                        <a:rPr sz="1250" b="0">
                          <a:solidFill>
                            <a:srgbClr val="0B0B0B"/>
                          </a:solidFill>
                          <a:latin typeface="Calibri"/>
                        </a:rPr>
                        <a:t>Message type identifier</a:t>
                      </a:r>
                    </a:p>
                  </a:txBody>
                  <a:tcPr anchor="ctr" marL="91440" marR="91440" marT="45720" marB="45720">
                    <a:solidFill>
                      <a:srgbClr val="F0EFEC"/>
                    </a:solidFill>
                  </a:tcPr>
                </a:tc>
              </a:tr>
              <a:tr h="411480">
                <a:tc>
                  <a:txBody>
                    <a:bodyPr wrap="square"/>
                    <a:lstStyle/>
                    <a:p>
                      <a:pPr algn="l"/>
                      <a:r>
                        <a:rPr sz="1250" b="0">
                          <a:solidFill>
                            <a:srgbClr val="0B0B0B"/>
                          </a:solidFill>
                          <a:latin typeface="Calibri"/>
                        </a:rPr>
                        <a:t>Length</a:t>
                      </a:r>
                    </a:p>
                  </a:txBody>
                  <a:tcPr anchor="ctr" marL="91440" marR="91440" marT="45720" marB="45720">
                    <a:solidFill>
                      <a:srgbClr val="FFFFFF"/>
                    </a:solidFill>
                  </a:tcPr>
                </a:tc>
                <a:tc>
                  <a:txBody>
                    <a:bodyPr wrap="square"/>
                    <a:lstStyle/>
                    <a:p>
                      <a:pPr algn="ctr"/>
                      <a:r>
                        <a:rPr sz="1250" b="0">
                          <a:solidFill>
                            <a:srgbClr val="0B0B0B"/>
                          </a:solidFill>
                          <a:latin typeface="Calibri"/>
                        </a:rPr>
                        <a:t>2 B</a:t>
                      </a:r>
                    </a:p>
                  </a:txBody>
                  <a:tcPr anchor="ctr" marL="91440" marR="91440" marT="45720" marB="45720">
                    <a:solidFill>
                      <a:srgbClr val="FFFFFF"/>
                    </a:solidFill>
                  </a:tcPr>
                </a:tc>
                <a:tc>
                  <a:txBody>
                    <a:bodyPr wrap="square"/>
                    <a:lstStyle/>
                    <a:p>
                      <a:pPr algn="ctr"/>
                      <a:r>
                        <a:rPr sz="1250" b="0">
                          <a:solidFill>
                            <a:srgbClr val="0B0B0B"/>
                          </a:solidFill>
                          <a:latin typeface="Calibri"/>
                        </a:rPr>
                        <a:t>Ciphertext length N</a:t>
                      </a:r>
                    </a:p>
                  </a:txBody>
                  <a:tcPr anchor="ctr" marL="91440" marR="91440" marT="45720" marB="45720">
                    <a:solidFill>
                      <a:srgbClr val="FFFFFF"/>
                    </a:solidFill>
                  </a:tcPr>
                </a:tc>
              </a:tr>
              <a:tr h="411480">
                <a:tc>
                  <a:txBody>
                    <a:bodyPr wrap="square"/>
                    <a:lstStyle/>
                    <a:p>
                      <a:pPr algn="l"/>
                      <a:r>
                        <a:rPr sz="1250" b="0">
                          <a:solidFill>
                            <a:srgbClr val="0B0B0B"/>
                          </a:solidFill>
                          <a:latin typeface="Calibri"/>
                        </a:rPr>
                        <a:t>Nonce</a:t>
                      </a:r>
                    </a:p>
                  </a:txBody>
                  <a:tcPr anchor="ctr" marL="91440" marR="91440" marT="45720" marB="45720">
                    <a:solidFill>
                      <a:srgbClr val="F0EFEC"/>
                    </a:solidFill>
                  </a:tcPr>
                </a:tc>
                <a:tc>
                  <a:txBody>
                    <a:bodyPr wrap="square"/>
                    <a:lstStyle/>
                    <a:p>
                      <a:pPr algn="ctr"/>
                      <a:r>
                        <a:rPr sz="1250" b="0">
                          <a:solidFill>
                            <a:srgbClr val="0B0B0B"/>
                          </a:solidFill>
                          <a:latin typeface="Calibri"/>
                        </a:rPr>
                        <a:t>12 B</a:t>
                      </a:r>
                    </a:p>
                  </a:txBody>
                  <a:tcPr anchor="ctr" marL="91440" marR="91440" marT="45720" marB="45720">
                    <a:solidFill>
                      <a:srgbClr val="F0EFEC"/>
                    </a:solidFill>
                  </a:tcPr>
                </a:tc>
                <a:tc>
                  <a:txBody>
                    <a:bodyPr wrap="square"/>
                    <a:lstStyle/>
                    <a:p>
                      <a:pPr algn="ctr"/>
                      <a:r>
                        <a:rPr sz="1250" b="0">
                          <a:solidFill>
                            <a:srgbClr val="0B0B0B"/>
                          </a:solidFill>
                          <a:latin typeface="Calibri"/>
                        </a:rPr>
                        <a:t>8B random boot salt + 4B monotonic counter</a:t>
                      </a:r>
                    </a:p>
                  </a:txBody>
                  <a:tcPr anchor="ctr" marL="91440" marR="91440" marT="45720" marB="45720">
                    <a:solidFill>
                      <a:srgbClr val="F0EFEC"/>
                    </a:solidFill>
                  </a:tcPr>
                </a:tc>
              </a:tr>
              <a:tr h="411480">
                <a:tc>
                  <a:txBody>
                    <a:bodyPr wrap="square"/>
                    <a:lstStyle/>
                    <a:p>
                      <a:pPr algn="l"/>
                      <a:r>
                        <a:rPr sz="1250" b="0">
                          <a:solidFill>
                            <a:srgbClr val="0B0B0B"/>
                          </a:solidFill>
                          <a:latin typeface="Calibri"/>
                        </a:rPr>
                        <a:t>Ciphertext</a:t>
                      </a:r>
                    </a:p>
                  </a:txBody>
                  <a:tcPr anchor="ctr" marL="91440" marR="91440" marT="45720" marB="45720">
                    <a:solidFill>
                      <a:srgbClr val="FFFFFF"/>
                    </a:solidFill>
                  </a:tcPr>
                </a:tc>
                <a:tc>
                  <a:txBody>
                    <a:bodyPr wrap="square"/>
                    <a:lstStyle/>
                    <a:p>
                      <a:pPr algn="ctr"/>
                      <a:r>
                        <a:rPr sz="1250" b="0">
                          <a:solidFill>
                            <a:srgbClr val="0B0B0B"/>
                          </a:solidFill>
                          <a:latin typeface="Calibri"/>
                        </a:rPr>
                        <a:t>N B</a:t>
                      </a:r>
                    </a:p>
                  </a:txBody>
                  <a:tcPr anchor="ctr" marL="91440" marR="91440" marT="45720" marB="45720">
                    <a:solidFill>
                      <a:srgbClr val="FFFFFF"/>
                    </a:solidFill>
                  </a:tcPr>
                </a:tc>
                <a:tc>
                  <a:txBody>
                    <a:bodyPr wrap="square"/>
                    <a:lstStyle/>
                    <a:p>
                      <a:pPr algn="ctr"/>
                      <a:r>
                        <a:rPr sz="1250" b="0">
                          <a:solidFill>
                            <a:srgbClr val="0B0B0B"/>
                          </a:solidFill>
                          <a:latin typeface="Calibri"/>
                        </a:rPr>
                        <a:t>AES-128-GCM output, equal length to plaintext</a:t>
                      </a:r>
                    </a:p>
                  </a:txBody>
                  <a:tcPr anchor="ctr" marL="91440" marR="91440" marT="45720" marB="45720">
                    <a:solidFill>
                      <a:srgbClr val="FFFFFF"/>
                    </a:solidFill>
                  </a:tcPr>
                </a:tc>
              </a:tr>
              <a:tr h="411480">
                <a:tc>
                  <a:txBody>
                    <a:bodyPr wrap="square"/>
                    <a:lstStyle/>
                    <a:p>
                      <a:pPr algn="l"/>
                      <a:r>
                        <a:rPr sz="1250" b="0">
                          <a:solidFill>
                            <a:srgbClr val="0B0B0B"/>
                          </a:solidFill>
                          <a:latin typeface="Calibri"/>
                        </a:rPr>
                        <a:t>GCM Tag</a:t>
                      </a:r>
                    </a:p>
                  </a:txBody>
                  <a:tcPr anchor="ctr" marL="91440" marR="91440" marT="45720" marB="45720">
                    <a:solidFill>
                      <a:srgbClr val="F0EFEC"/>
                    </a:solidFill>
                  </a:tcPr>
                </a:tc>
                <a:tc>
                  <a:txBody>
                    <a:bodyPr wrap="square"/>
                    <a:lstStyle/>
                    <a:p>
                      <a:pPr algn="ctr"/>
                      <a:r>
                        <a:rPr sz="1250" b="0">
                          <a:solidFill>
                            <a:srgbClr val="0B0B0B"/>
                          </a:solidFill>
                          <a:latin typeface="Calibri"/>
                        </a:rPr>
                        <a:t>16 B</a:t>
                      </a:r>
                    </a:p>
                  </a:txBody>
                  <a:tcPr anchor="ctr" marL="91440" marR="91440" marT="45720" marB="45720">
                    <a:solidFill>
                      <a:srgbClr val="F0EFEC"/>
                    </a:solidFill>
                  </a:tcPr>
                </a:tc>
                <a:tc>
                  <a:txBody>
                    <a:bodyPr wrap="square"/>
                    <a:lstStyle/>
                    <a:p>
                      <a:pPr algn="ctr"/>
                      <a:r>
                        <a:rPr sz="1250" b="0">
                          <a:solidFill>
                            <a:srgbClr val="0B0B0B"/>
                          </a:solidFill>
                          <a:latin typeface="Calibri"/>
                        </a:rPr>
                        <a:t>Authentication tag — verified before any plaintext release</a:t>
                      </a:r>
                    </a:p>
                  </a:txBody>
                  <a:tcPr anchor="ctr" marL="91440" marR="91440" marT="45720" marB="45720">
                    <a:solidFill>
                      <a:srgbClr val="F0EFEC"/>
                    </a:solidFill>
                  </a:tcPr>
                </a:tc>
              </a:tr>
              <a:tr h="411480">
                <a:tc>
                  <a:txBody>
                    <a:bodyPr wrap="square"/>
                    <a:lstStyle/>
                    <a:p>
                      <a:pPr algn="l"/>
                      <a:r>
                        <a:rPr sz="1250" b="0">
                          <a:solidFill>
                            <a:srgbClr val="0B0B0B"/>
                          </a:solidFill>
                          <a:latin typeface="Calibri"/>
                        </a:rPr>
                        <a:t>CRC16</a:t>
                      </a:r>
                    </a:p>
                  </a:txBody>
                  <a:tcPr anchor="ctr" marL="91440" marR="91440" marT="45720" marB="45720">
                    <a:solidFill>
                      <a:srgbClr val="FFFFFF"/>
                    </a:solidFill>
                  </a:tcPr>
                </a:tc>
                <a:tc>
                  <a:txBody>
                    <a:bodyPr wrap="square"/>
                    <a:lstStyle/>
                    <a:p>
                      <a:pPr algn="ctr"/>
                      <a:r>
                        <a:rPr sz="1250" b="0">
                          <a:solidFill>
                            <a:srgbClr val="0B0B0B"/>
                          </a:solidFill>
                          <a:latin typeface="Calibri"/>
                        </a:rPr>
                        <a:t>2 B</a:t>
                      </a:r>
                    </a:p>
                  </a:txBody>
                  <a:tcPr anchor="ctr" marL="91440" marR="91440" marT="45720" marB="45720">
                    <a:solidFill>
                      <a:srgbClr val="FFFFFF"/>
                    </a:solidFill>
                  </a:tcPr>
                </a:tc>
                <a:tc>
                  <a:txBody>
                    <a:bodyPr wrap="square"/>
                    <a:lstStyle/>
                    <a:p>
                      <a:pPr algn="ctr"/>
                      <a:r>
                        <a:rPr sz="1250" b="0">
                          <a:solidFill>
                            <a:srgbClr val="0B0B0B"/>
                          </a:solidFill>
                          <a:latin typeface="Calibri"/>
                        </a:rPr>
                        <a:t>CRC16-CCITT, poly 0x1021, init 0xFFFF</a:t>
                      </a:r>
                    </a:p>
                  </a:txBody>
                  <a:tcPr anchor="ctr" marL="91440" marR="91440" marT="45720" marB="45720">
                    <a:solidFill>
                      <a:srgbClr val="FFFFFF"/>
                    </a:solidFill>
                  </a:tcPr>
                </a:tc>
              </a:tr>
            </a:tbl>
          </a:graphicData>
        </a:graphic>
      </p:graphicFrame>
      <p:sp>
        <p:nvSpPr>
          <p:cNvPr id="4" name="TextBox 3"/>
          <p:cNvSpPr txBox="1"/>
          <p:nvPr/>
        </p:nvSpPr>
        <p:spPr>
          <a:xfrm>
            <a:off x="502920" y="5349240"/>
            <a:ext cx="11155680" cy="548640"/>
          </a:xfrm>
          <a:prstGeom prst="rect">
            <a:avLst/>
          </a:prstGeom>
          <a:noFill/>
        </p:spPr>
        <p:txBody>
          <a:bodyPr wrap="square">
            <a:spAutoFit/>
          </a:bodyPr>
          <a:lstStyle/>
          <a:p>
            <a:pPr algn="ctr"/>
            <a:r>
              <a:rPr sz="1250" i="0" b="1">
                <a:solidFill>
                  <a:srgbClr val="898781"/>
                </a:solidFill>
                <a:latin typeface="Calibri"/>
              </a:rPr>
              <a:t>64-entry nonce sliding window checked against every incoming nonce BEFORE decryption is attempted.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Backup — Why No Symbolic Verification Yet</a:t>
            </a:r>
          </a:p>
        </p:txBody>
      </p:sp>
      <p:sp>
        <p:nvSpPr>
          <p:cNvPr id="3" name="TextBox 2"/>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G1–G4 are amenable to formal verification with Tamarin or ProVerif — identified explicitly as future work</a:t>
            </a:r>
          </a:p>
          <a:p>
            <a:pPr>
              <a:spcAft>
                <a:spcPts val="1100"/>
              </a:spcAft>
            </a:pPr>
            <a:r>
              <a:rPr sz="1700">
                <a:solidFill>
                  <a:srgbClr val="0B0B0B"/>
                </a:solidFill>
                <a:latin typeface="Calibri"/>
              </a:rPr>
              <a:t>●   A full model covers SST HS1–HS3 mutual auth + the AES-GCM data channel + two independent replay windows</a:t>
            </a:r>
          </a:p>
          <a:p>
            <a:pPr>
              <a:spcAft>
                <a:spcPts val="1100"/>
              </a:spcAft>
            </a:pPr>
            <a:r>
              <a:rPr sz="1700">
                <a:solidFill>
                  <a:srgbClr val="0B0B0B"/>
                </a:solidFill>
                <a:latin typeface="Calibri"/>
              </a:rPr>
              <a:t>●   That's substantial, specialized modeling work — not something to fit alongside the empirical evaluation chapter</a:t>
            </a:r>
          </a:p>
          <a:p>
            <a:pPr>
              <a:spcAft>
                <a:spcPts val="1100"/>
              </a:spcAft>
            </a:pPr>
            <a:r>
              <a:rPr sz="1700">
                <a:solidFill>
                  <a:srgbClr val="0B0B0B"/>
                </a:solidFill>
                <a:latin typeface="Calibri"/>
              </a:rPr>
              <a:t>●   An incomplete or buggy formal model would read worse to a committee than no formal model plus an honest claim</a:t>
            </a:r>
          </a:p>
          <a:p>
            <a:pPr>
              <a:spcAft>
                <a:spcPts val="1100"/>
              </a:spcAft>
            </a:pPr>
            <a:r>
              <a:rPr sz="1700">
                <a:solidFill>
                  <a:srgbClr val="0B0B0B"/>
                </a:solidFill>
                <a:latin typeface="Calibri"/>
              </a:rPr>
              <a:t>●   Findings in this thesis are stated as empirically demonstrated, not formally proven — stated as such throughout, not implied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Backup — TIA Feedback Component Tuning</a:t>
            </a:r>
          </a:p>
        </p:txBody>
      </p:sp>
      <p:graphicFrame>
        <p:nvGraphicFramePr>
          <p:cNvPr id="3" name="Table 2"/>
          <p:cNvGraphicFramePr>
            <a:graphicFrameLocks noGrp="1"/>
          </p:cNvGraphicFramePr>
          <p:nvPr/>
        </p:nvGraphicFramePr>
        <p:xfrm>
          <a:off x="685800" y="1920240"/>
          <a:ext cx="10698480" cy="2743200"/>
        </p:xfrm>
        <a:graphic>
          <a:graphicData uri="http://schemas.openxmlformats.org/drawingml/2006/table">
            <a:tbl>
              <a:tblPr firstRow="1" bandRow="1">
                <a:tableStyleId>{5C22544A-7EE6-4342-B048-85BDC9FD1C3A}</a:tableStyleId>
              </a:tblPr>
              <a:tblGrid>
                <a:gridCol w="1737360"/>
                <a:gridCol w="1463040"/>
                <a:gridCol w="1828800"/>
                <a:gridCol w="3291840"/>
                <a:gridCol w="2377440"/>
              </a:tblGrid>
              <a:tr h="548640">
                <a:tc>
                  <a:txBody>
                    <a:bodyPr wrap="square"/>
                    <a:lstStyle/>
                    <a:p>
                      <a:pPr algn="l"/>
                      <a:r>
                        <a:rPr sz="1350" b="1">
                          <a:solidFill>
                            <a:srgbClr val="FFFFFF"/>
                          </a:solidFill>
                          <a:latin typeface="Calibri"/>
                        </a:rPr>
                        <a:t>R_f</a:t>
                      </a:r>
                    </a:p>
                  </a:txBody>
                  <a:tcPr anchor="ctr" marL="91440" marR="91440" marT="45720" marB="45720">
                    <a:solidFill>
                      <a:srgbClr val="0B0B0B"/>
                    </a:solidFill>
                  </a:tcPr>
                </a:tc>
                <a:tc>
                  <a:txBody>
                    <a:bodyPr wrap="square"/>
                    <a:lstStyle/>
                    <a:p>
                      <a:pPr algn="ctr"/>
                      <a:r>
                        <a:rPr sz="1350" b="1">
                          <a:solidFill>
                            <a:srgbClr val="FFFFFF"/>
                          </a:solidFill>
                          <a:latin typeface="Calibri"/>
                        </a:rPr>
                        <a:t>C_f</a:t>
                      </a:r>
                    </a:p>
                  </a:txBody>
                  <a:tcPr anchor="ctr" marL="91440" marR="91440" marT="45720" marB="45720">
                    <a:solidFill>
                      <a:srgbClr val="0B0B0B"/>
                    </a:solidFill>
                  </a:tcPr>
                </a:tc>
                <a:tc>
                  <a:txBody>
                    <a:bodyPr wrap="square"/>
                    <a:lstStyle/>
                    <a:p>
                      <a:pPr algn="ctr"/>
                      <a:r>
                        <a:rPr sz="1350" b="1">
                          <a:solidFill>
                            <a:srgbClr val="FFFFFF"/>
                          </a:solidFill>
                          <a:latin typeface="Calibri"/>
                        </a:rPr>
                        <a:t>BW (kHz)</a:t>
                      </a:r>
                    </a:p>
                  </a:txBody>
                  <a:tcPr anchor="ctr" marL="91440" marR="91440" marT="45720" marB="45720">
                    <a:solidFill>
                      <a:srgbClr val="0B0B0B"/>
                    </a:solidFill>
                  </a:tcPr>
                </a:tc>
                <a:tc>
                  <a:txBody>
                    <a:bodyPr wrap="square"/>
                    <a:lstStyle/>
                    <a:p>
                      <a:pPr algn="ctr"/>
                      <a:r>
                        <a:rPr sz="1350" b="1">
                          <a:solidFill>
                            <a:srgbClr val="FFFFFF"/>
                          </a:solidFill>
                          <a:latin typeface="Calibri"/>
                        </a:rPr>
                        <a:t>Max Baud (measured)</a:t>
                      </a:r>
                    </a:p>
                  </a:txBody>
                  <a:tcPr anchor="ctr" marL="91440" marR="91440" marT="45720" marB="45720">
                    <a:solidFill>
                      <a:srgbClr val="0B0B0B"/>
                    </a:solidFill>
                  </a:tcPr>
                </a:tc>
                <a:tc>
                  <a:txBody>
                    <a:bodyPr wrap="square"/>
                    <a:lstStyle/>
                    <a:p>
                      <a:pPr algn="ctr"/>
                      <a:r>
                        <a:rPr sz="1350" b="1">
                          <a:solidFill>
                            <a:srgbClr val="FFFFFF"/>
                          </a:solidFill>
                          <a:latin typeface="Calibri"/>
                        </a:rPr>
                        <a:t>Output Swing</a:t>
                      </a:r>
                    </a:p>
                  </a:txBody>
                  <a:tcPr anchor="ctr" marL="91440" marR="91440" marT="45720" marB="45720">
                    <a:solidFill>
                      <a:srgbClr val="0B0B0B"/>
                    </a:solidFill>
                  </a:tcPr>
                </a:tc>
              </a:tr>
              <a:tr h="548640">
                <a:tc>
                  <a:txBody>
                    <a:bodyPr wrap="square"/>
                    <a:lstStyle/>
                    <a:p>
                      <a:pPr algn="l"/>
                      <a:r>
                        <a:rPr sz="1250" b="0">
                          <a:solidFill>
                            <a:srgbClr val="0B0B0B"/>
                          </a:solidFill>
                          <a:latin typeface="Calibri"/>
                        </a:rPr>
                        <a:t>470kΩ</a:t>
                      </a:r>
                    </a:p>
                  </a:txBody>
                  <a:tcPr anchor="ctr" marL="91440" marR="91440" marT="45720" marB="45720">
                    <a:solidFill>
                      <a:srgbClr val="FFFFFF"/>
                    </a:solidFill>
                  </a:tcPr>
                </a:tc>
                <a:tc>
                  <a:txBody>
                    <a:bodyPr wrap="square"/>
                    <a:lstStyle/>
                    <a:p>
                      <a:pPr algn="ctr"/>
                      <a:r>
                        <a:rPr sz="1250" b="0">
                          <a:solidFill>
                            <a:srgbClr val="0B0B0B"/>
                          </a:solidFill>
                          <a:latin typeface="Calibri"/>
                        </a:rPr>
                        <a:t>5pF</a:t>
                      </a:r>
                    </a:p>
                  </a:txBody>
                  <a:tcPr anchor="ctr" marL="91440" marR="91440" marT="45720" marB="45720">
                    <a:solidFill>
                      <a:srgbClr val="FFFFFF"/>
                    </a:solidFill>
                  </a:tcPr>
                </a:tc>
                <a:tc>
                  <a:txBody>
                    <a:bodyPr wrap="square"/>
                    <a:lstStyle/>
                    <a:p>
                      <a:pPr algn="ctr"/>
                      <a:r>
                        <a:rPr sz="1250" b="0">
                          <a:solidFill>
                            <a:srgbClr val="0B0B0B"/>
                          </a:solidFill>
                          <a:latin typeface="Calibri"/>
                        </a:rPr>
                        <a:t>68</a:t>
                      </a:r>
                    </a:p>
                  </a:txBody>
                  <a:tcPr anchor="ctr" marL="91440" marR="91440" marT="45720" marB="45720">
                    <a:solidFill>
                      <a:srgbClr val="FFFFFF"/>
                    </a:solidFill>
                  </a:tcPr>
                </a:tc>
                <a:tc>
                  <a:txBody>
                    <a:bodyPr wrap="square"/>
                    <a:lstStyle/>
                    <a:p>
                      <a:pPr algn="ctr"/>
                      <a:r>
                        <a:rPr sz="1250" b="0">
                          <a:solidFill>
                            <a:srgbClr val="0B0B0B"/>
                          </a:solidFill>
                          <a:latin typeface="Calibri"/>
                        </a:rPr>
                        <a:t>300,000</a:t>
                      </a:r>
                    </a:p>
                  </a:txBody>
                  <a:tcPr anchor="ctr" marL="91440" marR="91440" marT="45720" marB="45720">
                    <a:solidFill>
                      <a:srgbClr val="FFFFFF"/>
                    </a:solidFill>
                  </a:tcPr>
                </a:tc>
                <a:tc>
                  <a:txBody>
                    <a:bodyPr wrap="square"/>
                    <a:lstStyle/>
                    <a:p>
                      <a:pPr algn="ctr"/>
                      <a:r>
                        <a:rPr sz="1250" b="0">
                          <a:solidFill>
                            <a:srgbClr val="0B0B0B"/>
                          </a:solidFill>
                          <a:latin typeface="Calibri"/>
                        </a:rPr>
                        <a:t>≈2.0V</a:t>
                      </a:r>
                    </a:p>
                  </a:txBody>
                  <a:tcPr anchor="ctr" marL="91440" marR="91440" marT="45720" marB="45720">
                    <a:solidFill>
                      <a:srgbClr val="FFFFFF"/>
                    </a:solidFill>
                  </a:tcPr>
                </a:tc>
              </a:tr>
              <a:tr h="548640">
                <a:tc>
                  <a:txBody>
                    <a:bodyPr wrap="square"/>
                    <a:lstStyle/>
                    <a:p>
                      <a:pPr algn="l"/>
                      <a:r>
                        <a:rPr sz="1250" b="0">
                          <a:solidFill>
                            <a:srgbClr val="0B0B0B"/>
                          </a:solidFill>
                          <a:latin typeface="Calibri"/>
                        </a:rPr>
                        <a:t>100kΩ</a:t>
                      </a:r>
                    </a:p>
                  </a:txBody>
                  <a:tcPr anchor="ctr" marL="91440" marR="91440" marT="45720" marB="45720">
                    <a:solidFill>
                      <a:srgbClr val="F0EFEC"/>
                    </a:solidFill>
                  </a:tcPr>
                </a:tc>
                <a:tc>
                  <a:txBody>
                    <a:bodyPr wrap="square"/>
                    <a:lstStyle/>
                    <a:p>
                      <a:pPr algn="ctr"/>
                      <a:r>
                        <a:rPr sz="1250" b="0">
                          <a:solidFill>
                            <a:srgbClr val="0B0B0B"/>
                          </a:solidFill>
                          <a:latin typeface="Calibri"/>
                        </a:rPr>
                        <a:t>5pF</a:t>
                      </a:r>
                    </a:p>
                  </a:txBody>
                  <a:tcPr anchor="ctr" marL="91440" marR="91440" marT="45720" marB="45720">
                    <a:solidFill>
                      <a:srgbClr val="F0EFEC"/>
                    </a:solidFill>
                  </a:tcPr>
                </a:tc>
                <a:tc>
                  <a:txBody>
                    <a:bodyPr wrap="square"/>
                    <a:lstStyle/>
                    <a:p>
                      <a:pPr algn="ctr"/>
                      <a:r>
                        <a:rPr sz="1250" b="0">
                          <a:solidFill>
                            <a:srgbClr val="0B0B0B"/>
                          </a:solidFill>
                          <a:latin typeface="Calibri"/>
                        </a:rPr>
                        <a:t>318</a:t>
                      </a:r>
                    </a:p>
                  </a:txBody>
                  <a:tcPr anchor="ctr" marL="91440" marR="91440" marT="45720" marB="45720">
                    <a:solidFill>
                      <a:srgbClr val="F0EFEC"/>
                    </a:solidFill>
                  </a:tcPr>
                </a:tc>
                <a:tc>
                  <a:txBody>
                    <a:bodyPr wrap="square"/>
                    <a:lstStyle/>
                    <a:p>
                      <a:pPr algn="ctr"/>
                      <a:r>
                        <a:rPr sz="1250" b="0">
                          <a:solidFill>
                            <a:srgbClr val="0B0B0B"/>
                          </a:solidFill>
                          <a:latin typeface="Calibri"/>
                        </a:rPr>
                        <a:t>250,000</a:t>
                      </a:r>
                    </a:p>
                  </a:txBody>
                  <a:tcPr anchor="ctr" marL="91440" marR="91440" marT="45720" marB="45720">
                    <a:solidFill>
                      <a:srgbClr val="F0EFEC"/>
                    </a:solidFill>
                  </a:tcPr>
                </a:tc>
                <a:tc>
                  <a:txBody>
                    <a:bodyPr wrap="square"/>
                    <a:lstStyle/>
                    <a:p>
                      <a:pPr algn="ctr"/>
                      <a:r>
                        <a:rPr sz="1250" b="0">
                          <a:solidFill>
                            <a:srgbClr val="0B0B0B"/>
                          </a:solidFill>
                          <a:latin typeface="Calibri"/>
                        </a:rPr>
                        <a:t>≈400mV</a:t>
                      </a:r>
                    </a:p>
                  </a:txBody>
                  <a:tcPr anchor="ctr" marL="91440" marR="91440" marT="45720" marB="45720">
                    <a:solidFill>
                      <a:srgbClr val="F0EFEC"/>
                    </a:solidFill>
                  </a:tcPr>
                </a:tc>
              </a:tr>
              <a:tr h="548640">
                <a:tc>
                  <a:txBody>
                    <a:bodyPr wrap="square"/>
                    <a:lstStyle/>
                    <a:p>
                      <a:pPr algn="l"/>
                      <a:r>
                        <a:rPr sz="1250" b="0">
                          <a:solidFill>
                            <a:srgbClr val="0B0B0B"/>
                          </a:solidFill>
                          <a:latin typeface="Calibri"/>
                        </a:rPr>
                        <a:t>100kΩ</a:t>
                      </a:r>
                    </a:p>
                  </a:txBody>
                  <a:tcPr anchor="ctr" marL="91440" marR="91440" marT="45720" marB="45720">
                    <a:solidFill>
                      <a:srgbClr val="FFFFFF"/>
                    </a:solidFill>
                  </a:tcPr>
                </a:tc>
                <a:tc>
                  <a:txBody>
                    <a:bodyPr wrap="square"/>
                    <a:lstStyle/>
                    <a:p>
                      <a:pPr algn="ctr"/>
                      <a:r>
                        <a:rPr sz="1250" b="0">
                          <a:solidFill>
                            <a:srgbClr val="0B0B0B"/>
                          </a:solidFill>
                          <a:latin typeface="Calibri"/>
                        </a:rPr>
                        <a:t>1pF</a:t>
                      </a:r>
                    </a:p>
                  </a:txBody>
                  <a:tcPr anchor="ctr" marL="91440" marR="91440" marT="45720" marB="45720">
                    <a:solidFill>
                      <a:srgbClr val="FFFFFF"/>
                    </a:solidFill>
                  </a:tcPr>
                </a:tc>
                <a:tc>
                  <a:txBody>
                    <a:bodyPr wrap="square"/>
                    <a:lstStyle/>
                    <a:p>
                      <a:pPr algn="ctr"/>
                      <a:r>
                        <a:rPr sz="1250" b="0">
                          <a:solidFill>
                            <a:srgbClr val="0B0B0B"/>
                          </a:solidFill>
                          <a:latin typeface="Calibri"/>
                        </a:rPr>
                        <a:t>1,590</a:t>
                      </a:r>
                    </a:p>
                  </a:txBody>
                  <a:tcPr anchor="ctr" marL="91440" marR="91440" marT="45720" marB="45720">
                    <a:solidFill>
                      <a:srgbClr val="FFFFFF"/>
                    </a:solidFill>
                  </a:tcPr>
                </a:tc>
                <a:tc>
                  <a:txBody>
                    <a:bodyPr wrap="square"/>
                    <a:lstStyle/>
                    <a:p>
                      <a:pPr algn="ctr"/>
                      <a:r>
                        <a:rPr sz="1250" b="0">
                          <a:solidFill>
                            <a:srgbClr val="0B0B0B"/>
                          </a:solidFill>
                          <a:latin typeface="Calibri"/>
                        </a:rPr>
                        <a:t>TBD (future work)</a:t>
                      </a:r>
                    </a:p>
                  </a:txBody>
                  <a:tcPr anchor="ctr" marL="91440" marR="91440" marT="45720" marB="45720">
                    <a:solidFill>
                      <a:srgbClr val="FFFFFF"/>
                    </a:solidFill>
                  </a:tcPr>
                </a:tc>
                <a:tc>
                  <a:txBody>
                    <a:bodyPr wrap="square"/>
                    <a:lstStyle/>
                    <a:p>
                      <a:pPr algn="ctr"/>
                      <a:r>
                        <a:rPr sz="1250" b="0">
                          <a:solidFill>
                            <a:srgbClr val="0B0B0B"/>
                          </a:solidFill>
                          <a:latin typeface="Calibri"/>
                        </a:rPr>
                        <a:t>≈400mV</a:t>
                      </a:r>
                    </a:p>
                  </a:txBody>
                  <a:tcPr anchor="ctr" marL="91440" marR="91440" marT="45720" marB="45720">
                    <a:solidFill>
                      <a:srgbClr val="FFFFFF"/>
                    </a:solidFill>
                  </a:tcPr>
                </a:tc>
              </a:tr>
              <a:tr h="548640">
                <a:tc>
                  <a:txBody>
                    <a:bodyPr wrap="square"/>
                    <a:lstStyle/>
                    <a:p>
                      <a:pPr algn="l"/>
                      <a:r>
                        <a:rPr sz="1250" b="0">
                          <a:solidFill>
                            <a:srgbClr val="0B0B0B"/>
                          </a:solidFill>
                          <a:latin typeface="Calibri"/>
                        </a:rPr>
                        <a:t>47kΩ</a:t>
                      </a:r>
                    </a:p>
                  </a:txBody>
                  <a:tcPr anchor="ctr" marL="91440" marR="91440" marT="45720" marB="45720">
                    <a:solidFill>
                      <a:srgbClr val="F0EFEC"/>
                    </a:solidFill>
                  </a:tcPr>
                </a:tc>
                <a:tc>
                  <a:txBody>
                    <a:bodyPr wrap="square"/>
                    <a:lstStyle/>
                    <a:p>
                      <a:pPr algn="ctr"/>
                      <a:r>
                        <a:rPr sz="1250" b="0">
                          <a:solidFill>
                            <a:srgbClr val="0B0B0B"/>
                          </a:solidFill>
                          <a:latin typeface="Calibri"/>
                        </a:rPr>
                        <a:t>1pF</a:t>
                      </a:r>
                    </a:p>
                  </a:txBody>
                  <a:tcPr anchor="ctr" marL="91440" marR="91440" marT="45720" marB="45720">
                    <a:solidFill>
                      <a:srgbClr val="F0EFEC"/>
                    </a:solidFill>
                  </a:tcPr>
                </a:tc>
                <a:tc>
                  <a:txBody>
                    <a:bodyPr wrap="square"/>
                    <a:lstStyle/>
                    <a:p>
                      <a:pPr algn="ctr"/>
                      <a:r>
                        <a:rPr sz="1250" b="0">
                          <a:solidFill>
                            <a:srgbClr val="0B0B0B"/>
                          </a:solidFill>
                          <a:latin typeface="Calibri"/>
                        </a:rPr>
                        <a:t>3,386</a:t>
                      </a:r>
                    </a:p>
                  </a:txBody>
                  <a:tcPr anchor="ctr" marL="91440" marR="91440" marT="45720" marB="45720">
                    <a:solidFill>
                      <a:srgbClr val="F0EFEC"/>
                    </a:solidFill>
                  </a:tcPr>
                </a:tc>
                <a:tc>
                  <a:txBody>
                    <a:bodyPr wrap="square"/>
                    <a:lstStyle/>
                    <a:p>
                      <a:pPr algn="ctr"/>
                      <a:r>
                        <a:rPr sz="1250" b="0">
                          <a:solidFill>
                            <a:srgbClr val="0B0B0B"/>
                          </a:solidFill>
                          <a:latin typeface="Calibri"/>
                        </a:rPr>
                        <a:t>TBD (future work)</a:t>
                      </a:r>
                    </a:p>
                  </a:txBody>
                  <a:tcPr anchor="ctr" marL="91440" marR="91440" marT="45720" marB="45720">
                    <a:solidFill>
                      <a:srgbClr val="F0EFEC"/>
                    </a:solidFill>
                  </a:tcPr>
                </a:tc>
                <a:tc>
                  <a:txBody>
                    <a:bodyPr wrap="square"/>
                    <a:lstStyle/>
                    <a:p>
                      <a:pPr algn="ctr"/>
                      <a:r>
                        <a:rPr sz="1250" b="0">
                          <a:solidFill>
                            <a:srgbClr val="0B0B0B"/>
                          </a:solidFill>
                          <a:latin typeface="Calibri"/>
                        </a:rPr>
                        <a:t>≈200mV</a:t>
                      </a:r>
                    </a:p>
                  </a:txBody>
                  <a:tcPr anchor="ctr" marL="91440" marR="91440" marT="45720" marB="45720">
                    <a:solidFill>
                      <a:srgbClr val="F0EFEC"/>
                    </a:solidFill>
                  </a:tcPr>
                </a:tc>
              </a:tr>
            </a:tbl>
          </a:graphicData>
        </a:graphic>
      </p:graphicFrame>
      <p:sp>
        <p:nvSpPr>
          <p:cNvPr id="4" name="TextBox 3"/>
          <p:cNvSpPr txBox="1"/>
          <p:nvPr/>
        </p:nvSpPr>
        <p:spPr>
          <a:xfrm>
            <a:off x="502920" y="4937760"/>
            <a:ext cx="11155680" cy="548640"/>
          </a:xfrm>
          <a:prstGeom prst="rect">
            <a:avLst/>
          </a:prstGeom>
          <a:noFill/>
        </p:spPr>
        <p:txBody>
          <a:bodyPr wrap="square">
            <a:spAutoFit/>
          </a:bodyPr>
          <a:lstStyle/>
          <a:p>
            <a:pPr algn="ctr"/>
            <a:r>
              <a:rPr sz="1250" i="0" b="1">
                <a:solidFill>
                  <a:srgbClr val="898781"/>
                </a:solidFill>
                <a:latin typeface="Calibri"/>
              </a:rPr>
              <a:t>Only the first two rows are experimentally validated; the lower-resistance rows target &gt;1Mbps and are future 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Backup — “Isn't Δ Basically a Relay Bound?”</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The single most likely question — answer verbatim</a:t>
            </a:r>
          </a:p>
        </p:txBody>
      </p:sp>
      <p:sp>
        <p:nvSpPr>
          <p:cNvPr id="4" name="TextBox 3"/>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No. G1's window Δ bounds how long a CAPTURED, NO-LONGER-LIVE frame remains useful.</a:t>
            </a:r>
          </a:p>
          <a:p>
            <a:pPr>
              <a:spcAft>
                <a:spcPts val="1100"/>
              </a:spcAft>
            </a:pPr>
            <a:r>
              <a:rPr sz="1700">
                <a:solidFill>
                  <a:srgbClr val="0B0B0B"/>
                </a:solidFill>
                <a:latin typeface="Calibri"/>
              </a:rPr>
              <a:t>●   A live relay never captures-and-resends stale bytes — it forwards each frame through in real time, added latency and all.</a:t>
            </a:r>
          </a:p>
          <a:p>
            <a:pPr>
              <a:spcAft>
                <a:spcPts val="1100"/>
              </a:spcAft>
            </a:pPr>
            <a:r>
              <a:rPr sz="1700">
                <a:solidFill>
                  <a:srgbClr val="0B0B0B"/>
                </a:solidFill>
                <a:latin typeface="Calibri"/>
              </a:rPr>
              <a:t>●   Every relayed frame is genuinely fresh from the receiver's point of view: new nonce, valid tag, arrives within Δ.</a:t>
            </a:r>
          </a:p>
          <a:p>
            <a:pPr>
              <a:spcAft>
                <a:spcPts val="1100"/>
              </a:spcAft>
            </a:pPr>
            <a:r>
              <a:rPr sz="1700">
                <a:solidFill>
                  <a:srgbClr val="0B0B0B"/>
                </a:solidFill>
                <a:latin typeface="Calibri"/>
              </a:rPr>
              <a:t>●   A continuously operating relay keeps t_last refreshed indefinitely — Δ never expires against it.</a:t>
            </a:r>
          </a:p>
          <a:p>
            <a:pPr>
              <a:spcAft>
                <a:spcPts val="1100"/>
              </a:spcAft>
            </a:pPr>
            <a:r>
              <a:rPr sz="1700">
                <a:solidFill>
                  <a:srgbClr val="0B0B0B"/>
                </a:solidFill>
                <a:latin typeface="Calibri"/>
              </a:rPr>
              <a:t>●   G1 and G2 answer “is this frame new and unseen?” — G3 would require answering “how long did this frame take to arrive?”, which nothing in the current implementation checks.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Backup — Three Receiver Variants, Three Auth Interaction Models</a:t>
            </a:r>
          </a:p>
        </p:txBody>
      </p:sp>
      <p:graphicFrame>
        <p:nvGraphicFramePr>
          <p:cNvPr id="3" name="Table 2"/>
          <p:cNvGraphicFramePr>
            <a:graphicFrameLocks noGrp="1"/>
          </p:cNvGraphicFramePr>
          <p:nvPr/>
        </p:nvGraphicFramePr>
        <p:xfrm>
          <a:off x="685800" y="1691640"/>
          <a:ext cx="11430000" cy="2011680"/>
        </p:xfrm>
        <a:graphic>
          <a:graphicData uri="http://schemas.openxmlformats.org/drawingml/2006/table">
            <a:tbl>
              <a:tblPr firstRow="1" bandRow="1">
                <a:tableStyleId>{5C22544A-7EE6-4342-B048-85BDC9FD1C3A}</a:tableStyleId>
              </a:tblPr>
              <a:tblGrid>
                <a:gridCol w="2377440"/>
                <a:gridCol w="2011680"/>
                <a:gridCol w="7040880"/>
              </a:tblGrid>
              <a:tr h="502920">
                <a:tc>
                  <a:txBody>
                    <a:bodyPr wrap="square"/>
                    <a:lstStyle/>
                    <a:p>
                      <a:pPr algn="l"/>
                      <a:r>
                        <a:rPr sz="1350" b="1">
                          <a:solidFill>
                            <a:srgbClr val="FFFFFF"/>
                          </a:solidFill>
                          <a:latin typeface="Calibri"/>
                        </a:rPr>
                        <a:t>Binary</a:t>
                      </a:r>
                    </a:p>
                  </a:txBody>
                  <a:tcPr anchor="ctr" marL="91440" marR="91440" marT="45720" marB="45720">
                    <a:solidFill>
                      <a:srgbClr val="0B0B0B"/>
                    </a:solidFill>
                  </a:tcPr>
                </a:tc>
                <a:tc>
                  <a:txBody>
                    <a:bodyPr wrap="square"/>
                    <a:lstStyle/>
                    <a:p>
                      <a:pPr algn="ctr"/>
                      <a:r>
                        <a:rPr sz="1350" b="1">
                          <a:solidFill>
                            <a:srgbClr val="FFFFFF"/>
                          </a:solidFill>
                          <a:latin typeface="Calibri"/>
                        </a:rPr>
                        <a:t>Role</a:t>
                      </a:r>
                    </a:p>
                  </a:txBody>
                  <a:tcPr anchor="ctr" marL="91440" marR="91440" marT="45720" marB="45720">
                    <a:solidFill>
                      <a:srgbClr val="0B0B0B"/>
                    </a:solidFill>
                  </a:tcPr>
                </a:tc>
                <a:tc>
                  <a:txBody>
                    <a:bodyPr wrap="square"/>
                    <a:lstStyle/>
                    <a:p>
                      <a:pPr algn="ctr"/>
                      <a:r>
                        <a:rPr sz="1350" b="1">
                          <a:solidFill>
                            <a:srgbClr val="FFFFFF"/>
                          </a:solidFill>
                          <a:latin typeface="Calibri"/>
                        </a:rPr>
                        <a:t>Auth interaction</a:t>
                      </a:r>
                    </a:p>
                  </a:txBody>
                  <a:tcPr anchor="ctr" marL="91440" marR="91440" marT="45720" marB="45720">
                    <a:solidFill>
                      <a:srgbClr val="0B0B0B"/>
                    </a:solidFill>
                  </a:tcPr>
                </a:tc>
              </a:tr>
              <a:tr h="502920">
                <a:tc>
                  <a:txBody>
                    <a:bodyPr wrap="square"/>
                    <a:lstStyle/>
                    <a:p>
                      <a:pPr algn="l"/>
                      <a:r>
                        <a:rPr sz="1250" b="0">
                          <a:solidFill>
                            <a:srgbClr val="0B0B0B"/>
                          </a:solidFill>
                          <a:latin typeface="Calibri"/>
                        </a:rPr>
                        <a:t>keys_receiver</a:t>
                      </a:r>
                    </a:p>
                  </a:txBody>
                  <a:tcPr anchor="ctr" marL="91440" marR="91440" marT="45720" marB="45720">
                    <a:solidFill>
                      <a:srgbClr val="FFFFFF"/>
                    </a:solidFill>
                  </a:tcPr>
                </a:tc>
                <a:tc>
                  <a:txBody>
                    <a:bodyPr wrap="square"/>
                    <a:lstStyle/>
                    <a:p>
                      <a:pPr algn="ctr"/>
                      <a:r>
                        <a:rPr sz="1250" b="0">
                          <a:solidFill>
                            <a:srgbClr val="0B0B0B"/>
                          </a:solidFill>
                          <a:latin typeface="Calibri"/>
                        </a:rPr>
                        <a:t>“The Manager”</a:t>
                      </a:r>
                    </a:p>
                  </a:txBody>
                  <a:tcPr anchor="ctr" marL="91440" marR="91440" marT="45720" marB="45720">
                    <a:solidFill>
                      <a:srgbClr val="FFFFFF"/>
                    </a:solidFill>
                  </a:tcPr>
                </a:tc>
                <a:tc>
                  <a:txBody>
                    <a:bodyPr wrap="square"/>
                    <a:lstStyle/>
                    <a:p>
                      <a:pPr algn="ctr"/>
                      <a:r>
                        <a:rPr sz="1250" b="0">
                          <a:solidFill>
                            <a:srgbClr val="0B0B0B"/>
                          </a:solidFill>
                          <a:latin typeface="Calibri"/>
                        </a:rPr>
                        <a:t>Fetches a session key from Auth at startup, pushes it to the sender</a:t>
                      </a:r>
                    </a:p>
                  </a:txBody>
                  <a:tcPr anchor="ctr" marL="91440" marR="91440" marT="45720" marB="45720">
                    <a:solidFill>
                      <a:srgbClr val="FFFFFF"/>
                    </a:solidFill>
                  </a:tcPr>
                </a:tc>
              </a:tr>
              <a:tr h="502920">
                <a:tc>
                  <a:txBody>
                    <a:bodyPr wrap="square"/>
                    <a:lstStyle/>
                    <a:p>
                      <a:pPr algn="l"/>
                      <a:r>
                        <a:rPr sz="1250" b="0">
                          <a:solidFill>
                            <a:srgbClr val="0B0B0B"/>
                          </a:solidFill>
                          <a:latin typeface="Calibri"/>
                        </a:rPr>
                        <a:t>flash_receiver</a:t>
                      </a:r>
                    </a:p>
                  </a:txBody>
                  <a:tcPr anchor="ctr" marL="91440" marR="91440" marT="45720" marB="45720">
                    <a:solidFill>
                      <a:srgbClr val="F0EFEC"/>
                    </a:solidFill>
                  </a:tcPr>
                </a:tc>
                <a:tc>
                  <a:txBody>
                    <a:bodyPr wrap="square"/>
                    <a:lstStyle/>
                    <a:p>
                      <a:pPr algn="ctr"/>
                      <a:r>
                        <a:rPr sz="1250" b="0">
                          <a:solidFill>
                            <a:srgbClr val="0B0B0B"/>
                          </a:solidFill>
                          <a:latin typeface="Calibri"/>
                        </a:rPr>
                        <a:t>Combined session app</a:t>
                      </a:r>
                    </a:p>
                  </a:txBody>
                  <a:tcPr anchor="ctr" marL="91440" marR="91440" marT="45720" marB="45720">
                    <a:solidFill>
                      <a:srgbClr val="F0EFEC"/>
                    </a:solidFill>
                  </a:tcPr>
                </a:tc>
                <a:tc>
                  <a:txBody>
                    <a:bodyPr wrap="square"/>
                    <a:lstStyle/>
                    <a:p>
                      <a:pPr algn="ctr"/>
                      <a:r>
                        <a:rPr sz="1250" b="0">
                          <a:solidFill>
                            <a:srgbClr val="0B0B0B"/>
                          </a:solidFill>
                          <a:latin typeface="Calibri"/>
                        </a:rPr>
                        <a:t>Chat + file transfer + HMAC verification + key management, combined</a:t>
                      </a:r>
                    </a:p>
                  </a:txBody>
                  <a:tcPr anchor="ctr" marL="91440" marR="91440" marT="45720" marB="45720">
                    <a:solidFill>
                      <a:srgbClr val="F0EFEC"/>
                    </a:solidFill>
                  </a:tcPr>
                </a:tc>
              </a:tr>
              <a:tr h="502920">
                <a:tc>
                  <a:txBody>
                    <a:bodyPr wrap="square"/>
                    <a:lstStyle/>
                    <a:p>
                      <a:pPr algn="l"/>
                      <a:r>
                        <a:rPr sz="1250" b="0">
                          <a:solidFill>
                            <a:srgbClr val="0B0B0B"/>
                          </a:solidFill>
                          <a:latin typeface="Calibri"/>
                        </a:rPr>
                        <a:t>ask_receiver</a:t>
                      </a:r>
                    </a:p>
                  </a:txBody>
                  <a:tcPr anchor="ctr" marL="91440" marR="91440" marT="45720" marB="45720">
                    <a:solidFill>
                      <a:srgbClr val="FFFFFF"/>
                    </a:solidFill>
                  </a:tcPr>
                </a:tc>
                <a:tc>
                  <a:txBody>
                    <a:bodyPr wrap="square"/>
                    <a:lstStyle/>
                    <a:p>
                      <a:pPr algn="ctr"/>
                      <a:r>
                        <a:rPr sz="1250" b="0">
                          <a:solidFill>
                            <a:srgbClr val="0B0B0B"/>
                          </a:solidFill>
                          <a:latin typeface="Calibri"/>
                        </a:rPr>
                        <a:t>“The Detective”</a:t>
                      </a:r>
                    </a:p>
                  </a:txBody>
                  <a:tcPr anchor="ctr" marL="91440" marR="91440" marT="45720" marB="45720">
                    <a:solidFill>
                      <a:srgbClr val="FFFFFF"/>
                    </a:solidFill>
                  </a:tcPr>
                </a:tc>
                <a:tc>
                  <a:txBody>
                    <a:bodyPr wrap="square"/>
                    <a:lstStyle/>
                    <a:p>
                      <a:pPr algn="ctr"/>
                      <a:r>
                        <a:rPr sz="1250" b="0">
                          <a:solidFill>
                            <a:srgbClr val="0B0B0B"/>
                          </a:solidFill>
                          <a:latin typeface="Calibri"/>
                        </a:rPr>
                        <a:t>No keys at start — listens for an optical key-ID broadcast, then queries Auth</a:t>
                      </a:r>
                    </a:p>
                  </a:txBody>
                  <a:tcPr anchor="ctr" marL="91440" marR="91440" marT="45720" marB="45720">
                    <a:solidFill>
                      <a:srgbClr val="FFFFFF"/>
                    </a:solidFill>
                  </a:tcPr>
                </a:tc>
              </a:tr>
            </a:tbl>
          </a:graphicData>
        </a:graphic>
      </p:graphicFrame>
      <p:sp>
        <p:nvSpPr>
          <p:cNvPr id="4" name="TextBox 3"/>
          <p:cNvSpPr txBox="1"/>
          <p:nvPr/>
        </p:nvSpPr>
        <p:spPr>
          <a:xfrm>
            <a:off x="502920" y="3931920"/>
            <a:ext cx="11155680" cy="548640"/>
          </a:xfrm>
          <a:prstGeom prst="rect">
            <a:avLst/>
          </a:prstGeom>
          <a:noFill/>
        </p:spPr>
        <p:txBody>
          <a:bodyPr wrap="square">
            <a:spAutoFit/>
          </a:bodyPr>
          <a:lstStyle/>
          <a:p>
            <a:pPr algn="ctr"/>
            <a:r>
              <a:rPr sz="1250" i="0" b="1">
                <a:solidFill>
                  <a:srgbClr val="898781"/>
                </a:solidFill>
                <a:latin typeface="Calibri"/>
              </a:rPr>
              <a:t>ask_receiver implements the roaming/discovery model shown on the Auth-runtime slide — it is the concrete code behind that diagram, not a conceptual simplification.</a:t>
            </a:r>
          </a:p>
        </p:txBody>
      </p:sp>
      <p:sp>
        <p:nvSpPr>
          <p:cNvPr id="5" name="TextBox 4"/>
          <p:cNvSpPr txBox="1"/>
          <p:nvPr/>
        </p:nvSpPr>
        <p:spPr>
          <a:xfrm>
            <a:off x="685800" y="4617720"/>
            <a:ext cx="10789920" cy="1828800"/>
          </a:xfrm>
          <a:prstGeom prst="rect">
            <a:avLst/>
          </a:prstGeom>
          <a:noFill/>
        </p:spPr>
        <p:txBody>
          <a:bodyPr wrap="square">
            <a:spAutoFit/>
          </a:bodyPr>
          <a:lstStyle/>
          <a:p>
            <a:pPr>
              <a:spcAft>
                <a:spcPts val="1100"/>
              </a:spcAft>
            </a:pPr>
            <a:r>
              <a:rPr sz="1350">
                <a:solidFill>
                  <a:srgbClr val="0B0B0B"/>
                </a:solidFill>
                <a:latin typeface="Calibri"/>
              </a:rPr>
              <a:t>●   Message types relevant to Auth interaction: MSG_TYPE_KEY_ID_ONLY (discovery), MSG_TYPE_CHALLENGE / RESPONSE (runtime HMAC), MSG_TYPE_KEY (provisioning push)</a:t>
            </a:r>
          </a:p>
          <a:p>
            <a:pPr>
              <a:spcAft>
                <a:spcPts val="1100"/>
              </a:spcAft>
            </a:pPr>
            <a:r>
              <a:rPr sz="1350">
                <a:solidFill>
                  <a:srgbClr val="0B0B0B"/>
                </a:solidFill>
                <a:latin typeface="Calibri"/>
              </a:rPr>
              <a:t>●   All three variants share the same SST C API calls underneath: init_SST(), get_session_key(), get_session_key_by_ID()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Backup — SST/IoTAuth Publication Lineage &amp; Team</a:t>
            </a:r>
          </a:p>
        </p:txBody>
      </p:sp>
      <p:sp>
        <p:nvSpPr>
          <p:cNvPr id="3" name="TextBox 2"/>
          <p:cNvSpPr txBox="1"/>
          <p:nvPr/>
        </p:nvSpPr>
        <p:spPr>
          <a:xfrm>
            <a:off x="685800" y="1600200"/>
            <a:ext cx="10789920" cy="4572000"/>
          </a:xfrm>
          <a:prstGeom prst="rect">
            <a:avLst/>
          </a:prstGeom>
          <a:noFill/>
        </p:spPr>
        <p:txBody>
          <a:bodyPr wrap="square">
            <a:spAutoFit/>
          </a:bodyPr>
          <a:lstStyle/>
          <a:p>
            <a:pPr>
              <a:spcAft>
                <a:spcPts val="1100"/>
              </a:spcAft>
            </a:pPr>
            <a:r>
              <a:rPr sz="1700">
                <a:solidFill>
                  <a:srgbClr val="0B0B0B"/>
                </a:solidFill>
                <a:latin typeface="Calibri"/>
              </a:rPr>
              <a:t>●   IoTDI '17 and FiCloud '16 — secure network architecture with Auth-mediated key distribution for IoT</a:t>
            </a:r>
          </a:p>
          <a:p>
            <a:pPr>
              <a:spcAft>
                <a:spcPts val="1100"/>
              </a:spcAft>
            </a:pPr>
            <a:r>
              <a:rPr sz="1700">
                <a:solidFill>
                  <a:srgbClr val="0B0B0B"/>
                </a:solidFill>
                <a:latin typeface="Calibri"/>
              </a:rPr>
              <a:t>●   IT Professional '17 — the “locally centralized, globally distributed” authentication/authorization architecture</a:t>
            </a:r>
          </a:p>
          <a:p>
            <a:pPr>
              <a:spcAft>
                <a:spcPts val="1100"/>
              </a:spcAft>
            </a:pPr>
            <a:r>
              <a:rPr sz="1700">
                <a:solidFill>
                  <a:srgbClr val="0B0B0B"/>
                </a:solidFill>
                <a:latin typeface="Calibri"/>
              </a:rPr>
              <a:t>●   ACM TIOT '20 — secure migration as a recovery mechanism from denial-of-service attacks or failures</a:t>
            </a:r>
          </a:p>
          <a:p>
            <a:pPr>
              <a:spcAft>
                <a:spcPts val="1100"/>
              </a:spcAft>
            </a:pPr>
            <a:r>
              <a:rPr sz="1700">
                <a:solidFill>
                  <a:srgbClr val="0B0B0B"/>
                </a:solidFill>
                <a:latin typeface="Calibri"/>
              </a:rPr>
              <a:t>●   SoftwareX '23 — the C API this project links against (sst-c-api)</a:t>
            </a:r>
          </a:p>
          <a:p>
            <a:pPr>
              <a:spcAft>
                <a:spcPts val="1100"/>
              </a:spcAft>
            </a:pPr>
            <a:r>
              <a:rPr sz="1700">
                <a:solidFill>
                  <a:srgbClr val="0B0B0B"/>
                </a:solidFill>
                <a:latin typeface="Calibri"/>
              </a:rPr>
              <a:t>●   SIGMOD '25 / Mid4CC '23 — SST applied to large-scale key-value storage and decentralized file-system access control</a:t>
            </a:r>
          </a:p>
          <a:p>
            <a:pPr>
              <a:spcAft>
                <a:spcPts val="1100"/>
              </a:spcAft>
            </a:pPr>
            <a:r>
              <a:rPr sz="1700">
                <a:solidFill>
                  <a:srgbClr val="0B0B0B"/>
                </a:solidFill>
                <a:latin typeface="Calibri"/>
              </a:rPr>
              <a:t>●   Most in-depth technical reference: a 2017 UC Berkeley Ph.D. dissertation on the underlying architecture</a:t>
            </a:r>
          </a:p>
          <a:p>
            <a:pPr>
              <a:spcAft>
                <a:spcPts val="1100"/>
              </a:spcAft>
            </a:pPr>
            <a:r>
              <a:rPr sz="1700">
                <a:solidFill>
                  <a:srgbClr val="0B0B0B"/>
                </a:solidFill>
                <a:latin typeface="Calibri"/>
              </a:rPr>
              <a:t>●   Active contributors (per the project's own repository): Hokeun Kim, Dongha Kim, Carlos Beltran Quinonez, Sunyoung Kim, Jose Felix — all ASU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Backup — Two Real Bugs Found During Eval Prep</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Why the debug-receiver measurements should be trusted, not just assumed correct</a:t>
            </a:r>
          </a:p>
        </p:txBody>
      </p:sp>
      <p:graphicFrame>
        <p:nvGraphicFramePr>
          <p:cNvPr id="4" name="Table 3"/>
          <p:cNvGraphicFramePr>
            <a:graphicFrameLocks noGrp="1"/>
          </p:cNvGraphicFramePr>
          <p:nvPr/>
        </p:nvGraphicFramePr>
        <p:xfrm>
          <a:off x="685800" y="1691640"/>
          <a:ext cx="10789920" cy="2377440"/>
        </p:xfrm>
        <a:graphic>
          <a:graphicData uri="http://schemas.openxmlformats.org/drawingml/2006/table">
            <a:tbl>
              <a:tblPr firstRow="1" bandRow="1">
                <a:tableStyleId>{5C22544A-7EE6-4342-B048-85BDC9FD1C3A}</a:tableStyleId>
              </a:tblPr>
              <a:tblGrid>
                <a:gridCol w="2011680"/>
                <a:gridCol w="4572000"/>
                <a:gridCol w="4206240"/>
              </a:tblGrid>
              <a:tr h="792480">
                <a:tc>
                  <a:txBody>
                    <a:bodyPr wrap="square"/>
                    <a:lstStyle/>
                    <a:p>
                      <a:pPr algn="l"/>
                      <a:r>
                        <a:rPr sz="1350" b="1">
                          <a:solidFill>
                            <a:srgbClr val="FFFFFF"/>
                          </a:solidFill>
                          <a:latin typeface="Calibri"/>
                        </a:rPr>
                        <a:t>Bug</a:t>
                      </a:r>
                    </a:p>
                  </a:txBody>
                  <a:tcPr anchor="ctr" marL="91440" marR="91440" marT="45720" marB="45720">
                    <a:solidFill>
                      <a:srgbClr val="0B0B0B"/>
                    </a:solidFill>
                  </a:tcPr>
                </a:tc>
                <a:tc>
                  <a:txBody>
                    <a:bodyPr wrap="square"/>
                    <a:lstStyle/>
                    <a:p>
                      <a:pPr algn="ctr"/>
                      <a:r>
                        <a:rPr sz="1350" b="1">
                          <a:solidFill>
                            <a:srgbClr val="FFFFFF"/>
                          </a:solidFill>
                          <a:latin typeface="Calibri"/>
                        </a:rPr>
                        <a:t>What was wrong</a:t>
                      </a:r>
                    </a:p>
                  </a:txBody>
                  <a:tcPr anchor="ctr" marL="91440" marR="91440" marT="45720" marB="45720">
                    <a:solidFill>
                      <a:srgbClr val="0B0B0B"/>
                    </a:solidFill>
                  </a:tcPr>
                </a:tc>
                <a:tc>
                  <a:txBody>
                    <a:bodyPr wrap="square"/>
                    <a:lstStyle/>
                    <a:p>
                      <a:pPr algn="ctr"/>
                      <a:r>
                        <a:rPr sz="1350" b="1">
                          <a:solidFill>
                            <a:srgbClr val="FFFFFF"/>
                          </a:solidFill>
                          <a:latin typeface="Calibri"/>
                        </a:rPr>
                        <a:t>Impact / fix</a:t>
                      </a:r>
                    </a:p>
                  </a:txBody>
                  <a:tcPr anchor="ctr" marL="91440" marR="91440" marT="45720" marB="45720">
                    <a:solidFill>
                      <a:srgbClr val="0B0B0B"/>
                    </a:solidFill>
                  </a:tcPr>
                </a:tc>
              </a:tr>
              <a:tr h="792480">
                <a:tc>
                  <a:txBody>
                    <a:bodyPr wrap="square"/>
                    <a:lstStyle/>
                    <a:p>
                      <a:pPr algn="l"/>
                      <a:r>
                        <a:rPr sz="1250" b="0">
                          <a:solidFill>
                            <a:srgbClr val="0B0B0B"/>
                          </a:solidFill>
                          <a:latin typeface="Calibri"/>
                        </a:rPr>
                        <a:t>Framing bug</a:t>
                      </a:r>
                    </a:p>
                  </a:txBody>
                  <a:tcPr anchor="ctr" marL="91440" marR="91440" marT="45720" marB="45720">
                    <a:solidFill>
                      <a:srgbClr val="FFFFFF"/>
                    </a:solidFill>
                  </a:tcPr>
                </a:tc>
                <a:tc>
                  <a:txBody>
                    <a:bodyPr wrap="square"/>
                    <a:lstStyle/>
                    <a:p>
                      <a:pPr algn="ctr"/>
                      <a:r>
                        <a:rPr sz="1250" b="0">
                          <a:solidFill>
                            <a:srgbClr val="0B0B0B"/>
                          </a:solidFill>
                          <a:latin typeface="Calibri"/>
                        </a:rPr>
                        <a:t>Newline-terminated framing broke on any real encrypted frame — binary ciphertext routinely contains 0x0A/0x0D bytes</a:t>
                      </a:r>
                    </a:p>
                  </a:txBody>
                  <a:tcPr anchor="ctr" marL="91440" marR="91440" marT="45720" marB="45720">
                    <a:solidFill>
                      <a:srgbClr val="FFFFFF"/>
                    </a:solidFill>
                  </a:tcPr>
                </a:tc>
                <a:tc>
                  <a:txBody>
                    <a:bodyPr wrap="square"/>
                    <a:lstStyle/>
                    <a:p>
                      <a:pPr algn="ctr"/>
                      <a:r>
                        <a:rPr sz="1250" b="0">
                          <a:solidFill>
                            <a:srgbClr val="0B0B0B"/>
                          </a:solidFill>
                          <a:latin typeface="Calibri"/>
                        </a:rPr>
                        <a:t>Replaced with proper length-prefixed binary parsing matching the actual wire format</a:t>
                      </a:r>
                    </a:p>
                  </a:txBody>
                  <a:tcPr anchor="ctr" marL="91440" marR="91440" marT="45720" marB="45720">
                    <a:solidFill>
                      <a:srgbClr val="FFFFFF"/>
                    </a:solidFill>
                  </a:tcPr>
                </a:tc>
              </a:tr>
              <a:tr h="792480">
                <a:tc>
                  <a:txBody>
                    <a:bodyPr wrap="square"/>
                    <a:lstStyle/>
                    <a:p>
                      <a:pPr algn="l"/>
                      <a:r>
                        <a:rPr sz="1250" b="0">
                          <a:solidFill>
                            <a:srgbClr val="0B0B0B"/>
                          </a:solidFill>
                          <a:latin typeface="Calibri"/>
                        </a:rPr>
                        <a:t>Silent key-rotation no-op</a:t>
                      </a:r>
                    </a:p>
                  </a:txBody>
                  <a:tcPr anchor="ctr" marL="91440" marR="91440" marT="45720" marB="45720">
                    <a:solidFill>
                      <a:srgbClr val="F0EFEC"/>
                    </a:solidFill>
                  </a:tcPr>
                </a:tc>
                <a:tc>
                  <a:txBody>
                    <a:bodyPr wrap="square"/>
                    <a:lstStyle/>
                    <a:p>
                      <a:pPr algn="ctr"/>
                      <a:r>
                        <a:rPr sz="1250" b="0">
                          <a:solidFill>
                            <a:srgbClr val="0B0B0B"/>
                          </a:solidFill>
                          <a:latin typeface="Calibri"/>
                        </a:rPr>
                        <a:t>Key-push tool targeted the Pico's USB console instead of the hardware UART the firmware's key handler actually reads from</a:t>
                      </a:r>
                    </a:p>
                  </a:txBody>
                  <a:tcPr anchor="ctr" marL="91440" marR="91440" marT="45720" marB="45720">
                    <a:solidFill>
                      <a:srgbClr val="F0EFEC"/>
                    </a:solidFill>
                  </a:tcPr>
                </a:tc>
                <a:tc>
                  <a:txBody>
                    <a:bodyPr wrap="square"/>
                    <a:lstStyle/>
                    <a:p>
                      <a:pPr algn="ctr"/>
                      <a:r>
                        <a:rPr sz="1250" b="0">
                          <a:solidFill>
                            <a:srgbClr val="0B0B0B"/>
                          </a:solidFill>
                          <a:latin typeface="Calibri"/>
                        </a:rPr>
                        <a:t>Reported “success,” changed nothing — for an unknown, possibly long stretch of the project's history</a:t>
                      </a:r>
                    </a:p>
                  </a:txBody>
                  <a:tcPr anchor="ctr" marL="91440" marR="91440" marT="45720" marB="45720">
                    <a:solidFill>
                      <a:srgbClr val="F0EFEC"/>
                    </a:solidFill>
                  </a:tcPr>
                </a:tc>
              </a:tr>
            </a:tbl>
          </a:graphicData>
        </a:graphic>
      </p:graphicFrame>
      <p:sp>
        <p:nvSpPr>
          <p:cNvPr id="5" name="TextBox 4"/>
          <p:cNvSpPr txBox="1"/>
          <p:nvPr/>
        </p:nvSpPr>
        <p:spPr>
          <a:xfrm>
            <a:off x="502920" y="4343400"/>
            <a:ext cx="11155680" cy="548640"/>
          </a:xfrm>
          <a:prstGeom prst="rect">
            <a:avLst/>
          </a:prstGeom>
          <a:noFill/>
        </p:spPr>
        <p:txBody>
          <a:bodyPr wrap="square">
            <a:spAutoFit/>
          </a:bodyPr>
          <a:lstStyle/>
          <a:p>
            <a:pPr algn="ctr"/>
            <a:r>
              <a:rPr sz="1250" i="0" b="1">
                <a:solidFill>
                  <a:srgbClr val="898781"/>
                </a:solidFill>
                <a:latin typeface="Calibri"/>
              </a:rPr>
              <a:t>Both found and fixed on the debug receiver during 2026-07-25 eval prep, before any of the reported measurements were taken.</a:t>
            </a:r>
          </a:p>
        </p:txBody>
      </p:sp>
      <p:sp>
        <p:nvSpPr>
          <p:cNvPr id="6" name="TextBox 5"/>
          <p:cNvSpPr txBox="1"/>
          <p:nvPr/>
        </p:nvSpPr>
        <p:spPr>
          <a:xfrm>
            <a:off x="685800" y="4846320"/>
            <a:ext cx="10789920" cy="1554480"/>
          </a:xfrm>
          <a:prstGeom prst="rect">
            <a:avLst/>
          </a:prstGeom>
          <a:noFill/>
        </p:spPr>
        <p:txBody>
          <a:bodyPr wrap="square">
            <a:spAutoFit/>
          </a:bodyPr>
          <a:lstStyle/>
          <a:p>
            <a:pPr>
              <a:spcAft>
                <a:spcPts val="1100"/>
              </a:spcAft>
            </a:pPr>
            <a:r>
              <a:rPr sz="1400">
                <a:solidFill>
                  <a:srgbClr val="0B0B0B"/>
                </a:solidFill>
                <a:latin typeface="Calibri"/>
              </a:rPr>
              <a:t>●   The receiver firmware's on-device revocation decision (presence_check_decay()) was added after these numbers were measured</a:t>
            </a:r>
          </a:p>
          <a:p>
            <a:pPr>
              <a:spcAft>
                <a:spcPts val="1100"/>
              </a:spcAft>
            </a:pPr>
            <a:r>
              <a:rPr sz="1400">
                <a:solidFill>
                  <a:srgbClr val="0B0B0B"/>
                </a:solidFill>
                <a:latin typeface="Calibri"/>
              </a:rPr>
              <a:t>●   Re-running the occlusion test against it, to confirm the reported latency carries over unchanged, is a specific, named check — not a generic caveat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