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The orange arrow is the one that matters: the optical channel, one-way, is the whole security argument. Below the divider is the real deployed reporting path — WiFi with HMAC-signed requests to a dashboard — drawn separately and grayed out on purpose, because it is implementation, not part of the security model above it. Flag here that evaluation results were measured on the debug receiver shown in the footnote, not this production Pi4 path — you'll return to why on the methodology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happen with Auth in the loop that are easy to miss if you only think of provisioning as a one-time boot-up handshake. Phase one: a device entering a room broadcasts only its non-secret 8-byte key ID over light — never the session key itself. If the receiver doesn't already recognize that ID locally, it performs what the code literally calls a roaming lookup — get_session_key_by_ID over mutual TLS to the Auth server. Auth can return the session key for a valid, registered device, or reject the request outright for an unknown or revoked one. That rejection path is a second, distinct revocation mechanism from G4: G4 revokes because the physical light signal stopped; this revokes because Auth, administratively, said no — identity-layer revocation versus physical-layer revocation, and they're complementary, not redundant. Phase two: at any point after that, the receiver can issue a live HMAC challenge to the sender over the same optical or UART link — a fresh random challenge, HMAC-SHA256 under the session MAC key, AES-GCM-encrypted response, compared locally. That's a stronger, on-demand proof of live key possession, layered on top of the passive 'this frame decrypted successfully' freshness check the whole G1/G4 evaluation is built on. If asked why both mechanisms exist: the passive heartbeat check is what's continuously measured in the evaluation section; the active challenge is available whenever a stronger, interactive proof is warranted, without adding new hardware or a new channel.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debug-receiver caveat proactively and plainly, in the same tone as every other sentence on this slide — don't let your delivery shift when you get to it. The wire format, freshness state machine, and nonce window are byte-identical between the two receivers; the only thing omitted is the reporting layer, which has nothing to do with the security logic being measured. If pressed: this was a deliberate choice to get clean, directly-instrumented protocol events rather than parsing them back out of HTTP/dashboard state.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strip plots: time-to-revoke on the left, time-to-reverify on the right, two trial batches each. Blue is the as-deployed condition, 5-second dashboard polling — 21 trials. Orange is fine-grained 0.2-second polling —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 essentially exactly the 15-second freshness window plus about a tenth of a second of fixed processing overhead. That's the G4 evidence: revocation on interruption, enforced precisely. On the right, re-verification after unblocking is consistently under 1.5 seconds in both batches, bounded above by the 2.5-second heartbeat interval as expected.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results in one timeline.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back to slide 10's scorecard, now with evidence in the last column instead of just mechanism. Read it goal by goal, evidence-first: this is the moment to sound confident, because everything in the 'evidence' column is a number you already showed them on the previous four slides — you're not introducing anything new here, just tying 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limitations, read at the same pace and volume as everything else in the talk — don't rush through this slide to get past it. The last bullet is the one to make sure lands clearly: it's not a generic hedge, it's a specific, checkable pending item with a known reason to be cautious. During eval prep, debugging surfaced two real, previously-invisible protocol bugs on the debug receiver — a framing bug that broke on binary ciphertext containing 0x0A/0x0D bytes, and a key-push tool silently writing to the wrong UART, so key rotation no-op'd for an unknown stretch of time despite reporting success. Both are fixed on the debug receiver. dash_receiver.c consumes the identical wire protocol and hasn't been exercised against a correctly-synced key since — so this isn't 'probably fine, just untested,' it's 'a specific known bug class this exact path could still have.' See the backup slide on the two bugs found during eval prep if asked how you know your measurements are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grouping itself is the point: the left column closes gaps you already admitted to earlier in the talk — G3's distance-bounding, the Pi4 confirmation, formal verification — while the right column extends capability the system already has. Say the grouping out loud rather than just reading bullets: it signals you know what matters most next, rather than reciting a flat wish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needed if asked to justify why three separate receiver binaries exist rather than one. The honest answer: they correspond to three different Auth interaction models that were useful to isolate during development and evaluation — a proactive key-manager, a full combined session app, and a pure discovery/roaming client — not three independent implementations of the security logic, which is shared underneath via the same SST C API and the same replay/freshness code paths.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this up if asked how you know the eval numbers are trustworthy, or why the Pi4 confirmation gap in Limitations is called out so specifically rather than as generic future work. The honest framing: these bugs are evidence the instrumentation was rigorous enough to catch real, previously-invisible problems — including one, the silent key-rotation no-op, that had been reporting false success for an unknown stretch of time before anyone noticed. That same class of bug is exactly what hasn't been ruled out yet on the production Pi4 path, which is why that item is flagged by name rather than left as a vague 'pending' bullet.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0515600" cy="2103120"/>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Motivation</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RF security is an architecture problem. Optical confinement is a physics problem.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RF wireless (WiFi, Bluetooth, Zigbee) propagates through walls, floors, and physical barriers by design</a:t>
            </a:r>
          </a:p>
          <a:p>
            <a:pPr>
              <a:spcAft>
                <a:spcPts val="1100"/>
              </a:spcAft>
            </a:pPr>
            <a:r>
              <a:rPr sz="1700">
                <a:solidFill>
                  <a:srgbClr val="0B0B0B"/>
                </a:solidFill>
                <a:latin typeface="Calibri"/>
              </a:rPr>
              <a:t>●   An attacker need not be physically present to intercept, relay, or replay an RF authorization credential</a:t>
            </a:r>
          </a:p>
          <a:p>
            <a:pPr>
              <a:spcAft>
                <a:spcPts val="1100"/>
              </a:spcAft>
            </a:pPr>
            <a:r>
              <a:rPr sz="1700">
                <a:solidFill>
                  <a:srgbClr val="0B0B0B"/>
                </a:solidFill>
                <a:latin typeface="Calibri"/>
              </a:rPr>
              <a:t>●   Enforcing a physical boundary on RF requires costly countermeasures — shielding, Faraday enclosures, attenuation infrastructure</a:t>
            </a:r>
          </a:p>
          <a:p>
            <a:pPr>
              <a:spcAft>
                <a:spcPts val="1100"/>
              </a:spcAft>
            </a:pPr>
            <a:r>
              <a:rPr sz="1700">
                <a:solidFill>
                  <a:srgbClr val="0B0B0B"/>
                </a:solidFill>
                <a:latin typeface="Calibri"/>
              </a:rPr>
              <a:t>●   LEDs have quietly become the dominant lighting technology in nearly every indoor environment — hospitals, schools, warehouses, offices</a:t>
            </a:r>
          </a:p>
          <a:p>
            <a:pPr>
              <a:spcAft>
                <a:spcPts val="1100"/>
              </a:spcAft>
            </a:pPr>
            <a:r>
              <a:rPr sz="1700">
                <a:solidFill>
                  <a:srgbClr val="0B0B0B"/>
                </a:solidFill>
                <a:latin typeface="Calibri"/>
              </a:rPr>
              <a:t>●   That installed, already-powered, already-trusted infrastructure can modulate data imperceptibly to the human eye</a:t>
            </a:r>
          </a:p>
          <a:p>
            <a:pPr>
              <a:spcAft>
                <a:spcPts val="1100"/>
              </a:spcAft>
            </a:pPr>
            <a:r>
              <a:rPr sz="1700">
                <a:solidFill>
                  <a:srgbClr val="0B0B0B"/>
                </a:solidFill>
                <a:latin typeface="Calibri"/>
              </a:rPr>
              <a:t>●   Light does not pass through opaque walls or travel around corners without deliberate redirection — confinement by construction, not by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The Gap This Thesis Addresses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existing work binds authorization to continuous, time-bounded optical reception with automatic revocation</a:t>
            </a:r>
          </a:p>
          <a:p>
            <a:pPr>
              <a:spcAft>
                <a:spcPts val="1100"/>
              </a:spcAft>
            </a:pPr>
            <a:r>
              <a:rPr sz="1700">
                <a:solidFill>
                  <a:srgbClr val="0B0B0B"/>
                </a:solidFill>
                <a:latin typeface="Calibri"/>
              </a:rPr>
              <a:t>●   This thesis reframes the optical signal as an active security primitive — not just a higher-bandwidth data channel</a:t>
            </a:r>
          </a:p>
          <a:p>
            <a:pPr>
              <a:spcAft>
                <a:spcPts val="1100"/>
              </a:spcAft>
            </a:pPr>
            <a:r>
              <a:rPr sz="1700">
                <a:solidFill>
                  <a:srgbClr val="0B0B0B"/>
                </a:solidFill>
                <a:latin typeface="Calibri"/>
              </a:rPr>
              <a:t>●   The optical signal is continuously asserted, continuously verified, and automatically revoked the instant the optical path breaks</a:t>
            </a:r>
          </a:p>
          <a:p>
            <a:pPr>
              <a:spcAft>
                <a:spcPts val="1100"/>
              </a:spcAft>
            </a:pPr>
            <a:r>
              <a:rPr sz="1700">
                <a:solidFill>
                  <a:srgbClr val="0B0B0B"/>
                </a:solidFill>
                <a:latin typeface="Calibri"/>
              </a:rPr>
              <a:t>●   Formalized as four concrete security goals:</a:t>
            </a:r>
          </a:p>
          <a:p>
            <a:pPr lvl="1">
              <a:spcAft>
                <a:spcPts val="700"/>
              </a:spcAft>
            </a:pPr>
            <a:r>
              <a:rPr sz="1450">
                <a:solidFill>
                  <a:srgbClr val="52514E"/>
                </a:solidFill>
                <a:latin typeface="Calibri"/>
              </a:rPr>
              <a:t>‒   G1 — Freshness &amp; Expiration</a:t>
            </a:r>
          </a:p>
          <a:p>
            <a:pPr lvl="1">
              <a:spcAft>
                <a:spcPts val="700"/>
              </a:spcAft>
            </a:pPr>
            <a:r>
              <a:rPr sz="1450">
                <a:solidFill>
                  <a:srgbClr val="52514E"/>
                </a:solidFill>
                <a:latin typeface="Calibri"/>
              </a:rPr>
              <a:t>‒   G2 — Replay Resistance</a:t>
            </a:r>
          </a:p>
          <a:p>
            <a:pPr lvl="1">
              <a:spcAft>
                <a:spcPts val="700"/>
              </a:spcAft>
            </a:pPr>
            <a:r>
              <a:rPr sz="1450">
                <a:solidFill>
                  <a:srgbClr val="52514E"/>
                </a:solidFill>
                <a:latin typeface="Calibri"/>
              </a:rPr>
              <a:t>‒   G3 — Relay-Bounded Authorization</a:t>
            </a:r>
          </a:p>
          <a:p>
            <a:pPr lvl="1">
              <a:spcAft>
                <a:spcPts val="700"/>
              </a:spcAft>
            </a:pPr>
            <a:r>
              <a:rPr sz="1450">
                <a:solidFill>
                  <a:srgbClr val="52514E"/>
                </a:solidFill>
                <a:latin typeface="Calibri"/>
              </a:rPr>
              <a:t>‒   G4 — Revocation on Interruption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gridCol w="4480560"/>
                <a:gridCol w="3749039"/>
              </a:tblGrid>
              <a:tr h="658368">
                <a:tc>
                  <a:txBody>
                    <a:bodyPr wrap="square"/>
                    <a:lstStyle/>
                    <a:p>
                      <a:pPr algn="l"/>
                      <a:r>
                        <a:rPr sz="1350" b="1">
                          <a:solidFill>
                            <a:srgbClr val="FFFFFF"/>
                          </a:solidFill>
                          <a:latin typeface="Calibri"/>
                        </a:rPr>
                        <a:t>Category</a:t>
                      </a:r>
                    </a:p>
                  </a:txBody>
                  <a:tcPr anchor="ctr" marL="91440" marR="91440" marT="45720" marB="45720">
                    <a:solidFill>
                      <a:srgbClr val="0B0B0B"/>
                    </a:solidFill>
                  </a:tcPr>
                </a:tc>
                <a:tc>
                  <a:txBody>
                    <a:bodyPr wrap="square"/>
                    <a:lstStyle/>
                    <a:p>
                      <a:pPr algn="ctr"/>
                      <a:r>
                        <a:rPr sz="1350" b="1">
                          <a:solidFill>
                            <a:srgbClr val="FFFFFF"/>
                          </a:solidFill>
                          <a:latin typeface="Calibri"/>
                        </a:rPr>
                        <a:t>What it does</a:t>
                      </a:r>
                    </a:p>
                  </a:txBody>
                  <a:tcPr anchor="ctr" marL="91440" marR="91440" marT="45720" marB="45720">
                    <a:solidFill>
                      <a:srgbClr val="0B0B0B"/>
                    </a:solidFill>
                  </a:tcPr>
                </a:tc>
                <a:tc>
                  <a:txBody>
                    <a:bodyPr wrap="square"/>
                    <a:lstStyle/>
                    <a:p>
                      <a:pPr algn="ctr"/>
                      <a:r>
                        <a:rPr sz="1350" b="1">
                          <a:solidFill>
                            <a:srgbClr val="FFFFFF"/>
                          </a:solidFill>
                          <a:latin typeface="Calibri"/>
                        </a:rPr>
                        <a:t>What it doesn't do</a:t>
                      </a:r>
                    </a:p>
                  </a:txBody>
                  <a:tcPr anchor="ctr" marL="91440" marR="91440" marT="45720" marB="45720">
                    <a:solidFill>
                      <a:srgbClr val="0B0B0B"/>
                    </a:solidFill>
                  </a:tcPr>
                </a:tc>
              </a:tr>
              <a:tr h="658368">
                <a:tc>
                  <a:txBody>
                    <a:bodyPr wrap="square"/>
                    <a:lstStyle/>
                    <a:p>
                      <a:pPr algn="l"/>
                      <a:r>
                        <a:rPr sz="1250" b="0">
                          <a:solidFill>
                            <a:srgbClr val="0B0B0B"/>
                          </a:solidFill>
                          <a:latin typeface="Calibri"/>
                        </a:rPr>
                        <a:t>Info-theoretic PLS</a:t>
                      </a:r>
                    </a:p>
                  </a:txBody>
                  <a:tcPr anchor="ctr" marL="91440" marR="91440" marT="45720" marB="45720">
                    <a:solidFill>
                      <a:srgbClr val="FFFFFF"/>
                    </a:solidFill>
                  </a:tcPr>
                </a:tc>
                <a:tc>
                  <a:txBody>
                    <a:bodyPr wrap="square"/>
                    <a:lstStyle/>
                    <a:p>
                      <a:pPr algn="ctr"/>
                      <a:r>
                        <a:rPr sz="1250" b="0">
                          <a:solidFill>
                            <a:srgbClr val="0B0B0B"/>
                          </a:solidFill>
                          <a:latin typeface="Calibri"/>
                        </a:rPr>
                        <a:t>Statistical eavesdropper disadvantage (Wyner wiretap model)</a:t>
                      </a:r>
                    </a:p>
                  </a:txBody>
                  <a:tcPr anchor="ctr" marL="91440" marR="91440" marT="45720" marB="45720">
                    <a:solidFill>
                      <a:srgbClr val="FFFFFF"/>
                    </a:solidFill>
                  </a:tcPr>
                </a:tc>
                <a:tc>
                  <a:txBody>
                    <a:bodyPr wrap="square"/>
                    <a:lstStyle/>
                    <a:p>
                      <a:pPr algn="ctr"/>
                      <a:r>
                        <a:rPr sz="1250" b="0">
                          <a:solidFill>
                            <a:srgbClr val="0B0B0B"/>
                          </a:solidFill>
                          <a:latin typeface="Calibri"/>
                        </a:rPr>
                        <a:t>No real-time authorization decision</a:t>
                      </a:r>
                    </a:p>
                  </a:txBody>
                  <a:tcPr anchor="ctr" marL="91440" marR="91440" marT="45720" marB="45720">
                    <a:solidFill>
                      <a:srgbClr val="FFFFFF"/>
                    </a:solidFill>
                  </a:tcPr>
                </a:tc>
              </a:tr>
              <a:tr h="658368">
                <a:tc>
                  <a:txBody>
                    <a:bodyPr wrap="square"/>
                    <a:lstStyle/>
                    <a:p>
                      <a:pPr algn="l"/>
                      <a:r>
                        <a:rPr sz="1250" b="0">
                          <a:solidFill>
                            <a:srgbClr val="0B0B0B"/>
                          </a:solidFill>
                          <a:latin typeface="Calibri"/>
                        </a:rPr>
                        <a:t>Physical-layer key generation</a:t>
                      </a:r>
                    </a:p>
                  </a:txBody>
                  <a:tcPr anchor="ctr" marL="91440" marR="91440" marT="45720" marB="45720">
                    <a:solidFill>
                      <a:srgbClr val="F0EFEC"/>
                    </a:solidFill>
                  </a:tcPr>
                </a:tc>
                <a:tc>
                  <a:txBody>
                    <a:bodyPr wrap="square"/>
                    <a:lstStyle/>
                    <a:p>
                      <a:pPr algn="ctr"/>
                      <a:r>
                        <a:rPr sz="1250" b="0">
                          <a:solidFill>
                            <a:srgbClr val="0B0B0B"/>
                          </a:solidFill>
                          <a:latin typeface="Calibri"/>
                        </a:rPr>
                        <a:t>Bootstraps a shared secret from channel measurements</a:t>
                      </a:r>
                    </a:p>
                  </a:txBody>
                  <a:tcPr anchor="ctr" marL="91440" marR="91440" marT="45720" marB="45720">
                    <a:solidFill>
                      <a:srgbClr val="F0EFEC"/>
                    </a:solidFill>
                  </a:tcPr>
                </a:tc>
                <a:tc>
                  <a:txBody>
                    <a:bodyPr wrap="square"/>
                    <a:lstStyle/>
                    <a:p>
                      <a:pPr algn="ctr"/>
                      <a:r>
                        <a:rPr sz="1250" b="0">
                          <a:solidFill>
                            <a:srgbClr val="0B0B0B"/>
                          </a:solidFill>
                          <a:latin typeface="Calibri"/>
                        </a:rPr>
                        <a:t>Key persists after the optical link ends</a:t>
                      </a:r>
                    </a:p>
                  </a:txBody>
                  <a:tcPr anchor="ctr" marL="91440" marR="91440" marT="45720" marB="45720">
                    <a:solidFill>
                      <a:srgbClr val="F0EFEC"/>
                    </a:solidFill>
                  </a:tcPr>
                </a:tc>
              </a:tr>
              <a:tr h="658368">
                <a:tc>
                  <a:txBody>
                    <a:bodyPr wrap="square"/>
                    <a:lstStyle/>
                    <a:p>
                      <a:pPr algn="l"/>
                      <a:r>
                        <a:rPr sz="1250" b="0">
                          <a:solidFill>
                            <a:srgbClr val="0B0B0B"/>
                          </a:solidFill>
                          <a:latin typeface="Calibri"/>
                        </a:rPr>
                        <a:t>Encrypted VLC implementations</a:t>
                      </a:r>
                    </a:p>
                  </a:txBody>
                  <a:tcPr anchor="ctr" marL="91440" marR="91440" marT="45720" marB="45720">
                    <a:solidFill>
                      <a:srgbClr val="FFFFFF"/>
                    </a:solidFill>
                  </a:tcPr>
                </a:tc>
                <a:tc>
                  <a:txBody>
                    <a:bodyPr wrap="square"/>
                    <a:lstStyle/>
                    <a:p>
                      <a:pPr algn="ctr"/>
                      <a:r>
                        <a:rPr sz="1250" b="0">
                          <a:solidFill>
                            <a:srgbClr val="0B0B0B"/>
                          </a:solidFill>
                          <a:latin typeface="Calibri"/>
                        </a:rPr>
                        <a:t>Protects data in transit (RSA/chaos-synchronized links)</a:t>
                      </a:r>
                    </a:p>
                  </a:txBody>
                  <a:tcPr anchor="ctr" marL="91440" marR="91440" marT="45720" marB="45720">
                    <a:solidFill>
                      <a:srgbClr val="FFFFFF"/>
                    </a:solidFill>
                  </a:tcPr>
                </a:tc>
                <a:tc>
                  <a:txBody>
                    <a:bodyPr wrap="square"/>
                    <a:lstStyle/>
                    <a:p>
                      <a:pPr algn="ctr"/>
                      <a:r>
                        <a:rPr sz="1250" b="0">
                          <a:solidFill>
                            <a:srgbClr val="0B0B0B"/>
                          </a:solidFill>
                          <a:latin typeface="Calibri"/>
                        </a:rPr>
                        <a:t>Optical channel not used for access control</a:t>
                      </a:r>
                    </a:p>
                  </a:txBody>
                  <a:tcPr anchor="ctr" marL="91440" marR="91440" marT="45720" marB="45720">
                    <a:solidFill>
                      <a:srgbClr val="FFFFFF"/>
                    </a:solidFill>
                  </a:tcPr>
                </a:tc>
              </a:tr>
              <a:tr h="658368">
                <a:tc>
                  <a:txBody>
                    <a:bodyPr wrap="square"/>
                    <a:lstStyle/>
                    <a:p>
                      <a:pPr algn="l"/>
                      <a:r>
                        <a:rPr sz="1250" b="0">
                          <a:solidFill>
                            <a:srgbClr val="0B0B0B"/>
                          </a:solidFill>
                          <a:latin typeface="Calibri"/>
                        </a:rPr>
                        <a:t>Commercial LiFi (Signify, Oledcomm)</a:t>
                      </a:r>
                    </a:p>
                  </a:txBody>
                  <a:tcPr anchor="ctr" marL="91440" marR="91440" marT="45720" marB="45720">
                    <a:solidFill>
                      <a:srgbClr val="F0EFEC"/>
                    </a:solidFill>
                  </a:tcPr>
                </a:tc>
                <a:tc>
                  <a:txBody>
                    <a:bodyPr wrap="square"/>
                    <a:lstStyle/>
                    <a:p>
                      <a:pPr algn="ctr"/>
                      <a:r>
                        <a:rPr sz="1250" b="0">
                          <a:solidFill>
                            <a:srgbClr val="0B0B0B"/>
                          </a:solidFill>
                          <a:latin typeface="Calibri"/>
                        </a:rPr>
                        <a:t>Markets spatial confinement as a security feature</a:t>
                      </a:r>
                    </a:p>
                  </a:txBody>
                  <a:tcPr anchor="ctr" marL="91440" marR="91440" marT="45720" marB="45720">
                    <a:solidFill>
                      <a:srgbClr val="F0EFEC"/>
                    </a:solidFill>
                  </a:tcPr>
                </a:tc>
                <a:tc>
                  <a:txBody>
                    <a:bodyPr wrap="square"/>
                    <a:lstStyle/>
                    <a:p>
                      <a:pPr algn="ctr"/>
                      <a:r>
                        <a:rPr sz="1250" b="0">
                          <a:solidFill>
                            <a:srgbClr val="0B0B0B"/>
                          </a:solidFill>
                          <a:latin typeface="Calibri"/>
                        </a:rPr>
                        <a:t>One-time authentication, not continuous</a:t>
                      </a:r>
                    </a:p>
                  </a:txBody>
                  <a:tcPr anchor="ctr" marL="91440" marR="91440" marT="45720" marB="45720">
                    <a:solidFill>
                      <a:srgbClr val="F0EFEC"/>
                    </a:solidFill>
                  </a:tcPr>
                </a:tc>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i="0" b="1">
                <a:solidFill>
                  <a:srgbClr val="0B0B0B"/>
                </a:solidFill>
                <a:latin typeface="Calibri"/>
              </a:rPr>
              <a:t>Gap: no work formalizes, implements, and evaluates continuous optical-presence authorization with automatic revocation on signal loss.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System Architecture</a:t>
            </a:r>
          </a:p>
        </p:txBody>
      </p:sp>
      <p:pic>
        <p:nvPicPr>
          <p:cNvPr id="3" name="Picture 2" descr="system_block_diagram.png"/>
          <p:cNvPicPr>
            <a:picLocks noChangeAspect="1"/>
          </p:cNvPicPr>
          <p:nvPr/>
        </p:nvPicPr>
        <p:blipFill>
          <a:blip r:embed="rId2"/>
          <a:stretch>
            <a:fillRect/>
          </a:stretch>
        </p:blipFill>
        <p:spPr>
          <a:xfrm>
            <a:off x="1755455" y="1417320"/>
            <a:ext cx="8680784" cy="50749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Optical Beacon (Sender)</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Pico H · RP2040</a:t>
            </a:r>
          </a:p>
        </p:txBody>
      </p:sp>
      <p:pic>
        <p:nvPicPr>
          <p:cNvPr id="4" name="Picture 3" descr="lifi_sender_pcb.png"/>
          <p:cNvPicPr>
            <a:picLocks noChangeAspect="1"/>
          </p:cNvPicPr>
          <p:nvPr/>
        </p:nvPicPr>
        <p:blipFill>
          <a:blip r:embed="rId2"/>
          <a:stretch>
            <a:fillRect/>
          </a:stretch>
        </p:blipFill>
        <p:spPr>
          <a:xfrm>
            <a:off x="4290222" y="1417320"/>
            <a:ext cx="3611251" cy="3063240"/>
          </a:xfrm>
          <a:prstGeom prst="rect">
            <a:avLst/>
          </a:prstGeom>
        </p:spPr>
      </p:pic>
      <p:sp>
        <p:nvSpPr>
          <p:cNvPr id="5" name="TextBox 4"/>
          <p:cNvSpPr txBox="1"/>
          <p:nvPr/>
        </p:nvSpPr>
        <p:spPr>
          <a:xfrm>
            <a:off x="6309360" y="1554480"/>
            <a:ext cx="5486400" cy="4937760"/>
          </a:xfrm>
          <a:prstGeom prst="rect">
            <a:avLst/>
          </a:prstGeom>
          <a:noFill/>
        </p:spPr>
        <p:txBody>
          <a:bodyPr wrap="square">
            <a:spAutoFit/>
          </a:bodyPr>
          <a:lstStyle/>
          <a:p>
            <a:pPr>
              <a:spcAft>
                <a:spcPts val="1100"/>
              </a:spcAft>
            </a:pPr>
            <a:r>
              <a:rPr sz="1450">
                <a:solidFill>
                  <a:srgbClr val="0B0B0B"/>
                </a:solidFill>
                <a:latin typeface="Calibri"/>
              </a:rPr>
              <a:t>●   AES-128-GCM encrypt → nonce construction → frame → modulate</a:t>
            </a:r>
          </a:p>
          <a:p>
            <a:pPr>
              <a:spcAft>
                <a:spcPts val="1100"/>
              </a:spcAft>
            </a:pPr>
            <a:r>
              <a:rPr sz="1450">
                <a:solidFill>
                  <a:srgbClr val="0B0B0B"/>
                </a:solidFill>
                <a:latin typeface="Calibri"/>
              </a:rPr>
              <a:t>●   Nonce = 8-byte random boot salt (CTR_DRBG) + 4-byte monotonic counter</a:t>
            </a:r>
          </a:p>
          <a:p>
            <a:pPr>
              <a:spcAft>
                <a:spcPts val="1100"/>
              </a:spcAft>
            </a:pPr>
            <a:r>
              <a:rPr sz="1450">
                <a:solidFill>
                  <a:srgbClr val="0B0B0B"/>
                </a:solidFill>
                <a:latin typeface="Calibri"/>
              </a:rPr>
              <a:t>●   PIO state machine drives 4 LED channels in lockstep, 1 Mbps, zero CPU overhead during TX</a:t>
            </a:r>
          </a:p>
          <a:p>
            <a:pPr>
              <a:spcAft>
                <a:spcPts val="1100"/>
              </a:spcAft>
            </a:pPr>
            <a:r>
              <a:rPr sz="1450">
                <a:solidFill>
                  <a:srgbClr val="0B0B0B"/>
                </a:solidFill>
                <a:latin typeface="Calibri"/>
              </a:rPr>
              <a:t>●   Frame: preamble · type · length · nonce · ciphertext · 16B GCM tag · CRC16</a:t>
            </a:r>
          </a:p>
          <a:p>
            <a:pPr>
              <a:spcAft>
                <a:spcPts val="1100"/>
              </a:spcAft>
            </a:pPr>
            <a:r>
              <a:rPr sz="1450">
                <a:solidFill>
                  <a:srgbClr val="0B0B0B"/>
                </a:solidFill>
                <a:latin typeface="Calibri"/>
              </a:rPr>
              <a:t>●   Dual-slot A/B flash key storage, SHA-256 integrity hash, secure_zero() RAM clearing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Client Device (Receiver)</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Pico 2 H · RP2350</a:t>
            </a:r>
          </a:p>
        </p:txBody>
      </p:sp>
      <p:pic>
        <p:nvPicPr>
          <p:cNvPr id="4" name="Picture 3" descr="lifi_receiver_pcb.png"/>
          <p:cNvPicPr>
            <a:picLocks noChangeAspect="1"/>
          </p:cNvPicPr>
          <p:nvPr/>
        </p:nvPicPr>
        <p:blipFill>
          <a:blip r:embed="rId2"/>
          <a:stretch>
            <a:fillRect/>
          </a:stretch>
        </p:blipFill>
        <p:spPr>
          <a:xfrm>
            <a:off x="3329787" y="1417320"/>
            <a:ext cx="5532120" cy="3020151"/>
          </a:xfrm>
          <a:prstGeom prst="rect">
            <a:avLst/>
          </a:prstGeom>
        </p:spPr>
      </p:pic>
      <p:sp>
        <p:nvSpPr>
          <p:cNvPr id="5" name="TextBox 4"/>
          <p:cNvSpPr txBox="1"/>
          <p:nvPr/>
        </p:nvSpPr>
        <p:spPr>
          <a:xfrm>
            <a:off x="6309360" y="1554480"/>
            <a:ext cx="5486400" cy="4937760"/>
          </a:xfrm>
          <a:prstGeom prst="rect">
            <a:avLst/>
          </a:prstGeom>
          <a:noFill/>
        </p:spPr>
        <p:txBody>
          <a:bodyPr wrap="square">
            <a:spAutoFit/>
          </a:bodyPr>
          <a:lstStyle/>
          <a:p>
            <a:pPr>
              <a:spcAft>
                <a:spcPts val="1100"/>
              </a:spcAft>
            </a:pPr>
            <a:r>
              <a:rPr sz="1450">
                <a:solidFill>
                  <a:srgbClr val="0B0B0B"/>
                </a:solidFill>
                <a:latin typeface="Calibri"/>
              </a:rPr>
              <a:t>●   Photodiode (SFH 2400) → OPA381 TIA → TLV3501 comparator → PIO UART RX</a:t>
            </a:r>
          </a:p>
          <a:p>
            <a:pPr>
              <a:spcAft>
                <a:spcPts val="1100"/>
              </a:spcAft>
            </a:pPr>
            <a:r>
              <a:rPr sz="1450">
                <a:solidFill>
                  <a:srgbClr val="0B0B0B"/>
                </a:solidFill>
                <a:latin typeface="Calibri"/>
              </a:rPr>
              <a:t>●   Programmable threshold via MCP4725 12-bit DAC, tuned each boot (~0.8V)</a:t>
            </a:r>
          </a:p>
          <a:p>
            <a:pPr>
              <a:spcAft>
                <a:spcPts val="1100"/>
              </a:spcAft>
            </a:pPr>
            <a:r>
              <a:rPr sz="1450">
                <a:solidFill>
                  <a:srgbClr val="0B0B0B"/>
                </a:solidFill>
                <a:latin typeface="Calibri"/>
              </a:rPr>
              <a:t>●   64-entry nonce window checked before decryption is ever attempted</a:t>
            </a:r>
          </a:p>
          <a:p>
            <a:pPr>
              <a:spcAft>
                <a:spcPts val="1100"/>
              </a:spcAft>
            </a:pPr>
            <a:r>
              <a:rPr sz="1450">
                <a:solidFill>
                  <a:srgbClr val="0B0B0B"/>
                </a:solidFill>
                <a:latin typeface="Calibri"/>
              </a:rPr>
              <a:t>●   Robotic integration: Pololu 3pi+ headers, LiPo + buck-boost, USB-C charging</a:t>
            </a:r>
          </a:p>
          <a:p>
            <a:pPr>
              <a:spcAft>
                <a:spcPts val="1100"/>
              </a:spcAft>
            </a:pPr>
            <a:r>
              <a:rPr sz="1450">
                <a:solidFill>
                  <a:srgbClr val="0B0B0B"/>
                </a:solidFill>
                <a:latin typeface="Calibri"/>
              </a:rPr>
              <a:t>●   Same board can operate untethered aboard a mobile CPS platform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685800" y="1508760"/>
            <a:ext cx="10789920" cy="4892040"/>
          </a:xfrm>
          <a:prstGeom prst="rect">
            <a:avLst/>
          </a:prstGeom>
          <a:noFill/>
        </p:spPr>
        <p:txBody>
          <a:bodyPr wrap="square">
            <a:spAutoFit/>
          </a:bodyPr>
          <a:lstStyle/>
          <a:p>
            <a:pPr>
              <a:spcAft>
                <a:spcPts val="1100"/>
              </a:spcAft>
            </a:pPr>
            <a:r>
              <a:rPr sz="1500">
                <a:solidFill>
                  <a:srgbClr val="0B0B0B"/>
                </a:solidFill>
                <a:latin typeface="Calibri"/>
              </a:rPr>
              <a:t>●   SST (Secure Swarm Toolkit): open-source authentication &amp; authorization framework for distributed IoT systems</a:t>
            </a:r>
          </a:p>
          <a:p>
            <a:pPr>
              <a:spcAft>
                <a:spcPts val="1100"/>
              </a:spcAft>
            </a:pPr>
            <a:r>
              <a:rPr sz="1500">
                <a:solidFill>
                  <a:srgbClr val="0B0B0B"/>
                </a:solidFill>
                <a:latin typeface="Calibri"/>
              </a:rPr>
              <a:t>●   Auth = the local, automated point of authorization — two roles:</a:t>
            </a:r>
          </a:p>
          <a:p>
            <a:pPr lvl="1">
              <a:spcAft>
                <a:spcPts val="700"/>
              </a:spcAft>
            </a:pPr>
            <a:r>
              <a:rPr sz="1300">
                <a:solidFill>
                  <a:srgbClr val="52514E"/>
                </a:solidFill>
                <a:latin typeface="Calibri"/>
              </a:rPr>
              <a:t>‒   Authenticates/authorizes its own locally registered entities</a:t>
            </a:r>
          </a:p>
          <a:p>
            <a:pPr lvl="1">
              <a:spcAft>
                <a:spcPts val="700"/>
              </a:spcAft>
            </a:pPr>
            <a:r>
              <a:rPr sz="1300">
                <a:solidFill>
                  <a:srgbClr val="52514E"/>
                </a:solidFill>
                <a:latin typeface="Calibri"/>
              </a:rPr>
              <a:t>‒   Bridges authorization between local entities and the wider network</a:t>
            </a:r>
          </a:p>
          <a:p>
            <a:pPr>
              <a:spcAft>
                <a:spcPts val="1100"/>
              </a:spcAft>
            </a:pPr>
            <a:r>
              <a:rPr sz="1500">
                <a:solidFill>
                  <a:srgbClr val="0B0B0B"/>
                </a:solidFill>
                <a:latin typeface="Calibri"/>
              </a:rPr>
              <a:t>●   Architectural concept: “locally centralized, globally distributed” authentication and authorization</a:t>
            </a:r>
          </a:p>
          <a:p>
            <a:pPr>
              <a:spcAft>
                <a:spcPts val="1100"/>
              </a:spcAft>
            </a:pPr>
            <a:r>
              <a:rPr sz="1500">
                <a:solidFill>
                  <a:srgbClr val="0B0B0B"/>
                </a:solidFill>
                <a:latin typeface="Calibri"/>
              </a:rPr>
              <a:t>●   Published research lineage spanning a decade: IoTDI '17, FiCloud '16, IT Professional '17, ACM TIOT '20, SoftwareX '23</a:t>
            </a:r>
          </a:p>
          <a:p>
            <a:pPr>
              <a:spcAft>
                <a:spcPts val="1100"/>
              </a:spcAft>
            </a:pPr>
            <a:r>
              <a:rPr sz="1500">
                <a:solidFill>
                  <a:srgbClr val="0B0B0B"/>
                </a:solidFill>
                <a:latin typeface="Calibri"/>
              </a:rPr>
              <a:t>●   Built and maintained at ASU KIM Labs — this thesis's own lab:</a:t>
            </a:r>
          </a:p>
          <a:p>
            <a:pPr lvl="1">
              <a:spcAft>
                <a:spcPts val="700"/>
              </a:spcAft>
            </a:pPr>
            <a:r>
              <a:rPr sz="1300">
                <a:solidFill>
                  <a:srgbClr val="52514E"/>
                </a:solidFill>
                <a:latin typeface="Calibri"/>
              </a:rPr>
              <a:t>‒   Hokeun Kim (co-author) leads the project; Dongha Kim (co-author) is a core contributor</a:t>
            </a:r>
          </a:p>
          <a:p>
            <a:pPr lvl="1">
              <a:spcAft>
                <a:spcPts val="700"/>
              </a:spcAft>
            </a:pPr>
            <a:r>
              <a:rPr sz="1300">
                <a:solidFill>
                  <a:srgbClr val="52514E"/>
                </a:solidFill>
                <a:latin typeface="Calibri"/>
              </a:rPr>
              <a:t>‒   Jose Felix — this thesis's author — is a listed active contributor to the SST/IoTAuth repo itself</a:t>
            </a:r>
          </a:p>
          <a:p>
            <a:pPr>
              <a:spcAft>
                <a:spcPts val="1100"/>
              </a:spcAft>
            </a:pPr>
            <a:r>
              <a:rPr sz="1500">
                <a:solidFill>
                  <a:srgbClr val="0B0B0B"/>
                </a:solidFill>
                <a:latin typeface="Calibri"/>
              </a:rPr>
              <a:t>●   This work integrates via the sst-c-api C library, rather than reimplementing key distribution from scratch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Sender Provisioning &amp; Key Rotation</a:t>
            </a:r>
          </a:p>
        </p:txBody>
      </p:sp>
      <p:sp>
        <p:nvSpPr>
          <p:cNvPr id="3" name="TextBox 2"/>
          <p:cNvSpPr txBox="1"/>
          <p:nvPr/>
        </p:nvSpPr>
        <p:spPr>
          <a:xfrm>
            <a:off x="685800" y="1600200"/>
            <a:ext cx="10789920" cy="4846320"/>
          </a:xfrm>
          <a:prstGeom prst="rect">
            <a:avLst/>
          </a:prstGeom>
          <a:noFill/>
        </p:spPr>
        <p:txBody>
          <a:bodyPr wrap="square">
            <a:spAutoFit/>
          </a:bodyPr>
          <a:lstStyle/>
          <a:p>
            <a:pPr>
              <a:spcAft>
                <a:spcPts val="1100"/>
              </a:spcAft>
            </a:pPr>
            <a:r>
              <a:rPr sz="1550">
                <a:solidFill>
                  <a:srgbClr val="0B0B0B"/>
                </a:solidFill>
                <a:latin typeface="Calibri"/>
              </a:rPr>
              <a:t>●   IoTAuth Server (Java, TLS-protected) ↔ keys_receiver (Linux host) via the SST C API</a:t>
            </a:r>
          </a:p>
          <a:p>
            <a:pPr lvl="1">
              <a:spcAft>
                <a:spcPts val="700"/>
              </a:spcAft>
            </a:pPr>
            <a:r>
              <a:rPr sz="1350">
                <a:solidFill>
                  <a:srgbClr val="52514E"/>
                </a:solidFill>
                <a:latin typeface="Calibri"/>
              </a:rPr>
              <a:t>‒   init_SST() → get_session_key() → session_key_t { key ID, cipher key, MAC key, mode, validity }</a:t>
            </a:r>
          </a:p>
          <a:p>
            <a:pPr>
              <a:spcAft>
                <a:spcPts val="1100"/>
              </a:spcAft>
            </a:pPr>
            <a:r>
              <a:rPr sz="1550">
                <a:solidFill>
                  <a:srgbClr val="0B0B0B"/>
                </a:solidFill>
                <a:latin typeface="Calibri"/>
              </a:rPr>
              <a:t>●   Session key delivered to the Pico sender over a dedicated UART channel (1 Mbps)</a:t>
            </a:r>
          </a:p>
          <a:p>
            <a:pPr>
              <a:spcAft>
                <a:spcPts val="1100"/>
              </a:spcAft>
            </a:pPr>
            <a:r>
              <a:rPr sz="1550">
                <a:solidFill>
                  <a:srgbClr val="0B0B0B"/>
                </a:solidFill>
                <a:latin typeface="Calibri"/>
              </a:rPr>
              <a:t>●   Delivery is confirmed, not assumed — a 4-state HMAC handshake between host and sender:</a:t>
            </a:r>
          </a:p>
          <a:p>
            <a:pPr lvl="1">
              <a:spcAft>
                <a:spcPts val="700"/>
              </a:spcAft>
            </a:pPr>
            <a:r>
              <a:rPr sz="1350">
                <a:solidFill>
                  <a:srgbClr val="52514E"/>
                </a:solidFill>
                <a:latin typeface="Calibri"/>
              </a:rPr>
              <a:t>‒   IDLE → send challenge → WAITING_FOR_YES (ACK) → WAITING_FOR_ACK (KEY_OK) → WAITING_FOR_HMAC_RESP → verified</a:t>
            </a:r>
          </a:p>
          <a:p>
            <a:pPr>
              <a:spcAft>
                <a:spcPts val="1100"/>
              </a:spcAft>
            </a:pPr>
            <a:r>
              <a:rPr sz="1550">
                <a:solidFill>
                  <a:srgbClr val="0B0B0B"/>
                </a:solidFill>
                <a:latin typeface="Calibri"/>
              </a:rPr>
              <a:t>●   Only once the HMAC response matches does the host consider the key genuinely loaded</a:t>
            </a:r>
          </a:p>
          <a:p>
            <a:pPr>
              <a:spcAft>
                <a:spcPts val="1100"/>
              </a:spcAft>
            </a:pPr>
            <a:r>
              <a:rPr sz="1550">
                <a:solidFill>
                  <a:srgbClr val="0B0B0B"/>
                </a:solidFill>
                <a:latin typeface="Calibri"/>
              </a:rPr>
              <a:t>●   Keys persist in dual-slot (A/B) flash, SHA-256 integrity-checked — rotation writes the inactive slot first, old slot kept as rollback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Auth's Role Doesn't Stop After Provisioning</a:t>
            </a:r>
          </a:p>
        </p:txBody>
      </p:sp>
      <p:pic>
        <p:nvPicPr>
          <p:cNvPr id="3" name="Picture 2" descr="sst_auth_role.png"/>
          <p:cNvPicPr>
            <a:picLocks noChangeAspect="1"/>
          </p:cNvPicPr>
          <p:nvPr/>
        </p:nvPicPr>
        <p:blipFill>
          <a:blip r:embed="rId2"/>
          <a:stretch>
            <a:fillRect/>
          </a:stretch>
        </p:blipFill>
        <p:spPr>
          <a:xfrm>
            <a:off x="2818295" y="1417320"/>
            <a:ext cx="6555105" cy="50749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Adversary Model</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Network control — standard Dolev-Yao adversary on RF/network links (eavesdrop, replay, delay, drop, inject)</a:t>
            </a:r>
          </a:p>
          <a:p>
            <a:pPr>
              <a:spcAft>
                <a:spcPts val="1100"/>
              </a:spcAft>
            </a:pPr>
            <a:r>
              <a:rPr sz="1700">
                <a:solidFill>
                  <a:srgbClr val="0B0B0B"/>
                </a:solidFill>
                <a:latin typeface="Calibri"/>
              </a:rPr>
              <a:t>●   Optical observation — passive sensors capture ciphertext, tags, nonces — never plaintext or key material</a:t>
            </a:r>
          </a:p>
          <a:p>
            <a:pPr>
              <a:spcAft>
                <a:spcPts val="1100"/>
              </a:spcAft>
            </a:pPr>
            <a:r>
              <a:rPr sz="1700">
                <a:solidFill>
                  <a:srgbClr val="0B0B0B"/>
                </a:solidFill>
                <a:latin typeface="Calibri"/>
              </a:rPr>
              <a:t>●   Relay — capture the optical signal, transport it, re-emit remotely; introduces latency δᵣₑₗₐᵧ</a:t>
            </a:r>
          </a:p>
          <a:p>
            <a:pPr>
              <a:spcAft>
                <a:spcPts val="1100"/>
              </a:spcAft>
            </a:pPr>
            <a:r>
              <a:rPr sz="1700">
                <a:solidFill>
                  <a:srgbClr val="0B0B0B"/>
                </a:solidFill>
                <a:latin typeface="Calibri"/>
              </a:rPr>
              <a:t>●   Optical injection — a rogue light source without the session key fails AES-128-GCM tag verification</a:t>
            </a:r>
          </a:p>
          <a:p>
            <a:pPr>
              <a:spcAft>
                <a:spcPts val="1100"/>
              </a:spcAft>
            </a:pPr>
            <a:r>
              <a:rPr sz="1700">
                <a:solidFill>
                  <a:srgbClr val="0B0B0B"/>
                </a:solidFill>
                <a:latin typeface="Calibri"/>
              </a:rPr>
              <a:t>●   Denial of service — physical obstruction, ambient-light saturation, RF jamming of the network link</a:t>
            </a:r>
          </a:p>
          <a:p>
            <a:pPr lvl="1">
              <a:spcAft>
                <a:spcPts val="700"/>
              </a:spcAft>
            </a:pPr>
            <a:r>
              <a:rPr sz="1450">
                <a:solidFill>
                  <a:srgbClr val="52514E"/>
                </a:solidFill>
                <a:latin typeface="Calibri"/>
              </a:rPr>
              <a:t>‒   The system fails closed by design: denial of signal → revocation, never false authorization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gridCol w="3291840"/>
                <a:gridCol w="4206240"/>
                <a:gridCol w="2377440"/>
              </a:tblGrid>
              <a:tr h="585216">
                <a:tc>
                  <a:txBody>
                    <a:bodyPr wrap="square"/>
                    <a:lstStyle/>
                    <a:p>
                      <a:pPr algn="l"/>
                      <a:r>
                        <a:rPr sz="1350" b="1">
                          <a:solidFill>
                            <a:srgbClr val="FFFFFF"/>
                          </a:solidFill>
                          <a:latin typeface="Calibri"/>
                        </a:rPr>
                        <a:t>Goal</a:t>
                      </a:r>
                    </a:p>
                  </a:txBody>
                  <a:tcPr anchor="ctr" marL="91440" marR="91440" marT="45720" marB="45720">
                    <a:solidFill>
                      <a:srgbClr val="0B0B0B"/>
                    </a:solidFill>
                  </a:tcPr>
                </a:tc>
                <a:tc>
                  <a:txBody>
                    <a:bodyPr wrap="square"/>
                    <a:lstStyle/>
                    <a:p>
                      <a:pPr algn="ctr"/>
                      <a:r>
                        <a:rPr sz="1350" b="1">
                          <a:solidFill>
                            <a:srgbClr val="FFFFFF"/>
                          </a:solidFill>
                          <a:latin typeface="Calibri"/>
                        </a:rPr>
                        <a:t>Property</a:t>
                      </a:r>
                    </a:p>
                  </a:txBody>
                  <a:tcPr anchor="ctr" marL="91440" marR="91440" marT="45720" marB="45720">
                    <a:solidFill>
                      <a:srgbClr val="0B0B0B"/>
                    </a:solidFill>
                  </a:tcPr>
                </a:tc>
                <a:tc>
                  <a:txBody>
                    <a:bodyPr wrap="square"/>
                    <a:lstStyle/>
                    <a:p>
                      <a:pPr algn="ctr"/>
                      <a:r>
                        <a:rPr sz="1350" b="1">
                          <a:solidFill>
                            <a:srgbClr val="FFFFFF"/>
                          </a:solidFill>
                          <a:latin typeface="Calibri"/>
                        </a:rPr>
                        <a:t>Mechanism</a:t>
                      </a:r>
                    </a:p>
                  </a:txBody>
                  <a:tcPr anchor="ctr" marL="91440" marR="91440" marT="45720" marB="45720">
                    <a:solidFill>
                      <a:srgbClr val="0B0B0B"/>
                    </a:solidFill>
                  </a:tcPr>
                </a:tc>
                <a:tc>
                  <a:txBody>
                    <a:bodyPr wrap="square"/>
                    <a:lstStyle/>
                    <a:p>
                      <a:pPr algn="ctr"/>
                      <a:r>
                        <a:rPr sz="1350" b="1">
                          <a:solidFill>
                            <a:srgbClr val="FFFFFF"/>
                          </a:solidFill>
                          <a:latin typeface="Calibri"/>
                        </a:rPr>
                        <a:t>Status</a:t>
                      </a:r>
                    </a:p>
                  </a:txBody>
                  <a:tcPr anchor="ctr" marL="91440" marR="91440" marT="45720" marB="45720">
                    <a:solidFill>
                      <a:srgbClr val="0B0B0B"/>
                    </a:solidFill>
                  </a:tcPr>
                </a:tc>
              </a:tr>
              <a:tr h="585216">
                <a:tc>
                  <a:txBody>
                    <a:bodyPr wrap="square"/>
                    <a:lstStyle/>
                    <a:p>
                      <a:pPr algn="l"/>
                      <a:r>
                        <a:rPr sz="1250" b="0">
                          <a:solidFill>
                            <a:srgbClr val="0B0B0B"/>
                          </a:solidFill>
                          <a:latin typeface="Calibri"/>
                        </a:rPr>
                        <a:t>G1</a:t>
                      </a:r>
                    </a:p>
                  </a:txBody>
                  <a:tcPr anchor="ctr" marL="91440" marR="91440" marT="45720" marB="45720">
                    <a:solidFill>
                      <a:srgbClr val="FFFFFF"/>
                    </a:solidFill>
                  </a:tcPr>
                </a:tc>
                <a:tc>
                  <a:txBody>
                    <a:bodyPr wrap="square"/>
                    <a:lstStyle/>
                    <a:p>
                      <a:pPr algn="ctr"/>
                      <a:r>
                        <a:rPr sz="1250" b="0">
                          <a:solidFill>
                            <a:srgbClr val="0B0B0B"/>
                          </a:solidFill>
                          <a:latin typeface="Calibri"/>
                        </a:rPr>
                        <a:t>Freshness / Expiration</a:t>
                      </a:r>
                    </a:p>
                  </a:txBody>
                  <a:tcPr anchor="ctr" marL="91440" marR="91440" marT="45720" marB="45720">
                    <a:solidFill>
                      <a:srgbClr val="FFFFFF"/>
                    </a:solidFill>
                  </a:tcPr>
                </a:tc>
                <a:tc>
                  <a:txBody>
                    <a:bodyPr wrap="square"/>
                    <a:lstStyle/>
                    <a:p>
                      <a:pPr algn="ctr"/>
                      <a:r>
                        <a:rPr sz="1250" b="0">
                          <a:solidFill>
                            <a:srgbClr val="0B0B0B"/>
                          </a:solidFill>
                          <a:latin typeface="Calibri"/>
                        </a:rPr>
                        <a:t>Token window Δ</a:t>
                      </a:r>
                    </a:p>
                  </a:txBody>
                  <a:tcPr anchor="ctr" marL="91440" marR="91440" marT="45720" marB="45720">
                    <a:solidFill>
                      <a:srgbClr val="FFFFFF"/>
                    </a:solidFill>
                  </a:tcPr>
                </a:tc>
                <a:tc>
                  <a:txBody>
                    <a:bodyPr wrap="square"/>
                    <a:lstStyle/>
                    <a:p>
                      <a:pPr algn="ctr"/>
                      <a:r>
                        <a:rPr sz="1250" b="1">
                          <a:solidFill>
                            <a:srgbClr val="0CA30C"/>
                          </a:solidFill>
                          <a:latin typeface="Calibri"/>
                        </a:rPr>
                        <a:t>Achieved</a:t>
                      </a:r>
                    </a:p>
                  </a:txBody>
                  <a:tcPr anchor="ctr" marL="91440" marR="91440" marT="45720" marB="45720">
                    <a:solidFill>
                      <a:srgbClr val="FFFFFF"/>
                    </a:solidFill>
                  </a:tcPr>
                </a:tc>
              </a:tr>
              <a:tr h="585216">
                <a:tc>
                  <a:txBody>
                    <a:bodyPr wrap="square"/>
                    <a:lstStyle/>
                    <a:p>
                      <a:pPr algn="l"/>
                      <a:r>
                        <a:rPr sz="1250" b="0">
                          <a:solidFill>
                            <a:srgbClr val="0B0B0B"/>
                          </a:solidFill>
                          <a:latin typeface="Calibri"/>
                        </a:rPr>
                        <a:t>G2</a:t>
                      </a:r>
                    </a:p>
                  </a:txBody>
                  <a:tcPr anchor="ctr" marL="91440" marR="91440" marT="45720" marB="45720">
                    <a:solidFill>
                      <a:srgbClr val="F0EFEC"/>
                    </a:solidFill>
                  </a:tcPr>
                </a:tc>
                <a:tc>
                  <a:txBody>
                    <a:bodyPr wrap="square"/>
                    <a:lstStyle/>
                    <a:p>
                      <a:pPr algn="ctr"/>
                      <a:r>
                        <a:rPr sz="1250" b="0">
                          <a:solidFill>
                            <a:srgbClr val="0B0B0B"/>
                          </a:solidFill>
                          <a:latin typeface="Calibri"/>
                        </a:rPr>
                        <a:t>Replay Resistance</a:t>
                      </a:r>
                    </a:p>
                  </a:txBody>
                  <a:tcPr anchor="ctr" marL="91440" marR="91440" marT="45720" marB="45720">
                    <a:solidFill>
                      <a:srgbClr val="F0EFEC"/>
                    </a:solidFill>
                  </a:tcPr>
                </a:tc>
                <a:tc>
                  <a:txBody>
                    <a:bodyPr wrap="square"/>
                    <a:lstStyle/>
                    <a:p>
                      <a:pPr algn="ctr"/>
                      <a:r>
                        <a:rPr sz="1250" b="0">
                          <a:solidFill>
                            <a:srgbClr val="0B0B0B"/>
                          </a:solidFill>
                          <a:latin typeface="Calibri"/>
                        </a:rPr>
                        <a:t>64-entry nonce sliding window</a:t>
                      </a:r>
                    </a:p>
                  </a:txBody>
                  <a:tcPr anchor="ctr" marL="91440" marR="91440" marT="45720" marB="45720">
                    <a:solidFill>
                      <a:srgbClr val="F0EFEC"/>
                    </a:solidFill>
                  </a:tcPr>
                </a:tc>
                <a:tc>
                  <a:txBody>
                    <a:bodyPr wrap="square"/>
                    <a:lstStyle/>
                    <a:p>
                      <a:pPr algn="ctr"/>
                      <a:r>
                        <a:rPr sz="1250" b="1">
                          <a:solidFill>
                            <a:srgbClr val="0CA30C"/>
                          </a:solidFill>
                          <a:latin typeface="Calibri"/>
                        </a:rPr>
                        <a:t>Achieved</a:t>
                      </a:r>
                    </a:p>
                  </a:txBody>
                  <a:tcPr anchor="ctr" marL="91440" marR="91440" marT="45720" marB="45720">
                    <a:solidFill>
                      <a:srgbClr val="F0EFEC"/>
                    </a:solidFill>
                  </a:tcPr>
                </a:tc>
              </a:tr>
              <a:tr h="585216">
                <a:tc>
                  <a:txBody>
                    <a:bodyPr wrap="square"/>
                    <a:lstStyle/>
                    <a:p>
                      <a:pPr algn="l"/>
                      <a:r>
                        <a:rPr sz="1250" b="0">
                          <a:solidFill>
                            <a:srgbClr val="0B0B0B"/>
                          </a:solidFill>
                          <a:latin typeface="Calibri"/>
                        </a:rPr>
                        <a:t>G3</a:t>
                      </a:r>
                    </a:p>
                  </a:txBody>
                  <a:tcPr anchor="ctr" marL="91440" marR="91440" marT="45720" marB="45720">
                    <a:solidFill>
                      <a:srgbClr val="FFFFFF"/>
                    </a:solidFill>
                  </a:tcPr>
                </a:tc>
                <a:tc>
                  <a:txBody>
                    <a:bodyPr wrap="square"/>
                    <a:lstStyle/>
                    <a:p>
                      <a:pPr algn="ctr"/>
                      <a:r>
                        <a:rPr sz="1250" b="0">
                          <a:solidFill>
                            <a:srgbClr val="0B0B0B"/>
                          </a:solidFill>
                          <a:latin typeface="Calibri"/>
                        </a:rPr>
                        <a:t>Relay-Bounded Authorization</a:t>
                      </a:r>
                    </a:p>
                  </a:txBody>
                  <a:tcPr anchor="ctr" marL="91440" marR="91440" marT="45720" marB="45720">
                    <a:solidFill>
                      <a:srgbClr val="FFFFFF"/>
                    </a:solidFill>
                  </a:tcPr>
                </a:tc>
                <a:tc>
                  <a:txBody>
                    <a:bodyPr wrap="square"/>
                    <a:lstStyle/>
                    <a:p>
                      <a:pPr algn="ctr"/>
                      <a:r>
                        <a:rPr sz="1250" b="0">
                          <a:solidFill>
                            <a:srgbClr val="0B0B0B"/>
                          </a:solidFill>
                          <a:latin typeface="Calibri"/>
                        </a:rPr>
                        <a:t>No timing check on data path</a:t>
                      </a:r>
                    </a:p>
                  </a:txBody>
                  <a:tcPr anchor="ctr" marL="91440" marR="91440" marT="45720" marB="45720">
                    <a:solidFill>
                      <a:srgbClr val="FFFFFF"/>
                    </a:solidFill>
                  </a:tcPr>
                </a:tc>
                <a:tc>
                  <a:txBody>
                    <a:bodyPr wrap="square"/>
                    <a:lstStyle/>
                    <a:p>
                      <a:pPr algn="ctr"/>
                      <a:r>
                        <a:rPr sz="1250" b="1">
                          <a:solidFill>
                            <a:srgbClr val="D03B3B"/>
                          </a:solidFill>
                          <a:latin typeface="Calibri"/>
                        </a:rPr>
                        <a:t>Not achieved</a:t>
                      </a:r>
                    </a:p>
                  </a:txBody>
                  <a:tcPr anchor="ctr" marL="91440" marR="91440" marT="45720" marB="45720">
                    <a:solidFill>
                      <a:srgbClr val="FFFFFF"/>
                    </a:solidFill>
                  </a:tcPr>
                </a:tc>
              </a:tr>
              <a:tr h="585216">
                <a:tc>
                  <a:txBody>
                    <a:bodyPr wrap="square"/>
                    <a:lstStyle/>
                    <a:p>
                      <a:pPr algn="l"/>
                      <a:r>
                        <a:rPr sz="1250" b="0">
                          <a:solidFill>
                            <a:srgbClr val="0B0B0B"/>
                          </a:solidFill>
                          <a:latin typeface="Calibri"/>
                        </a:rPr>
                        <a:t>G4</a:t>
                      </a:r>
                    </a:p>
                  </a:txBody>
                  <a:tcPr anchor="ctr" marL="91440" marR="91440" marT="45720" marB="45720">
                    <a:solidFill>
                      <a:srgbClr val="F0EFEC"/>
                    </a:solidFill>
                  </a:tcPr>
                </a:tc>
                <a:tc>
                  <a:txBody>
                    <a:bodyPr wrap="square"/>
                    <a:lstStyle/>
                    <a:p>
                      <a:pPr algn="ctr"/>
                      <a:r>
                        <a:rPr sz="1250" b="0">
                          <a:solidFill>
                            <a:srgbClr val="0B0B0B"/>
                          </a:solidFill>
                          <a:latin typeface="Calibri"/>
                        </a:rPr>
                        <a:t>Revocation on Interruption</a:t>
                      </a:r>
                    </a:p>
                  </a:txBody>
                  <a:tcPr anchor="ctr" marL="91440" marR="91440" marT="45720" marB="45720">
                    <a:solidFill>
                      <a:srgbClr val="F0EFEC"/>
                    </a:solidFill>
                  </a:tcPr>
                </a:tc>
                <a:tc>
                  <a:txBody>
                    <a:bodyPr wrap="square"/>
                    <a:lstStyle/>
                    <a:p>
                      <a:pPr algn="ctr"/>
                      <a:r>
                        <a:rPr sz="1250" b="0">
                          <a:solidFill>
                            <a:srgbClr val="0B0B0B"/>
                          </a:solidFill>
                          <a:latin typeface="Calibri"/>
                        </a:rPr>
                        <a:t>Absence of signal = revocation</a:t>
                      </a:r>
                    </a:p>
                  </a:txBody>
                  <a:tcPr anchor="ctr" marL="91440" marR="91440" marT="45720" marB="45720">
                    <a:solidFill>
                      <a:srgbClr val="F0EFEC"/>
                    </a:solidFill>
                  </a:tcPr>
                </a:tc>
                <a:tc>
                  <a:txBody>
                    <a:bodyPr wrap="square"/>
                    <a:lstStyle/>
                    <a:p>
                      <a:pPr algn="ctr"/>
                      <a:r>
                        <a:rPr sz="1250" b="1">
                          <a:solidFill>
                            <a:srgbClr val="0CA30C"/>
                          </a:solidFill>
                          <a:latin typeface="Calibri"/>
                        </a:rPr>
                        <a:t>Achieved</a:t>
                      </a:r>
                    </a:p>
                  </a:txBody>
                  <a:tcPr anchor="ctr" marL="91440" marR="91440" marT="45720" marB="45720">
                    <a:solidFill>
                      <a:srgbClr val="F0EFEC"/>
                    </a:solidFill>
                  </a:tcPr>
                </a:tc>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i="0" b="1">
                <a:solidFill>
                  <a:srgbClr val="898781"/>
                </a:solidFill>
                <a:latin typeface="Calibri"/>
              </a:rPr>
              <a:t>This table is the scorecard for the rest of the talk — every evaluation result maps back to one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Identical wire format, freshness state machine, and 64-entry nonce window to the production dash_receiver.c</a:t>
            </a:r>
          </a:p>
          <a:p>
            <a:pPr lvl="1">
              <a:spcAft>
                <a:spcPts val="700"/>
              </a:spcAft>
            </a:pPr>
            <a:r>
              <a:rPr sz="1450">
                <a:solidFill>
                  <a:srgbClr val="52514E"/>
                </a:solidFill>
                <a:latin typeface="Calibri"/>
              </a:rPr>
              <a:t>‒   Only difference: the debug path omits the WiFi/HMAC control-plane layer, which simplified direct protocol-event instrumentation</a:t>
            </a:r>
          </a:p>
          <a:p>
            <a:pPr>
              <a:spcAft>
                <a:spcPts val="1100"/>
              </a:spcAft>
            </a:pPr>
            <a:r>
              <a:rPr sz="1700">
                <a:solidFill>
                  <a:srgbClr val="0B0B0B"/>
                </a:solidFill>
                <a:latin typeface="Calibri"/>
              </a:rPr>
              <a:t>●   Confirming these measurements on the production Pi4 path is named explicitly as pending work, not silently assumed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3" name="Picture 2" descr="revocation_latency.png"/>
          <p:cNvPicPr>
            <a:picLocks noChangeAspect="1"/>
          </p:cNvPicPr>
          <p:nvPr/>
        </p:nvPicPr>
        <p:blipFill>
          <a:blip r:embed="rId2"/>
          <a:stretch>
            <a:fillRect/>
          </a:stretch>
        </p:blipFill>
        <p:spPr>
          <a:xfrm>
            <a:off x="458571" y="1417320"/>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i="0" b="1">
                <a:solidFill>
                  <a:srgbClr val="898781"/>
                </a:solidFill>
                <a:latin typeface="Calibri"/>
              </a:rPr>
              <a:t>Intrinsic time-to-revoke: 15.11s ± 0.06s — essentially exactly Δ (15s) plus fixed overhead.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2"/>
          <a:stretch>
            <a:fillRect/>
          </a:stretch>
        </p:blipFill>
        <p:spPr>
          <a:xfrm>
            <a:off x="1320647" y="1417320"/>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i="0" b="1">
                <a:solidFill>
                  <a:srgbClr val="898781"/>
                </a:solidFill>
                <a:latin typeface="Calibri"/>
              </a:rPr>
              <a:t>0.0% false-revoke rate at every candidate Δ tested — but this session can't rule out a smaller crossover under degraded conditions.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G2 — Replay Rejection &amp; the Window-Boundary Limitation</a:t>
            </a:r>
          </a:p>
        </p:txBody>
      </p:sp>
      <p:pic>
        <p:nvPicPr>
          <p:cNvPr id="3" name="Picture 2" descr="replay_boundary.png"/>
          <p:cNvPicPr>
            <a:picLocks noChangeAspect="1"/>
          </p:cNvPicPr>
          <p:nvPr/>
        </p:nvPicPr>
        <p:blipFill>
          <a:blip r:embed="rId2"/>
          <a:stretch>
            <a:fillRect/>
          </a:stretch>
        </p:blipFill>
        <p:spPr>
          <a:xfrm>
            <a:off x="723747" y="1417320"/>
            <a:ext cx="107442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i="0" b="1">
                <a:solidFill>
                  <a:srgbClr val="898781"/>
                </a:solidFill>
                <a:latin typeface="Calibri"/>
              </a:rPr>
              <a:t>Immediate replay rejected; the same frame is re-accepted only after being deliberately evicted from a shrunk 2-slot window.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2"/>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i="0" b="1">
                <a:solidFill>
                  <a:srgbClr val="898781"/>
                </a:solidFill>
                <a:latin typeface="Calibri"/>
              </a:rPr>
              <a:t>Higher gain (470kΩ) beats higher bandwidth (100kΩ) at 15cm — SNR margin, not TIA bandwidth, limits close range.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gridCol w="2834640"/>
                <a:gridCol w="1920240"/>
                <a:gridCol w="5212080"/>
              </a:tblGrid>
              <a:tr h="585216">
                <a:tc>
                  <a:txBody>
                    <a:bodyPr wrap="square"/>
                    <a:lstStyle/>
                    <a:p>
                      <a:pPr algn="l"/>
                      <a:r>
                        <a:rPr sz="1350" b="1">
                          <a:solidFill>
                            <a:srgbClr val="FFFFFF"/>
                          </a:solidFill>
                          <a:latin typeface="Calibri"/>
                        </a:rPr>
                        <a:t>Goal</a:t>
                      </a:r>
                    </a:p>
                  </a:txBody>
                  <a:tcPr anchor="ctr" marL="91440" marR="91440" marT="45720" marB="45720">
                    <a:solidFill>
                      <a:srgbClr val="0B0B0B"/>
                    </a:solidFill>
                  </a:tcPr>
                </a:tc>
                <a:tc>
                  <a:txBody>
                    <a:bodyPr wrap="square"/>
                    <a:lstStyle/>
                    <a:p>
                      <a:pPr algn="ctr"/>
                      <a:r>
                        <a:rPr sz="1350" b="1">
                          <a:solidFill>
                            <a:srgbClr val="FFFFFF"/>
                          </a:solidFill>
                          <a:latin typeface="Calibri"/>
                        </a:rPr>
                        <a:t>Property</a:t>
                      </a:r>
                    </a:p>
                  </a:txBody>
                  <a:tcPr anchor="ctr" marL="91440" marR="91440" marT="45720" marB="45720">
                    <a:solidFill>
                      <a:srgbClr val="0B0B0B"/>
                    </a:solidFill>
                  </a:tcPr>
                </a:tc>
                <a:tc>
                  <a:txBody>
                    <a:bodyPr wrap="square"/>
                    <a:lstStyle/>
                    <a:p>
                      <a:pPr algn="ctr"/>
                      <a:r>
                        <a:rPr sz="1350" b="1">
                          <a:solidFill>
                            <a:srgbClr val="FFFFFF"/>
                          </a:solidFill>
                          <a:latin typeface="Calibri"/>
                        </a:rPr>
                        <a:t>Status</a:t>
                      </a:r>
                    </a:p>
                  </a:txBody>
                  <a:tcPr anchor="ctr" marL="91440" marR="91440" marT="45720" marB="45720">
                    <a:solidFill>
                      <a:srgbClr val="0B0B0B"/>
                    </a:solidFill>
                  </a:tcPr>
                </a:tc>
                <a:tc>
                  <a:txBody>
                    <a:bodyPr wrap="square"/>
                    <a:lstStyle/>
                    <a:p>
                      <a:pPr algn="ctr"/>
                      <a:r>
                        <a:rPr sz="1350" b="1">
                          <a:solidFill>
                            <a:srgbClr val="FFFFFF"/>
                          </a:solidFill>
                          <a:latin typeface="Calibri"/>
                        </a:rPr>
                        <a:t>Evidence</a:t>
                      </a:r>
                    </a:p>
                  </a:txBody>
                  <a:tcPr anchor="ctr" marL="91440" marR="91440" marT="45720" marB="45720">
                    <a:solidFill>
                      <a:srgbClr val="0B0B0B"/>
                    </a:solidFill>
                  </a:tcPr>
                </a:tc>
              </a:tr>
              <a:tr h="585216">
                <a:tc>
                  <a:txBody>
                    <a:bodyPr wrap="square"/>
                    <a:lstStyle/>
                    <a:p>
                      <a:pPr algn="l"/>
                      <a:r>
                        <a:rPr sz="1250" b="0">
                          <a:solidFill>
                            <a:srgbClr val="0B0B0B"/>
                          </a:solidFill>
                          <a:latin typeface="Calibri"/>
                        </a:rPr>
                        <a:t>G1</a:t>
                      </a:r>
                    </a:p>
                  </a:txBody>
                  <a:tcPr anchor="ctr" marL="91440" marR="91440" marT="45720" marB="45720">
                    <a:solidFill>
                      <a:srgbClr val="FFFFFF"/>
                    </a:solidFill>
                  </a:tcPr>
                </a:tc>
                <a:tc>
                  <a:txBody>
                    <a:bodyPr wrap="square"/>
                    <a:lstStyle/>
                    <a:p>
                      <a:pPr algn="ctr"/>
                      <a:r>
                        <a:rPr sz="1250" b="0">
                          <a:solidFill>
                            <a:srgbClr val="0B0B0B"/>
                          </a:solidFill>
                          <a:latin typeface="Calibri"/>
                        </a:rPr>
                        <a:t>Freshness / Expiration</a:t>
                      </a:r>
                    </a:p>
                  </a:txBody>
                  <a:tcPr anchor="ctr" marL="91440" marR="91440" marT="45720" marB="45720">
                    <a:solidFill>
                      <a:srgbClr val="FFFFFF"/>
                    </a:solidFill>
                  </a:tcPr>
                </a:tc>
                <a:tc>
                  <a:txBody>
                    <a:bodyPr wrap="square"/>
                    <a:lstStyle/>
                    <a:p>
                      <a:pPr algn="ctr"/>
                      <a:r>
                        <a:rPr sz="1250" b="1">
                          <a:solidFill>
                            <a:srgbClr val="0CA30C"/>
                          </a:solidFill>
                          <a:latin typeface="Calibri"/>
                        </a:rPr>
                        <a:t>Achieved</a:t>
                      </a:r>
                    </a:p>
                  </a:txBody>
                  <a:tcPr anchor="ctr" marL="91440" marR="91440" marT="45720" marB="45720">
                    <a:solidFill>
                      <a:srgbClr val="FFFFFF"/>
                    </a:solidFill>
                  </a:tcPr>
                </a:tc>
                <a:tc>
                  <a:txBody>
                    <a:bodyPr wrap="square"/>
                    <a:lstStyle/>
                    <a:p>
                      <a:pPr algn="ctr"/>
                      <a:r>
                        <a:rPr sz="1250" b="0">
                          <a:solidFill>
                            <a:srgbClr val="0B0B0B"/>
                          </a:solidFill>
                          <a:latin typeface="Calibri"/>
                        </a:rPr>
                        <a:t>15.11s ± 0.06s intrinsic ≈ Δ + 0.11s</a:t>
                      </a:r>
                    </a:p>
                  </a:txBody>
                  <a:tcPr anchor="ctr" marL="91440" marR="91440" marT="45720" marB="45720">
                    <a:solidFill>
                      <a:srgbClr val="FFFFFF"/>
                    </a:solidFill>
                  </a:tcPr>
                </a:tc>
              </a:tr>
              <a:tr h="585216">
                <a:tc>
                  <a:txBody>
                    <a:bodyPr wrap="square"/>
                    <a:lstStyle/>
                    <a:p>
                      <a:pPr algn="l"/>
                      <a:r>
                        <a:rPr sz="1250" b="0">
                          <a:solidFill>
                            <a:srgbClr val="0B0B0B"/>
                          </a:solidFill>
                          <a:latin typeface="Calibri"/>
                        </a:rPr>
                        <a:t>G2</a:t>
                      </a:r>
                    </a:p>
                  </a:txBody>
                  <a:tcPr anchor="ctr" marL="91440" marR="91440" marT="45720" marB="45720">
                    <a:solidFill>
                      <a:srgbClr val="F0EFEC"/>
                    </a:solidFill>
                  </a:tcPr>
                </a:tc>
                <a:tc>
                  <a:txBody>
                    <a:bodyPr wrap="square"/>
                    <a:lstStyle/>
                    <a:p>
                      <a:pPr algn="ctr"/>
                      <a:r>
                        <a:rPr sz="1250" b="0">
                          <a:solidFill>
                            <a:srgbClr val="0B0B0B"/>
                          </a:solidFill>
                          <a:latin typeface="Calibri"/>
                        </a:rPr>
                        <a:t>Replay Resistance</a:t>
                      </a:r>
                    </a:p>
                  </a:txBody>
                  <a:tcPr anchor="ctr" marL="91440" marR="91440" marT="45720" marB="45720">
                    <a:solidFill>
                      <a:srgbClr val="F0EFEC"/>
                    </a:solidFill>
                  </a:tcPr>
                </a:tc>
                <a:tc>
                  <a:txBody>
                    <a:bodyPr wrap="square"/>
                    <a:lstStyle/>
                    <a:p>
                      <a:pPr algn="ctr"/>
                      <a:r>
                        <a:rPr sz="1250" b="1">
                          <a:solidFill>
                            <a:srgbClr val="0CA30C"/>
                          </a:solidFill>
                          <a:latin typeface="Calibri"/>
                        </a:rPr>
                        <a:t>Achieved</a:t>
                      </a:r>
                    </a:p>
                  </a:txBody>
                  <a:tcPr anchor="ctr" marL="91440" marR="91440" marT="45720" marB="45720">
                    <a:solidFill>
                      <a:srgbClr val="F0EFEC"/>
                    </a:solidFill>
                  </a:tcPr>
                </a:tc>
                <a:tc>
                  <a:txBody>
                    <a:bodyPr wrap="square"/>
                    <a:lstStyle/>
                    <a:p>
                      <a:pPr algn="ctr"/>
                      <a:r>
                        <a:rPr sz="1250" b="0">
                          <a:solidFill>
                            <a:srgbClr val="0B0B0B"/>
                          </a:solidFill>
                          <a:latin typeface="Calibri"/>
                        </a:rPr>
                        <a:t>Immediate rejection confirmed; window-bounded (documented)</a:t>
                      </a:r>
                    </a:p>
                  </a:txBody>
                  <a:tcPr anchor="ctr" marL="91440" marR="91440" marT="45720" marB="45720">
                    <a:solidFill>
                      <a:srgbClr val="F0EFEC"/>
                    </a:solidFill>
                  </a:tcPr>
                </a:tc>
              </a:tr>
              <a:tr h="585216">
                <a:tc>
                  <a:txBody>
                    <a:bodyPr wrap="square"/>
                    <a:lstStyle/>
                    <a:p>
                      <a:pPr algn="l"/>
                      <a:r>
                        <a:rPr sz="1250" b="0">
                          <a:solidFill>
                            <a:srgbClr val="0B0B0B"/>
                          </a:solidFill>
                          <a:latin typeface="Calibri"/>
                        </a:rPr>
                        <a:t>G3</a:t>
                      </a:r>
                    </a:p>
                  </a:txBody>
                  <a:tcPr anchor="ctr" marL="91440" marR="91440" marT="45720" marB="45720">
                    <a:solidFill>
                      <a:srgbClr val="FFFFFF"/>
                    </a:solidFill>
                  </a:tcPr>
                </a:tc>
                <a:tc>
                  <a:txBody>
                    <a:bodyPr wrap="square"/>
                    <a:lstStyle/>
                    <a:p>
                      <a:pPr algn="ctr"/>
                      <a:r>
                        <a:rPr sz="1250" b="0">
                          <a:solidFill>
                            <a:srgbClr val="0B0B0B"/>
                          </a:solidFill>
                          <a:latin typeface="Calibri"/>
                        </a:rPr>
                        <a:t>Relay-Bounded Auth</a:t>
                      </a:r>
                    </a:p>
                  </a:txBody>
                  <a:tcPr anchor="ctr" marL="91440" marR="91440" marT="45720" marB="45720">
                    <a:solidFill>
                      <a:srgbClr val="FFFFFF"/>
                    </a:solidFill>
                  </a:tcPr>
                </a:tc>
                <a:tc>
                  <a:txBody>
                    <a:bodyPr wrap="square"/>
                    <a:lstStyle/>
                    <a:p>
                      <a:pPr algn="ctr"/>
                      <a:r>
                        <a:rPr sz="1250" b="1">
                          <a:solidFill>
                            <a:srgbClr val="D03B3B"/>
                          </a:solidFill>
                          <a:latin typeface="Calibri"/>
                        </a:rPr>
                        <a:t>Not achieved</a:t>
                      </a:r>
                    </a:p>
                  </a:txBody>
                  <a:tcPr anchor="ctr" marL="91440" marR="91440" marT="45720" marB="45720">
                    <a:solidFill>
                      <a:srgbClr val="FFFFFF"/>
                    </a:solidFill>
                  </a:tcPr>
                </a:tc>
                <a:tc>
                  <a:txBody>
                    <a:bodyPr wrap="square"/>
                    <a:lstStyle/>
                    <a:p>
                      <a:pPr algn="ctr"/>
                      <a:r>
                        <a:rPr sz="1250" b="0">
                          <a:solidFill>
                            <a:srgbClr val="0B0B0B"/>
                          </a:solidFill>
                          <a:latin typeface="Calibri"/>
                        </a:rPr>
                        <a:t>Named limitation — no timing check on data path</a:t>
                      </a:r>
                    </a:p>
                  </a:txBody>
                  <a:tcPr anchor="ctr" marL="91440" marR="91440" marT="45720" marB="45720">
                    <a:solidFill>
                      <a:srgbClr val="FFFFFF"/>
                    </a:solidFill>
                  </a:tcPr>
                </a:tc>
              </a:tr>
              <a:tr h="585216">
                <a:tc>
                  <a:txBody>
                    <a:bodyPr wrap="square"/>
                    <a:lstStyle/>
                    <a:p>
                      <a:pPr algn="l"/>
                      <a:r>
                        <a:rPr sz="1250" b="0">
                          <a:solidFill>
                            <a:srgbClr val="0B0B0B"/>
                          </a:solidFill>
                          <a:latin typeface="Calibri"/>
                        </a:rPr>
                        <a:t>G4</a:t>
                      </a:r>
                    </a:p>
                  </a:txBody>
                  <a:tcPr anchor="ctr" marL="91440" marR="91440" marT="45720" marB="45720">
                    <a:solidFill>
                      <a:srgbClr val="F0EFEC"/>
                    </a:solidFill>
                  </a:tcPr>
                </a:tc>
                <a:tc>
                  <a:txBody>
                    <a:bodyPr wrap="square"/>
                    <a:lstStyle/>
                    <a:p>
                      <a:pPr algn="ctr"/>
                      <a:r>
                        <a:rPr sz="1250" b="0">
                          <a:solidFill>
                            <a:srgbClr val="0B0B0B"/>
                          </a:solidFill>
                          <a:latin typeface="Calibri"/>
                        </a:rPr>
                        <a:t>Revocation on Interruption</a:t>
                      </a:r>
                    </a:p>
                  </a:txBody>
                  <a:tcPr anchor="ctr" marL="91440" marR="91440" marT="45720" marB="45720">
                    <a:solidFill>
                      <a:srgbClr val="F0EFEC"/>
                    </a:solidFill>
                  </a:tcPr>
                </a:tc>
                <a:tc>
                  <a:txBody>
                    <a:bodyPr wrap="square"/>
                    <a:lstStyle/>
                    <a:p>
                      <a:pPr algn="ctr"/>
                      <a:r>
                        <a:rPr sz="1250" b="1">
                          <a:solidFill>
                            <a:srgbClr val="0CA30C"/>
                          </a:solidFill>
                          <a:latin typeface="Calibri"/>
                        </a:rPr>
                        <a:t>Achieved</a:t>
                      </a:r>
                    </a:p>
                  </a:txBody>
                  <a:tcPr anchor="ctr" marL="91440" marR="91440" marT="45720" marB="45720">
                    <a:solidFill>
                      <a:srgbClr val="F0EFEC"/>
                    </a:solidFill>
                  </a:tcPr>
                </a:tc>
                <a:tc>
                  <a:txBody>
                    <a:bodyPr wrap="square"/>
                    <a:lstStyle/>
                    <a:p>
                      <a:pPr algn="ctr"/>
                      <a:r>
                        <a:rPr sz="1250" b="0">
                          <a:solidFill>
                            <a:srgbClr val="0B0B0B"/>
                          </a:solidFill>
                          <a:latin typeface="Calibri"/>
                        </a:rPr>
                        <a:t>Follows directly from G1's measured latency</a:t>
                      </a:r>
                    </a:p>
                  </a:txBody>
                  <a:tcPr anchor="ctr" marL="91440" marR="91440" marT="45720" marB="45720">
                    <a:solidFill>
                      <a:srgbClr val="F0EF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Limitations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Line-of-sight requirement — dust, fog, or vibration can trigger unnecessary revocation if Δ is set aggressively</a:t>
            </a:r>
          </a:p>
          <a:p>
            <a:pPr>
              <a:spcAft>
                <a:spcPts val="1100"/>
              </a:spcAft>
            </a:pPr>
            <a:r>
              <a:rPr sz="1700">
                <a:solidFill>
                  <a:srgbClr val="0B0B0B"/>
                </a:solidFill>
                <a:latin typeface="Calibri"/>
              </a:rPr>
              <a:t>●   No relay resistance (G3) — a live relay of genuinely fresh frames passes every current check</a:t>
            </a:r>
          </a:p>
          <a:p>
            <a:pPr>
              <a:spcAft>
                <a:spcPts val="1100"/>
              </a:spcAft>
            </a:pPr>
            <a:r>
              <a:rPr sz="1700">
                <a:solidFill>
                  <a:srgbClr val="0B0B0B"/>
                </a:solidFill>
                <a:latin typeface="Calibri"/>
              </a:rPr>
              <a:t>●   Single-channel reception — four LED channels transmit, but only one photodiode receives</a:t>
            </a:r>
          </a:p>
          <a:p>
            <a:pPr>
              <a:spcAft>
                <a:spcPts val="1100"/>
              </a:spcAft>
            </a:pPr>
            <a:r>
              <a:rPr sz="1700">
                <a:solidFill>
                  <a:srgbClr val="0B0B0B"/>
                </a:solidFill>
                <a:latin typeface="Calibri"/>
              </a:rPr>
              <a:t>●   Ambient light sensitivity — partial mitigation via programmable DAC threshold, no full adaptive control yet</a:t>
            </a:r>
          </a:p>
          <a:p>
            <a:pPr>
              <a:spcAft>
                <a:spcPts val="1100"/>
              </a:spcAft>
            </a:pPr>
            <a:r>
              <a:rPr sz="1700">
                <a:solidFill>
                  <a:srgbClr val="0B0B0B"/>
                </a:solidFill>
                <a:latin typeface="Calibri"/>
              </a:rPr>
              <a:t>●   No hardware key protection — RP2040/RP2350 lack a TPM or secure element; keys are extractable with physical access + debugger</a:t>
            </a:r>
          </a:p>
          <a:p>
            <a:pPr>
              <a:spcAft>
                <a:spcPts val="1100"/>
              </a:spcAft>
            </a:pPr>
            <a:r>
              <a:rPr sz="1700">
                <a:solidFill>
                  <a:srgbClr val="0B0B0B"/>
                </a:solidFill>
                <a:latin typeface="Calibri"/>
              </a:rPr>
              <a:t>●   Revocation-latency and replay measurements are pending confirmation on the production Pi4 receiver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Future Work</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measured 3–6ms processing latency suggests ample timing margin</a:t>
            </a:r>
          </a:p>
          <a:p>
            <a:pPr>
              <a:spcAft>
                <a:spcPts val="1100"/>
              </a:spcAft>
            </a:pPr>
            <a:r>
              <a:rPr sz="1500">
                <a:solidFill>
                  <a:srgbClr val="0B0B0B"/>
                </a:solidFill>
                <a:latin typeface="Calibri"/>
              </a:rPr>
              <a:t>●   Confirm revocation/replay measurements on the production Pi4 (dash_receiver.c) path</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gridCol w="5029200"/>
                <a:gridCol w="2286000"/>
              </a:tblGrid>
              <a:tr h="333102">
                <a:tc>
                  <a:txBody>
                    <a:bodyPr wrap="square"/>
                    <a:lstStyle/>
                    <a:p>
                      <a:pPr algn="l"/>
                      <a:r>
                        <a:rPr sz="1350" b="1">
                          <a:solidFill>
                            <a:srgbClr val="FFFFFF"/>
                          </a:solidFill>
                          <a:latin typeface="Calibri"/>
                        </a:rPr>
                        <a:t>Component</a:t>
                      </a:r>
                    </a:p>
                  </a:txBody>
                  <a:tcPr anchor="ctr" marL="91440" marR="91440" marT="45720" marB="45720">
                    <a:solidFill>
                      <a:srgbClr val="0B0B0B"/>
                    </a:solidFill>
                  </a:tcPr>
                </a:tc>
                <a:tc>
                  <a:txBody>
                    <a:bodyPr wrap="square"/>
                    <a:lstStyle/>
                    <a:p>
                      <a:pPr algn="ctr"/>
                      <a:r>
                        <a:rPr sz="1350" b="1">
                          <a:solidFill>
                            <a:srgbClr val="FFFFFF"/>
                          </a:solidFill>
                          <a:latin typeface="Calibri"/>
                        </a:rPr>
                        <a:t>Part Number</a:t>
                      </a:r>
                    </a:p>
                  </a:txBody>
                  <a:tcPr anchor="ctr" marL="91440" marR="91440" marT="45720" marB="45720">
                    <a:solidFill>
                      <a:srgbClr val="0B0B0B"/>
                    </a:solidFill>
                  </a:tcPr>
                </a:tc>
                <a:tc>
                  <a:txBody>
                    <a:bodyPr wrap="square"/>
                    <a:lstStyle/>
                    <a:p>
                      <a:pPr algn="ctr"/>
                      <a:r>
                        <a:rPr sz="1350" b="1">
                          <a:solidFill>
                            <a:srgbClr val="FFFFFF"/>
                          </a:solidFill>
                          <a:latin typeface="Calibri"/>
                        </a:rPr>
                        <a:t>Cost</a:t>
                      </a:r>
                    </a:p>
                  </a:txBody>
                  <a:tcPr anchor="ctr" marL="91440" marR="91440" marT="45720" marB="45720">
                    <a:solidFill>
                      <a:srgbClr val="0B0B0B"/>
                    </a:solidFill>
                  </a:tcPr>
                </a:tc>
              </a:tr>
              <a:tr h="333102">
                <a:tc>
                  <a:txBody>
                    <a:bodyPr wrap="square"/>
                    <a:lstStyle/>
                    <a:p>
                      <a:pPr algn="l"/>
                      <a:r>
                        <a:rPr sz="1250" b="0">
                          <a:solidFill>
                            <a:srgbClr val="0B0B0B"/>
                          </a:solidFill>
                          <a:latin typeface="Calibri"/>
                        </a:rPr>
                        <a:t>Sender MCU</a:t>
                      </a:r>
                    </a:p>
                  </a:txBody>
                  <a:tcPr anchor="ctr" marL="91440" marR="91440" marT="45720" marB="45720">
                    <a:solidFill>
                      <a:srgbClr val="FFFFFF"/>
                    </a:solidFill>
                  </a:tcPr>
                </a:tc>
                <a:tc>
                  <a:txBody>
                    <a:bodyPr wrap="square"/>
                    <a:lstStyle/>
                    <a:p>
                      <a:pPr algn="ctr"/>
                      <a:r>
                        <a:rPr sz="1250" b="0">
                          <a:solidFill>
                            <a:srgbClr val="0B0B0B"/>
                          </a:solidFill>
                          <a:latin typeface="Calibri"/>
                        </a:rPr>
                        <a:t>Pico H, RP2040</a:t>
                      </a:r>
                    </a:p>
                  </a:txBody>
                  <a:tcPr anchor="ctr" marL="91440" marR="91440" marT="45720" marB="45720">
                    <a:solidFill>
                      <a:srgbClr val="FFFFFF"/>
                    </a:solidFill>
                  </a:tcPr>
                </a:tc>
                <a:tc>
                  <a:txBody>
                    <a:bodyPr wrap="square"/>
                    <a:lstStyle/>
                    <a:p>
                      <a:pPr algn="ctr"/>
                      <a:r>
                        <a:rPr sz="1250" b="0">
                          <a:solidFill>
                            <a:srgbClr val="0B0B0B"/>
                          </a:solidFill>
                          <a:latin typeface="Calibri"/>
                        </a:rPr>
                        <a:t>$5.00</a:t>
                      </a:r>
                    </a:p>
                  </a:txBody>
                  <a:tcPr anchor="ctr" marL="91440" marR="91440" marT="45720" marB="45720">
                    <a:solidFill>
                      <a:srgbClr val="FFFFFF"/>
                    </a:solidFill>
                  </a:tcPr>
                </a:tc>
              </a:tr>
              <a:tr h="333102">
                <a:tc>
                  <a:txBody>
                    <a:bodyPr wrap="square"/>
                    <a:lstStyle/>
                    <a:p>
                      <a:pPr algn="l"/>
                      <a:r>
                        <a:rPr sz="1250" b="0">
                          <a:solidFill>
                            <a:srgbClr val="0B0B0B"/>
                          </a:solidFill>
                          <a:latin typeface="Calibri"/>
                        </a:rPr>
                        <a:t>Gate Driver ×4</a:t>
                      </a:r>
                    </a:p>
                  </a:txBody>
                  <a:tcPr anchor="ctr" marL="91440" marR="91440" marT="45720" marB="45720">
                    <a:solidFill>
                      <a:srgbClr val="F0EFEC"/>
                    </a:solidFill>
                  </a:tcPr>
                </a:tc>
                <a:tc>
                  <a:txBody>
                    <a:bodyPr wrap="square"/>
                    <a:lstStyle/>
                    <a:p>
                      <a:pPr algn="ctr"/>
                      <a:r>
                        <a:rPr sz="1250" b="0">
                          <a:solidFill>
                            <a:srgbClr val="0B0B0B"/>
                          </a:solidFill>
                          <a:latin typeface="Calibri"/>
                        </a:rPr>
                        <a:t>TC4420COA</a:t>
                      </a:r>
                    </a:p>
                  </a:txBody>
                  <a:tcPr anchor="ctr" marL="91440" marR="91440" marT="45720" marB="45720">
                    <a:solidFill>
                      <a:srgbClr val="F0EFEC"/>
                    </a:solidFill>
                  </a:tcPr>
                </a:tc>
                <a:tc>
                  <a:txBody>
                    <a:bodyPr wrap="square"/>
                    <a:lstStyle/>
                    <a:p>
                      <a:pPr algn="ctr"/>
                      <a:r>
                        <a:rPr sz="1250" b="0">
                          <a:solidFill>
                            <a:srgbClr val="0B0B0B"/>
                          </a:solidFill>
                          <a:latin typeface="Calibri"/>
                        </a:rPr>
                        <a:t>$1.80 ea.</a:t>
                      </a:r>
                    </a:p>
                  </a:txBody>
                  <a:tcPr anchor="ctr" marL="91440" marR="91440" marT="45720" marB="45720">
                    <a:solidFill>
                      <a:srgbClr val="F0EFEC"/>
                    </a:solidFill>
                  </a:tcPr>
                </a:tc>
              </a:tr>
              <a:tr h="333102">
                <a:tc>
                  <a:txBody>
                    <a:bodyPr wrap="square"/>
                    <a:lstStyle/>
                    <a:p>
                      <a:pPr algn="l"/>
                      <a:r>
                        <a:rPr sz="1250" b="0">
                          <a:solidFill>
                            <a:srgbClr val="0B0B0B"/>
                          </a:solidFill>
                          <a:latin typeface="Calibri"/>
                        </a:rPr>
                        <a:t>MOSFET ×4</a:t>
                      </a:r>
                    </a:p>
                  </a:txBody>
                  <a:tcPr anchor="ctr" marL="91440" marR="91440" marT="45720" marB="45720">
                    <a:solidFill>
                      <a:srgbClr val="FFFFFF"/>
                    </a:solidFill>
                  </a:tcPr>
                </a:tc>
                <a:tc>
                  <a:txBody>
                    <a:bodyPr wrap="square"/>
                    <a:lstStyle/>
                    <a:p>
                      <a:pPr algn="ctr"/>
                      <a:r>
                        <a:rPr sz="1250" b="0">
                          <a:solidFill>
                            <a:srgbClr val="0B0B0B"/>
                          </a:solidFill>
                          <a:latin typeface="Calibri"/>
                        </a:rPr>
                        <a:t>SIR800DP-T1-GE3</a:t>
                      </a:r>
                    </a:p>
                  </a:txBody>
                  <a:tcPr anchor="ctr" marL="91440" marR="91440" marT="45720" marB="45720">
                    <a:solidFill>
                      <a:srgbClr val="FFFFFF"/>
                    </a:solidFill>
                  </a:tcPr>
                </a:tc>
                <a:tc>
                  <a:txBody>
                    <a:bodyPr wrap="square"/>
                    <a:lstStyle/>
                    <a:p>
                      <a:pPr algn="ctr"/>
                      <a:r>
                        <a:rPr sz="1250" b="0">
                          <a:solidFill>
                            <a:srgbClr val="0B0B0B"/>
                          </a:solidFill>
                          <a:latin typeface="Calibri"/>
                        </a:rPr>
                        <a:t>$0.88 ea.</a:t>
                      </a:r>
                    </a:p>
                  </a:txBody>
                  <a:tcPr anchor="ctr" marL="91440" marR="91440" marT="45720" marB="45720">
                    <a:solidFill>
                      <a:srgbClr val="FFFFFF"/>
                    </a:solidFill>
                  </a:tcPr>
                </a:tc>
              </a:tr>
              <a:tr h="333102">
                <a:tc>
                  <a:txBody>
                    <a:bodyPr wrap="square"/>
                    <a:lstStyle/>
                    <a:p>
                      <a:pPr algn="l"/>
                      <a:r>
                        <a:rPr sz="1250" b="0">
                          <a:solidFill>
                            <a:srgbClr val="0B0B0B"/>
                          </a:solidFill>
                          <a:latin typeface="Calibri"/>
                        </a:rPr>
                        <a:t>DC-DC Module</a:t>
                      </a:r>
                    </a:p>
                  </a:txBody>
                  <a:tcPr anchor="ctr" marL="91440" marR="91440" marT="45720" marB="45720">
                    <a:solidFill>
                      <a:srgbClr val="F0EFEC"/>
                    </a:solidFill>
                  </a:tcPr>
                </a:tc>
                <a:tc>
                  <a:txBody>
                    <a:bodyPr wrap="square"/>
                    <a:lstStyle/>
                    <a:p>
                      <a:pPr algn="ctr"/>
                      <a:r>
                        <a:rPr sz="1250" b="0">
                          <a:solidFill>
                            <a:srgbClr val="0B0B0B"/>
                          </a:solidFill>
                          <a:latin typeface="Calibri"/>
                        </a:rPr>
                        <a:t>PTN78000WAH (12V→5V)</a:t>
                      </a:r>
                    </a:p>
                  </a:txBody>
                  <a:tcPr anchor="ctr" marL="91440" marR="91440" marT="45720" marB="45720">
                    <a:solidFill>
                      <a:srgbClr val="F0EFEC"/>
                    </a:solidFill>
                  </a:tcPr>
                </a:tc>
                <a:tc>
                  <a:txBody>
                    <a:bodyPr wrap="square"/>
                    <a:lstStyle/>
                    <a:p>
                      <a:pPr algn="ctr"/>
                      <a:r>
                        <a:rPr sz="1250" b="0">
                          <a:solidFill>
                            <a:srgbClr val="0B0B0B"/>
                          </a:solidFill>
                          <a:latin typeface="Calibri"/>
                        </a:rPr>
                        <a:t>$24.58</a:t>
                      </a:r>
                    </a:p>
                  </a:txBody>
                  <a:tcPr anchor="ctr" marL="91440" marR="91440" marT="45720" marB="45720">
                    <a:solidFill>
                      <a:srgbClr val="F0EFEC"/>
                    </a:solidFill>
                  </a:tcPr>
                </a:tc>
              </a:tr>
              <a:tr h="333102">
                <a:tc>
                  <a:txBody>
                    <a:bodyPr wrap="square"/>
                    <a:lstStyle/>
                    <a:p>
                      <a:pPr algn="l"/>
                      <a:r>
                        <a:rPr sz="1250" b="0">
                          <a:solidFill>
                            <a:srgbClr val="0B0B0B"/>
                          </a:solidFill>
                          <a:latin typeface="Calibri"/>
                        </a:rPr>
                        <a:t>LED Array</a:t>
                      </a:r>
                    </a:p>
                  </a:txBody>
                  <a:tcPr anchor="ctr" marL="91440" marR="91440" marT="45720" marB="45720">
                    <a:solidFill>
                      <a:srgbClr val="FFFFFF"/>
                    </a:solidFill>
                  </a:tcPr>
                </a:tc>
                <a:tc>
                  <a:txBody>
                    <a:bodyPr wrap="square"/>
                    <a:lstStyle/>
                    <a:p>
                      <a:pPr algn="ctr"/>
                      <a:r>
                        <a:rPr sz="1250" b="0">
                          <a:solidFill>
                            <a:srgbClr val="0B0B0B"/>
                          </a:solidFill>
                          <a:latin typeface="Calibri"/>
                        </a:rPr>
                        <a:t>SFH 4715A-CBDB</a:t>
                      </a:r>
                    </a:p>
                  </a:txBody>
                  <a:tcPr anchor="ctr" marL="91440" marR="91440" marT="45720" marB="45720">
                    <a:solidFill>
                      <a:srgbClr val="FFFFFF"/>
                    </a:solidFill>
                  </a:tcPr>
                </a:tc>
                <a:tc>
                  <a:txBody>
                    <a:bodyPr wrap="square"/>
                    <a:lstStyle/>
                    <a:p>
                      <a:pPr algn="ctr"/>
                      <a:r>
                        <a:rPr sz="1250" b="0">
                          <a:solidFill>
                            <a:srgbClr val="0B0B0B"/>
                          </a:solidFill>
                          <a:latin typeface="Calibri"/>
                        </a:rPr>
                        <a:t>$2.50</a:t>
                      </a:r>
                    </a:p>
                  </a:txBody>
                  <a:tcPr anchor="ctr" marL="91440" marR="91440" marT="45720" marB="45720">
                    <a:solidFill>
                      <a:srgbClr val="FFFFFF"/>
                    </a:solidFill>
                  </a:tcPr>
                </a:tc>
              </a:tr>
              <a:tr h="333102">
                <a:tc>
                  <a:txBody>
                    <a:bodyPr wrap="square"/>
                    <a:lstStyle/>
                    <a:p>
                      <a:pPr algn="l"/>
                      <a:r>
                        <a:rPr sz="1250" b="0">
                          <a:solidFill>
                            <a:srgbClr val="0B0B0B"/>
                          </a:solidFill>
                          <a:latin typeface="Calibri"/>
                        </a:rPr>
                        <a:t>Receiver MCU</a:t>
                      </a:r>
                    </a:p>
                  </a:txBody>
                  <a:tcPr anchor="ctr" marL="91440" marR="91440" marT="45720" marB="45720">
                    <a:solidFill>
                      <a:srgbClr val="F0EFEC"/>
                    </a:solidFill>
                  </a:tcPr>
                </a:tc>
                <a:tc>
                  <a:txBody>
                    <a:bodyPr wrap="square"/>
                    <a:lstStyle/>
                    <a:p>
                      <a:pPr algn="ctr"/>
                      <a:r>
                        <a:rPr sz="1250" b="0">
                          <a:solidFill>
                            <a:srgbClr val="0B0B0B"/>
                          </a:solidFill>
                          <a:latin typeface="Calibri"/>
                        </a:rPr>
                        <a:t>Pico 2 H, RP2350</a:t>
                      </a:r>
                    </a:p>
                  </a:txBody>
                  <a:tcPr anchor="ctr" marL="91440" marR="91440" marT="45720" marB="45720">
                    <a:solidFill>
                      <a:srgbClr val="F0EFEC"/>
                    </a:solidFill>
                  </a:tcPr>
                </a:tc>
                <a:tc>
                  <a:txBody>
                    <a:bodyPr wrap="square"/>
                    <a:lstStyle/>
                    <a:p>
                      <a:pPr algn="ctr"/>
                      <a:r>
                        <a:rPr sz="1250" b="0">
                          <a:solidFill>
                            <a:srgbClr val="0B0B0B"/>
                          </a:solidFill>
                          <a:latin typeface="Calibri"/>
                        </a:rPr>
                        <a:t>$6.00</a:t>
                      </a:r>
                    </a:p>
                  </a:txBody>
                  <a:tcPr anchor="ctr" marL="91440" marR="91440" marT="45720" marB="45720">
                    <a:solidFill>
                      <a:srgbClr val="F0EFEC"/>
                    </a:solidFill>
                  </a:tcPr>
                </a:tc>
              </a:tr>
              <a:tr h="333102">
                <a:tc>
                  <a:txBody>
                    <a:bodyPr wrap="square"/>
                    <a:lstStyle/>
                    <a:p>
                      <a:pPr algn="l"/>
                      <a:r>
                        <a:rPr sz="1250" b="0">
                          <a:solidFill>
                            <a:srgbClr val="0B0B0B"/>
                          </a:solidFill>
                          <a:latin typeface="Calibri"/>
                        </a:rPr>
                        <a:t>TIA</a:t>
                      </a:r>
                    </a:p>
                  </a:txBody>
                  <a:tcPr anchor="ctr" marL="91440" marR="91440" marT="45720" marB="45720">
                    <a:solidFill>
                      <a:srgbClr val="FFFFFF"/>
                    </a:solidFill>
                  </a:tcPr>
                </a:tc>
                <a:tc>
                  <a:txBody>
                    <a:bodyPr wrap="square"/>
                    <a:lstStyle/>
                    <a:p>
                      <a:pPr algn="ctr"/>
                      <a:r>
                        <a:rPr sz="1250" b="0">
                          <a:solidFill>
                            <a:srgbClr val="0B0B0B"/>
                          </a:solidFill>
                          <a:latin typeface="Calibri"/>
                        </a:rPr>
                        <a:t>OPA381AIDGKT</a:t>
                      </a:r>
                    </a:p>
                  </a:txBody>
                  <a:tcPr anchor="ctr" marL="91440" marR="91440" marT="45720" marB="45720">
                    <a:solidFill>
                      <a:srgbClr val="FFFFFF"/>
                    </a:solidFill>
                  </a:tcPr>
                </a:tc>
                <a:tc>
                  <a:txBody>
                    <a:bodyPr wrap="square"/>
                    <a:lstStyle/>
                    <a:p>
                      <a:pPr algn="ctr"/>
                      <a:r>
                        <a:rPr sz="1250" b="0">
                          <a:solidFill>
                            <a:srgbClr val="0B0B0B"/>
                          </a:solidFill>
                          <a:latin typeface="Calibri"/>
                        </a:rPr>
                        <a:t>$2.93</a:t>
                      </a:r>
                    </a:p>
                  </a:txBody>
                  <a:tcPr anchor="ctr" marL="91440" marR="91440" marT="45720" marB="45720">
                    <a:solidFill>
                      <a:srgbClr val="FFFFFF"/>
                    </a:solidFill>
                  </a:tcPr>
                </a:tc>
              </a:tr>
              <a:tr h="333102">
                <a:tc>
                  <a:txBody>
                    <a:bodyPr wrap="square"/>
                    <a:lstStyle/>
                    <a:p>
                      <a:pPr algn="l"/>
                      <a:r>
                        <a:rPr sz="1250" b="0">
                          <a:solidFill>
                            <a:srgbClr val="0B0B0B"/>
                          </a:solidFill>
                          <a:latin typeface="Calibri"/>
                        </a:rPr>
                        <a:t>Photodiode</a:t>
                      </a:r>
                    </a:p>
                  </a:txBody>
                  <a:tcPr anchor="ctr" marL="91440" marR="91440" marT="45720" marB="45720">
                    <a:solidFill>
                      <a:srgbClr val="F0EFEC"/>
                    </a:solidFill>
                  </a:tcPr>
                </a:tc>
                <a:tc>
                  <a:txBody>
                    <a:bodyPr wrap="square"/>
                    <a:lstStyle/>
                    <a:p>
                      <a:pPr algn="ctr"/>
                      <a:r>
                        <a:rPr sz="1250" b="0">
                          <a:solidFill>
                            <a:srgbClr val="0B0B0B"/>
                          </a:solidFill>
                          <a:latin typeface="Calibri"/>
                        </a:rPr>
                        <a:t>SFH 2400-Z</a:t>
                      </a:r>
                    </a:p>
                  </a:txBody>
                  <a:tcPr anchor="ctr" marL="91440" marR="91440" marT="45720" marB="45720">
                    <a:solidFill>
                      <a:srgbClr val="F0EFEC"/>
                    </a:solidFill>
                  </a:tcPr>
                </a:tc>
                <a:tc>
                  <a:txBody>
                    <a:bodyPr wrap="square"/>
                    <a:lstStyle/>
                    <a:p>
                      <a:pPr algn="ctr"/>
                      <a:r>
                        <a:rPr sz="1250" b="0">
                          <a:solidFill>
                            <a:srgbClr val="0B0B0B"/>
                          </a:solidFill>
                          <a:latin typeface="Calibri"/>
                        </a:rPr>
                        <a:t>$0.79</a:t>
                      </a:r>
                    </a:p>
                  </a:txBody>
                  <a:tcPr anchor="ctr" marL="91440" marR="91440" marT="45720" marB="45720">
                    <a:solidFill>
                      <a:srgbClr val="F0EFEC"/>
                    </a:solidFill>
                  </a:tcPr>
                </a:tc>
              </a:tr>
              <a:tr h="333102">
                <a:tc>
                  <a:txBody>
                    <a:bodyPr wrap="square"/>
                    <a:lstStyle/>
                    <a:p>
                      <a:pPr algn="l"/>
                      <a:r>
                        <a:rPr sz="1250" b="0">
                          <a:solidFill>
                            <a:srgbClr val="0B0B0B"/>
                          </a:solidFill>
                          <a:latin typeface="Calibri"/>
                        </a:rPr>
                        <a:t>Comparator</a:t>
                      </a:r>
                    </a:p>
                  </a:txBody>
                  <a:tcPr anchor="ctr" marL="91440" marR="91440" marT="45720" marB="45720">
                    <a:solidFill>
                      <a:srgbClr val="FFFFFF"/>
                    </a:solidFill>
                  </a:tcPr>
                </a:tc>
                <a:tc>
                  <a:txBody>
                    <a:bodyPr wrap="square"/>
                    <a:lstStyle/>
                    <a:p>
                      <a:pPr algn="ctr"/>
                      <a:r>
                        <a:rPr sz="1250" b="0">
                          <a:solidFill>
                            <a:srgbClr val="0B0B0B"/>
                          </a:solidFill>
                          <a:latin typeface="Calibri"/>
                        </a:rPr>
                        <a:t>TLV3501AIDBVR</a:t>
                      </a:r>
                    </a:p>
                  </a:txBody>
                  <a:tcPr anchor="ctr" marL="91440" marR="91440" marT="45720" marB="45720">
                    <a:solidFill>
                      <a:srgbClr val="FFFFFF"/>
                    </a:solidFill>
                  </a:tcPr>
                </a:tc>
                <a:tc>
                  <a:txBody>
                    <a:bodyPr wrap="square"/>
                    <a:lstStyle/>
                    <a:p>
                      <a:pPr algn="ctr"/>
                      <a:r>
                        <a:rPr sz="1250" b="0">
                          <a:solidFill>
                            <a:srgbClr val="0B0B0B"/>
                          </a:solidFill>
                          <a:latin typeface="Calibri"/>
                        </a:rPr>
                        <a:t>$2.64</a:t>
                      </a:r>
                    </a:p>
                  </a:txBody>
                  <a:tcPr anchor="ctr" marL="91440" marR="91440" marT="45720" marB="45720">
                    <a:solidFill>
                      <a:srgbClr val="FFFFFF"/>
                    </a:solidFill>
                  </a:tcPr>
                </a:tc>
              </a:tr>
              <a:tr h="333102">
                <a:tc>
                  <a:txBody>
                    <a:bodyPr wrap="square"/>
                    <a:lstStyle/>
                    <a:p>
                      <a:pPr algn="l"/>
                      <a:r>
                        <a:rPr sz="1250" b="0">
                          <a:solidFill>
                            <a:srgbClr val="0B0B0B"/>
                          </a:solidFill>
                          <a:latin typeface="Calibri"/>
                        </a:rPr>
                        <a:t>DAC</a:t>
                      </a:r>
                    </a:p>
                  </a:txBody>
                  <a:tcPr anchor="ctr" marL="91440" marR="91440" marT="45720" marB="45720">
                    <a:solidFill>
                      <a:srgbClr val="F0EFEC"/>
                    </a:solidFill>
                  </a:tcPr>
                </a:tc>
                <a:tc>
                  <a:txBody>
                    <a:bodyPr wrap="square"/>
                    <a:lstStyle/>
                    <a:p>
                      <a:pPr algn="ctr"/>
                      <a:r>
                        <a:rPr sz="1250" b="0">
                          <a:solidFill>
                            <a:srgbClr val="0B0B0B"/>
                          </a:solidFill>
                          <a:latin typeface="Calibri"/>
                        </a:rPr>
                        <a:t>MCP4725A1T-E/CH</a:t>
                      </a:r>
                    </a:p>
                  </a:txBody>
                  <a:tcPr anchor="ctr" marL="91440" marR="91440" marT="45720" marB="45720">
                    <a:solidFill>
                      <a:srgbClr val="F0EFEC"/>
                    </a:solidFill>
                  </a:tcPr>
                </a:tc>
                <a:tc>
                  <a:txBody>
                    <a:bodyPr wrap="square"/>
                    <a:lstStyle/>
                    <a:p>
                      <a:pPr algn="ctr"/>
                      <a:r>
                        <a:rPr sz="1250" b="0">
                          <a:solidFill>
                            <a:srgbClr val="0B0B0B"/>
                          </a:solidFill>
                          <a:latin typeface="Calibri"/>
                        </a:rPr>
                        <a:t>$1.27</a:t>
                      </a:r>
                    </a:p>
                  </a:txBody>
                  <a:tcPr anchor="ctr" marL="91440" marR="91440" marT="45720" marB="45720">
                    <a:solidFill>
                      <a:srgbClr val="F0EFEC"/>
                    </a:solidFill>
                  </a:tcPr>
                </a:tc>
              </a:tr>
              <a:tr h="333102">
                <a:tc>
                  <a:txBody>
                    <a:bodyPr wrap="square"/>
                    <a:lstStyle/>
                    <a:p>
                      <a:pPr algn="l"/>
                      <a:r>
                        <a:rPr sz="1250" b="0">
                          <a:solidFill>
                            <a:srgbClr val="0B0B0B"/>
                          </a:solidFill>
                          <a:latin typeface="Calibri"/>
                        </a:rPr>
                        <a:t>LiPo Charger</a:t>
                      </a:r>
                    </a:p>
                  </a:txBody>
                  <a:tcPr anchor="ctr" marL="91440" marR="91440" marT="45720" marB="45720">
                    <a:solidFill>
                      <a:srgbClr val="FFFFFF"/>
                    </a:solidFill>
                  </a:tcPr>
                </a:tc>
                <a:tc>
                  <a:txBody>
                    <a:bodyPr wrap="square"/>
                    <a:lstStyle/>
                    <a:p>
                      <a:pPr algn="ctr"/>
                      <a:r>
                        <a:rPr sz="1250" b="0">
                          <a:solidFill>
                            <a:srgbClr val="0B0B0B"/>
                          </a:solidFill>
                          <a:latin typeface="Calibri"/>
                        </a:rPr>
                        <a:t>BQ24074RGTR</a:t>
                      </a:r>
                    </a:p>
                  </a:txBody>
                  <a:tcPr anchor="ctr" marL="91440" marR="91440" marT="45720" marB="45720">
                    <a:solidFill>
                      <a:srgbClr val="FFFFFF"/>
                    </a:solidFill>
                  </a:tcPr>
                </a:tc>
                <a:tc>
                  <a:txBody>
                    <a:bodyPr wrap="square"/>
                    <a:lstStyle/>
                    <a:p>
                      <a:pPr algn="ctr"/>
                      <a:r>
                        <a:rPr sz="1250" b="0">
                          <a:solidFill>
                            <a:srgbClr val="0B0B0B"/>
                          </a:solidFill>
                          <a:latin typeface="Calibri"/>
                        </a:rPr>
                        <a:t>$2.50</a:t>
                      </a:r>
                    </a:p>
                  </a:txBody>
                  <a:tcPr anchor="ctr" marL="91440" marR="91440" marT="45720" marB="45720">
                    <a:solidFill>
                      <a:srgbClr val="FFFFFF"/>
                    </a:solidFill>
                  </a:tcPr>
                </a:tc>
              </a:tr>
              <a:tr h="333102">
                <a:tc>
                  <a:txBody>
                    <a:bodyPr wrap="square"/>
                    <a:lstStyle/>
                    <a:p>
                      <a:pPr algn="l"/>
                      <a:r>
                        <a:rPr sz="1250" b="0">
                          <a:solidFill>
                            <a:srgbClr val="0B0B0B"/>
                          </a:solidFill>
                          <a:latin typeface="Calibri"/>
                        </a:rPr>
                        <a:t>Buck-Boost Reg.</a:t>
                      </a:r>
                    </a:p>
                  </a:txBody>
                  <a:tcPr anchor="ctr" marL="91440" marR="91440" marT="45720" marB="45720">
                    <a:solidFill>
                      <a:srgbClr val="F0EFEC"/>
                    </a:solidFill>
                  </a:tcPr>
                </a:tc>
                <a:tc>
                  <a:txBody>
                    <a:bodyPr wrap="square"/>
                    <a:lstStyle/>
                    <a:p>
                      <a:pPr algn="ctr"/>
                      <a:r>
                        <a:rPr sz="1250" b="0">
                          <a:solidFill>
                            <a:srgbClr val="0B0B0B"/>
                          </a:solidFill>
                          <a:latin typeface="Calibri"/>
                        </a:rPr>
                        <a:t>TPS63031DSKR</a:t>
                      </a:r>
                    </a:p>
                  </a:txBody>
                  <a:tcPr anchor="ctr" marL="91440" marR="91440" marT="45720" marB="45720">
                    <a:solidFill>
                      <a:srgbClr val="F0EFEC"/>
                    </a:solidFill>
                  </a:tcPr>
                </a:tc>
                <a:tc>
                  <a:txBody>
                    <a:bodyPr wrap="square"/>
                    <a:lstStyle/>
                    <a:p>
                      <a:pPr algn="ctr"/>
                      <a:r>
                        <a:rPr sz="1250" b="0">
                          <a:solidFill>
                            <a:srgbClr val="0B0B0B"/>
                          </a:solidFill>
                          <a:latin typeface="Calibri"/>
                        </a:rPr>
                        <a:t>$2.14</a:t>
                      </a:r>
                    </a:p>
                  </a:txBody>
                  <a:tcPr anchor="ctr" marL="91440" marR="91440" marT="45720" marB="45720">
                    <a:solidFill>
                      <a:srgbClr val="F0EFEC"/>
                    </a:solidFill>
                  </a:tcPr>
                </a:tc>
              </a:tr>
              <a:tr h="333114">
                <a:tc>
                  <a:txBody>
                    <a:bodyPr wrap="square"/>
                    <a:lstStyle/>
                    <a:p>
                      <a:pPr algn="l"/>
                      <a:r>
                        <a:rPr sz="1250" b="0">
                          <a:solidFill>
                            <a:srgbClr val="0B0B0B"/>
                          </a:solidFill>
                          <a:latin typeface="Calibri"/>
                        </a:rPr>
                        <a:t>Passives, PCBs (×2)</a:t>
                      </a:r>
                    </a:p>
                  </a:txBody>
                  <a:tcPr anchor="ctr" marL="91440" marR="91440" marT="45720" marB="45720">
                    <a:solidFill>
                      <a:srgbClr val="FFFFFF"/>
                    </a:solidFill>
                  </a:tcPr>
                </a:tc>
                <a:tc>
                  <a:txBody>
                    <a:bodyPr wrap="square"/>
                    <a:lstStyle/>
                    <a:p>
                      <a:pPr algn="ctr"/>
                      <a:r>
                        <a:rPr sz="1250" b="0">
                          <a:solidFill>
                            <a:srgbClr val="0B0B0B"/>
                          </a:solidFill>
                          <a:latin typeface="Calibri"/>
                        </a:rPr>
                        <a:t>R/C/fuses/JST + fab</a:t>
                      </a:r>
                    </a:p>
                  </a:txBody>
                  <a:tcPr anchor="ctr" marL="91440" marR="91440" marT="45720" marB="45720">
                    <a:solidFill>
                      <a:srgbClr val="FFFFFF"/>
                    </a:solidFill>
                  </a:tcPr>
                </a:tc>
                <a:tc>
                  <a:txBody>
                    <a:bodyPr wrap="square"/>
                    <a:lstStyle/>
                    <a:p>
                      <a:pPr algn="ctr"/>
                      <a:r>
                        <a:rPr sz="1250" b="0">
                          <a:solidFill>
                            <a:srgbClr val="0B0B0B"/>
                          </a:solidFill>
                          <a:latin typeface="Calibri"/>
                        </a:rPr>
                        <a:t>≈ $25</a:t>
                      </a:r>
                    </a:p>
                  </a:txBody>
                  <a:tcPr anchor="ctr" marL="91440" marR="91440" marT="45720" marB="45720">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gridCol w="1463040"/>
                <a:gridCol w="6675120"/>
              </a:tblGrid>
              <a:tr h="411480">
                <a:tc>
                  <a:txBody>
                    <a:bodyPr wrap="square"/>
                    <a:lstStyle/>
                    <a:p>
                      <a:pPr algn="l"/>
                      <a:r>
                        <a:rPr sz="1350" b="1">
                          <a:solidFill>
                            <a:srgbClr val="FFFFFF"/>
                          </a:solidFill>
                          <a:latin typeface="Calibri"/>
                        </a:rPr>
                        <a:t>Field</a:t>
                      </a:r>
                    </a:p>
                  </a:txBody>
                  <a:tcPr anchor="ctr" marL="91440" marR="91440" marT="45720" marB="45720">
                    <a:solidFill>
                      <a:srgbClr val="0B0B0B"/>
                    </a:solidFill>
                  </a:tcPr>
                </a:tc>
                <a:tc>
                  <a:txBody>
                    <a:bodyPr wrap="square"/>
                    <a:lstStyle/>
                    <a:p>
                      <a:pPr algn="ctr"/>
                      <a:r>
                        <a:rPr sz="1350" b="1">
                          <a:solidFill>
                            <a:srgbClr val="FFFFFF"/>
                          </a:solidFill>
                          <a:latin typeface="Calibri"/>
                        </a:rPr>
                        <a:t>Size</a:t>
                      </a:r>
                    </a:p>
                  </a:txBody>
                  <a:tcPr anchor="ctr" marL="91440" marR="91440" marT="45720" marB="45720">
                    <a:solidFill>
                      <a:srgbClr val="0B0B0B"/>
                    </a:solidFill>
                  </a:tcPr>
                </a:tc>
                <a:tc>
                  <a:txBody>
                    <a:bodyPr wrap="square"/>
                    <a:lstStyle/>
                    <a:p>
                      <a:pPr algn="ctr"/>
                      <a:r>
                        <a:rPr sz="1350" b="1">
                          <a:solidFill>
                            <a:srgbClr val="FFFFFF"/>
                          </a:solidFill>
                          <a:latin typeface="Calibri"/>
                        </a:rPr>
                        <a:t>Notes</a:t>
                      </a:r>
                    </a:p>
                  </a:txBody>
                  <a:tcPr anchor="ctr" marL="91440" marR="91440" marT="45720" marB="45720">
                    <a:solidFill>
                      <a:srgbClr val="0B0B0B"/>
                    </a:solidFill>
                  </a:tcPr>
                </a:tc>
              </a:tr>
              <a:tr h="411480">
                <a:tc>
                  <a:txBody>
                    <a:bodyPr wrap="square"/>
                    <a:lstStyle/>
                    <a:p>
                      <a:pPr algn="l"/>
                      <a:r>
                        <a:rPr sz="1250" b="0">
                          <a:solidFill>
                            <a:srgbClr val="0B0B0B"/>
                          </a:solidFill>
                          <a:latin typeface="Calibri"/>
                        </a:rPr>
                        <a:t>Preamble</a:t>
                      </a:r>
                    </a:p>
                  </a:txBody>
                  <a:tcPr anchor="ctr" marL="91440" marR="91440" marT="45720" marB="45720">
                    <a:solidFill>
                      <a:srgbClr val="FFFFFF"/>
                    </a:solidFill>
                  </a:tcPr>
                </a:tc>
                <a:tc>
                  <a:txBody>
                    <a:bodyPr wrap="square"/>
                    <a:lstStyle/>
                    <a:p>
                      <a:pPr algn="ctr"/>
                      <a:r>
                        <a:rPr sz="1250" b="0">
                          <a:solidFill>
                            <a:srgbClr val="0B0B0B"/>
                          </a:solidFill>
                          <a:latin typeface="Calibri"/>
                        </a:rPr>
                        <a:t>4 B</a:t>
                      </a:r>
                    </a:p>
                  </a:txBody>
                  <a:tcPr anchor="ctr" marL="91440" marR="91440" marT="45720" marB="45720">
                    <a:solidFill>
                      <a:srgbClr val="FFFFFF"/>
                    </a:solidFill>
                  </a:tcPr>
                </a:tc>
                <a:tc>
                  <a:txBody>
                    <a:bodyPr wrap="square"/>
                    <a:lstStyle/>
                    <a:p>
                      <a:pPr algn="ctr"/>
                      <a:r>
                        <a:rPr sz="1250" b="0">
                          <a:solidFill>
                            <a:srgbClr val="0B0B0B"/>
                          </a:solidFill>
                          <a:latin typeface="Calibri"/>
                        </a:rPr>
                        <a:t>0xAB 0xCD 0xEF 0x12 — synchronization marker</a:t>
                      </a:r>
                    </a:p>
                  </a:txBody>
                  <a:tcPr anchor="ctr" marL="91440" marR="91440" marT="45720" marB="45720">
                    <a:solidFill>
                      <a:srgbClr val="FFFFFF"/>
                    </a:solidFill>
                  </a:tcPr>
                </a:tc>
              </a:tr>
              <a:tr h="411480">
                <a:tc>
                  <a:txBody>
                    <a:bodyPr wrap="square"/>
                    <a:lstStyle/>
                    <a:p>
                      <a:pPr algn="l"/>
                      <a:r>
                        <a:rPr sz="1250" b="0">
                          <a:solidFill>
                            <a:srgbClr val="0B0B0B"/>
                          </a:solidFill>
                          <a:latin typeface="Calibri"/>
                        </a:rPr>
                        <a:t>Type</a:t>
                      </a:r>
                    </a:p>
                  </a:txBody>
                  <a:tcPr anchor="ctr" marL="91440" marR="91440" marT="45720" marB="45720">
                    <a:solidFill>
                      <a:srgbClr val="F0EFEC"/>
                    </a:solidFill>
                  </a:tcPr>
                </a:tc>
                <a:tc>
                  <a:txBody>
                    <a:bodyPr wrap="square"/>
                    <a:lstStyle/>
                    <a:p>
                      <a:pPr algn="ctr"/>
                      <a:r>
                        <a:rPr sz="1250" b="0">
                          <a:solidFill>
                            <a:srgbClr val="0B0B0B"/>
                          </a:solidFill>
                          <a:latin typeface="Calibri"/>
                        </a:rPr>
                        <a:t>1 B</a:t>
                      </a:r>
                    </a:p>
                  </a:txBody>
                  <a:tcPr anchor="ctr" marL="91440" marR="91440" marT="45720" marB="45720">
                    <a:solidFill>
                      <a:srgbClr val="F0EFEC"/>
                    </a:solidFill>
                  </a:tcPr>
                </a:tc>
                <a:tc>
                  <a:txBody>
                    <a:bodyPr wrap="square"/>
                    <a:lstStyle/>
                    <a:p>
                      <a:pPr algn="ctr"/>
                      <a:r>
                        <a:rPr sz="1250" b="0">
                          <a:solidFill>
                            <a:srgbClr val="0B0B0B"/>
                          </a:solidFill>
                          <a:latin typeface="Calibri"/>
                        </a:rPr>
                        <a:t>Message type identifier</a:t>
                      </a:r>
                    </a:p>
                  </a:txBody>
                  <a:tcPr anchor="ctr" marL="91440" marR="91440" marT="45720" marB="45720">
                    <a:solidFill>
                      <a:srgbClr val="F0EFEC"/>
                    </a:solidFill>
                  </a:tcPr>
                </a:tc>
              </a:tr>
              <a:tr h="411480">
                <a:tc>
                  <a:txBody>
                    <a:bodyPr wrap="square"/>
                    <a:lstStyle/>
                    <a:p>
                      <a:pPr algn="l"/>
                      <a:r>
                        <a:rPr sz="1250" b="0">
                          <a:solidFill>
                            <a:srgbClr val="0B0B0B"/>
                          </a:solidFill>
                          <a:latin typeface="Calibri"/>
                        </a:rPr>
                        <a:t>Length</a:t>
                      </a:r>
                    </a:p>
                  </a:txBody>
                  <a:tcPr anchor="ctr" marL="91440" marR="91440" marT="45720" marB="45720">
                    <a:solidFill>
                      <a:srgbClr val="FFFFFF"/>
                    </a:solidFill>
                  </a:tcPr>
                </a:tc>
                <a:tc>
                  <a:txBody>
                    <a:bodyPr wrap="square"/>
                    <a:lstStyle/>
                    <a:p>
                      <a:pPr algn="ctr"/>
                      <a:r>
                        <a:rPr sz="1250" b="0">
                          <a:solidFill>
                            <a:srgbClr val="0B0B0B"/>
                          </a:solidFill>
                          <a:latin typeface="Calibri"/>
                        </a:rPr>
                        <a:t>2 B</a:t>
                      </a:r>
                    </a:p>
                  </a:txBody>
                  <a:tcPr anchor="ctr" marL="91440" marR="91440" marT="45720" marB="45720">
                    <a:solidFill>
                      <a:srgbClr val="FFFFFF"/>
                    </a:solidFill>
                  </a:tcPr>
                </a:tc>
                <a:tc>
                  <a:txBody>
                    <a:bodyPr wrap="square"/>
                    <a:lstStyle/>
                    <a:p>
                      <a:pPr algn="ctr"/>
                      <a:r>
                        <a:rPr sz="1250" b="0">
                          <a:solidFill>
                            <a:srgbClr val="0B0B0B"/>
                          </a:solidFill>
                          <a:latin typeface="Calibri"/>
                        </a:rPr>
                        <a:t>Ciphertext length N</a:t>
                      </a:r>
                    </a:p>
                  </a:txBody>
                  <a:tcPr anchor="ctr" marL="91440" marR="91440" marT="45720" marB="45720">
                    <a:solidFill>
                      <a:srgbClr val="FFFFFF"/>
                    </a:solidFill>
                  </a:tcPr>
                </a:tc>
              </a:tr>
              <a:tr h="411480">
                <a:tc>
                  <a:txBody>
                    <a:bodyPr wrap="square"/>
                    <a:lstStyle/>
                    <a:p>
                      <a:pPr algn="l"/>
                      <a:r>
                        <a:rPr sz="1250" b="0">
                          <a:solidFill>
                            <a:srgbClr val="0B0B0B"/>
                          </a:solidFill>
                          <a:latin typeface="Calibri"/>
                        </a:rPr>
                        <a:t>Nonce</a:t>
                      </a:r>
                    </a:p>
                  </a:txBody>
                  <a:tcPr anchor="ctr" marL="91440" marR="91440" marT="45720" marB="45720">
                    <a:solidFill>
                      <a:srgbClr val="F0EFEC"/>
                    </a:solidFill>
                  </a:tcPr>
                </a:tc>
                <a:tc>
                  <a:txBody>
                    <a:bodyPr wrap="square"/>
                    <a:lstStyle/>
                    <a:p>
                      <a:pPr algn="ctr"/>
                      <a:r>
                        <a:rPr sz="1250" b="0">
                          <a:solidFill>
                            <a:srgbClr val="0B0B0B"/>
                          </a:solidFill>
                          <a:latin typeface="Calibri"/>
                        </a:rPr>
                        <a:t>12 B</a:t>
                      </a:r>
                    </a:p>
                  </a:txBody>
                  <a:tcPr anchor="ctr" marL="91440" marR="91440" marT="45720" marB="45720">
                    <a:solidFill>
                      <a:srgbClr val="F0EFEC"/>
                    </a:solidFill>
                  </a:tcPr>
                </a:tc>
                <a:tc>
                  <a:txBody>
                    <a:bodyPr wrap="square"/>
                    <a:lstStyle/>
                    <a:p>
                      <a:pPr algn="ctr"/>
                      <a:r>
                        <a:rPr sz="1250" b="0">
                          <a:solidFill>
                            <a:srgbClr val="0B0B0B"/>
                          </a:solidFill>
                          <a:latin typeface="Calibri"/>
                        </a:rPr>
                        <a:t>8B random boot salt + 4B monotonic counter</a:t>
                      </a:r>
                    </a:p>
                  </a:txBody>
                  <a:tcPr anchor="ctr" marL="91440" marR="91440" marT="45720" marB="45720">
                    <a:solidFill>
                      <a:srgbClr val="F0EFEC"/>
                    </a:solidFill>
                  </a:tcPr>
                </a:tc>
              </a:tr>
              <a:tr h="411480">
                <a:tc>
                  <a:txBody>
                    <a:bodyPr wrap="square"/>
                    <a:lstStyle/>
                    <a:p>
                      <a:pPr algn="l"/>
                      <a:r>
                        <a:rPr sz="1250" b="0">
                          <a:solidFill>
                            <a:srgbClr val="0B0B0B"/>
                          </a:solidFill>
                          <a:latin typeface="Calibri"/>
                        </a:rPr>
                        <a:t>Ciphertext</a:t>
                      </a:r>
                    </a:p>
                  </a:txBody>
                  <a:tcPr anchor="ctr" marL="91440" marR="91440" marT="45720" marB="45720">
                    <a:solidFill>
                      <a:srgbClr val="FFFFFF"/>
                    </a:solidFill>
                  </a:tcPr>
                </a:tc>
                <a:tc>
                  <a:txBody>
                    <a:bodyPr wrap="square"/>
                    <a:lstStyle/>
                    <a:p>
                      <a:pPr algn="ctr"/>
                      <a:r>
                        <a:rPr sz="1250" b="0">
                          <a:solidFill>
                            <a:srgbClr val="0B0B0B"/>
                          </a:solidFill>
                          <a:latin typeface="Calibri"/>
                        </a:rPr>
                        <a:t>N B</a:t>
                      </a:r>
                    </a:p>
                  </a:txBody>
                  <a:tcPr anchor="ctr" marL="91440" marR="91440" marT="45720" marB="45720">
                    <a:solidFill>
                      <a:srgbClr val="FFFFFF"/>
                    </a:solidFill>
                  </a:tcPr>
                </a:tc>
                <a:tc>
                  <a:txBody>
                    <a:bodyPr wrap="square"/>
                    <a:lstStyle/>
                    <a:p>
                      <a:pPr algn="ctr"/>
                      <a:r>
                        <a:rPr sz="1250" b="0">
                          <a:solidFill>
                            <a:srgbClr val="0B0B0B"/>
                          </a:solidFill>
                          <a:latin typeface="Calibri"/>
                        </a:rPr>
                        <a:t>AES-128-GCM output, equal length to plaintext</a:t>
                      </a:r>
                    </a:p>
                  </a:txBody>
                  <a:tcPr anchor="ctr" marL="91440" marR="91440" marT="45720" marB="45720">
                    <a:solidFill>
                      <a:srgbClr val="FFFFFF"/>
                    </a:solidFill>
                  </a:tcPr>
                </a:tc>
              </a:tr>
              <a:tr h="411480">
                <a:tc>
                  <a:txBody>
                    <a:bodyPr wrap="square"/>
                    <a:lstStyle/>
                    <a:p>
                      <a:pPr algn="l"/>
                      <a:r>
                        <a:rPr sz="1250" b="0">
                          <a:solidFill>
                            <a:srgbClr val="0B0B0B"/>
                          </a:solidFill>
                          <a:latin typeface="Calibri"/>
                        </a:rPr>
                        <a:t>GCM Tag</a:t>
                      </a:r>
                    </a:p>
                  </a:txBody>
                  <a:tcPr anchor="ctr" marL="91440" marR="91440" marT="45720" marB="45720">
                    <a:solidFill>
                      <a:srgbClr val="F0EFEC"/>
                    </a:solidFill>
                  </a:tcPr>
                </a:tc>
                <a:tc>
                  <a:txBody>
                    <a:bodyPr wrap="square"/>
                    <a:lstStyle/>
                    <a:p>
                      <a:pPr algn="ctr"/>
                      <a:r>
                        <a:rPr sz="1250" b="0">
                          <a:solidFill>
                            <a:srgbClr val="0B0B0B"/>
                          </a:solidFill>
                          <a:latin typeface="Calibri"/>
                        </a:rPr>
                        <a:t>16 B</a:t>
                      </a:r>
                    </a:p>
                  </a:txBody>
                  <a:tcPr anchor="ctr" marL="91440" marR="91440" marT="45720" marB="45720">
                    <a:solidFill>
                      <a:srgbClr val="F0EFEC"/>
                    </a:solidFill>
                  </a:tcPr>
                </a:tc>
                <a:tc>
                  <a:txBody>
                    <a:bodyPr wrap="square"/>
                    <a:lstStyle/>
                    <a:p>
                      <a:pPr algn="ctr"/>
                      <a:r>
                        <a:rPr sz="1250" b="0">
                          <a:solidFill>
                            <a:srgbClr val="0B0B0B"/>
                          </a:solidFill>
                          <a:latin typeface="Calibri"/>
                        </a:rPr>
                        <a:t>Authentication tag — verified before any plaintext release</a:t>
                      </a:r>
                    </a:p>
                  </a:txBody>
                  <a:tcPr anchor="ctr" marL="91440" marR="91440" marT="45720" marB="45720">
                    <a:solidFill>
                      <a:srgbClr val="F0EFEC"/>
                    </a:solidFill>
                  </a:tcPr>
                </a:tc>
              </a:tr>
              <a:tr h="411480">
                <a:tc>
                  <a:txBody>
                    <a:bodyPr wrap="square"/>
                    <a:lstStyle/>
                    <a:p>
                      <a:pPr algn="l"/>
                      <a:r>
                        <a:rPr sz="1250" b="0">
                          <a:solidFill>
                            <a:srgbClr val="0B0B0B"/>
                          </a:solidFill>
                          <a:latin typeface="Calibri"/>
                        </a:rPr>
                        <a:t>CRC16</a:t>
                      </a:r>
                    </a:p>
                  </a:txBody>
                  <a:tcPr anchor="ctr" marL="91440" marR="91440" marT="45720" marB="45720">
                    <a:solidFill>
                      <a:srgbClr val="FFFFFF"/>
                    </a:solidFill>
                  </a:tcPr>
                </a:tc>
                <a:tc>
                  <a:txBody>
                    <a:bodyPr wrap="square"/>
                    <a:lstStyle/>
                    <a:p>
                      <a:pPr algn="ctr"/>
                      <a:r>
                        <a:rPr sz="1250" b="0">
                          <a:solidFill>
                            <a:srgbClr val="0B0B0B"/>
                          </a:solidFill>
                          <a:latin typeface="Calibri"/>
                        </a:rPr>
                        <a:t>2 B</a:t>
                      </a:r>
                    </a:p>
                  </a:txBody>
                  <a:tcPr anchor="ctr" marL="91440" marR="91440" marT="45720" marB="45720">
                    <a:solidFill>
                      <a:srgbClr val="FFFFFF"/>
                    </a:solidFill>
                  </a:tcPr>
                </a:tc>
                <a:tc>
                  <a:txBody>
                    <a:bodyPr wrap="square"/>
                    <a:lstStyle/>
                    <a:p>
                      <a:pPr algn="ctr"/>
                      <a:r>
                        <a:rPr sz="1250" b="0">
                          <a:solidFill>
                            <a:srgbClr val="0B0B0B"/>
                          </a:solidFill>
                          <a:latin typeface="Calibri"/>
                        </a:rPr>
                        <a:t>CRC16-CCITT, poly 0x1021, init 0xFFFF</a:t>
                      </a:r>
                    </a:p>
                  </a:txBody>
                  <a:tcPr anchor="ctr" marL="91440" marR="91440" marT="45720" marB="45720">
                    <a:solidFill>
                      <a:srgbClr val="FFFFFF"/>
                    </a:solidFill>
                  </a:tcPr>
                </a:tc>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i="0" b="1">
                <a:solidFill>
                  <a:srgbClr val="898781"/>
                </a:solidFill>
                <a:latin typeface="Calibri"/>
              </a:rPr>
              <a:t>64-entry nonce sliding window checked against every incoming nonce BEFORE decryption is attempted.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gridCol w="1463040"/>
                <a:gridCol w="1828800"/>
                <a:gridCol w="3291840"/>
                <a:gridCol w="2377440"/>
              </a:tblGrid>
              <a:tr h="548640">
                <a:tc>
                  <a:txBody>
                    <a:bodyPr wrap="square"/>
                    <a:lstStyle/>
                    <a:p>
                      <a:pPr algn="l"/>
                      <a:r>
                        <a:rPr sz="1350" b="1">
                          <a:solidFill>
                            <a:srgbClr val="FFFFFF"/>
                          </a:solidFill>
                          <a:latin typeface="Calibri"/>
                        </a:rPr>
                        <a:t>R_f</a:t>
                      </a:r>
                    </a:p>
                  </a:txBody>
                  <a:tcPr anchor="ctr" marL="91440" marR="91440" marT="45720" marB="45720">
                    <a:solidFill>
                      <a:srgbClr val="0B0B0B"/>
                    </a:solidFill>
                  </a:tcPr>
                </a:tc>
                <a:tc>
                  <a:txBody>
                    <a:bodyPr wrap="square"/>
                    <a:lstStyle/>
                    <a:p>
                      <a:pPr algn="ctr"/>
                      <a:r>
                        <a:rPr sz="1350" b="1">
                          <a:solidFill>
                            <a:srgbClr val="FFFFFF"/>
                          </a:solidFill>
                          <a:latin typeface="Calibri"/>
                        </a:rPr>
                        <a:t>C_f</a:t>
                      </a:r>
                    </a:p>
                  </a:txBody>
                  <a:tcPr anchor="ctr" marL="91440" marR="91440" marT="45720" marB="45720">
                    <a:solidFill>
                      <a:srgbClr val="0B0B0B"/>
                    </a:solidFill>
                  </a:tcPr>
                </a:tc>
                <a:tc>
                  <a:txBody>
                    <a:bodyPr wrap="square"/>
                    <a:lstStyle/>
                    <a:p>
                      <a:pPr algn="ctr"/>
                      <a:r>
                        <a:rPr sz="1350" b="1">
                          <a:solidFill>
                            <a:srgbClr val="FFFFFF"/>
                          </a:solidFill>
                          <a:latin typeface="Calibri"/>
                        </a:rPr>
                        <a:t>BW (kHz)</a:t>
                      </a:r>
                    </a:p>
                  </a:txBody>
                  <a:tcPr anchor="ctr" marL="91440" marR="91440" marT="45720" marB="45720">
                    <a:solidFill>
                      <a:srgbClr val="0B0B0B"/>
                    </a:solidFill>
                  </a:tcPr>
                </a:tc>
                <a:tc>
                  <a:txBody>
                    <a:bodyPr wrap="square"/>
                    <a:lstStyle/>
                    <a:p>
                      <a:pPr algn="ctr"/>
                      <a:r>
                        <a:rPr sz="1350" b="1">
                          <a:solidFill>
                            <a:srgbClr val="FFFFFF"/>
                          </a:solidFill>
                          <a:latin typeface="Calibri"/>
                        </a:rPr>
                        <a:t>Max Baud (measured)</a:t>
                      </a:r>
                    </a:p>
                  </a:txBody>
                  <a:tcPr anchor="ctr" marL="91440" marR="91440" marT="45720" marB="45720">
                    <a:solidFill>
                      <a:srgbClr val="0B0B0B"/>
                    </a:solidFill>
                  </a:tcPr>
                </a:tc>
                <a:tc>
                  <a:txBody>
                    <a:bodyPr wrap="square"/>
                    <a:lstStyle/>
                    <a:p>
                      <a:pPr algn="ctr"/>
                      <a:r>
                        <a:rPr sz="1350" b="1">
                          <a:solidFill>
                            <a:srgbClr val="FFFFFF"/>
                          </a:solidFill>
                          <a:latin typeface="Calibri"/>
                        </a:rPr>
                        <a:t>Output Swing</a:t>
                      </a:r>
                    </a:p>
                  </a:txBody>
                  <a:tcPr anchor="ctr" marL="91440" marR="91440" marT="45720" marB="45720">
                    <a:solidFill>
                      <a:srgbClr val="0B0B0B"/>
                    </a:solidFill>
                  </a:tcPr>
                </a:tc>
              </a:tr>
              <a:tr h="548640">
                <a:tc>
                  <a:txBody>
                    <a:bodyPr wrap="square"/>
                    <a:lstStyle/>
                    <a:p>
                      <a:pPr algn="l"/>
                      <a:r>
                        <a:rPr sz="1250" b="0">
                          <a:solidFill>
                            <a:srgbClr val="0B0B0B"/>
                          </a:solidFill>
                          <a:latin typeface="Calibri"/>
                        </a:rPr>
                        <a:t>470kΩ</a:t>
                      </a:r>
                    </a:p>
                  </a:txBody>
                  <a:tcPr anchor="ctr" marL="91440" marR="91440" marT="45720" marB="45720">
                    <a:solidFill>
                      <a:srgbClr val="FFFFFF"/>
                    </a:solidFill>
                  </a:tcPr>
                </a:tc>
                <a:tc>
                  <a:txBody>
                    <a:bodyPr wrap="square"/>
                    <a:lstStyle/>
                    <a:p>
                      <a:pPr algn="ctr"/>
                      <a:r>
                        <a:rPr sz="1250" b="0">
                          <a:solidFill>
                            <a:srgbClr val="0B0B0B"/>
                          </a:solidFill>
                          <a:latin typeface="Calibri"/>
                        </a:rPr>
                        <a:t>5pF</a:t>
                      </a:r>
                    </a:p>
                  </a:txBody>
                  <a:tcPr anchor="ctr" marL="91440" marR="91440" marT="45720" marB="45720">
                    <a:solidFill>
                      <a:srgbClr val="FFFFFF"/>
                    </a:solidFill>
                  </a:tcPr>
                </a:tc>
                <a:tc>
                  <a:txBody>
                    <a:bodyPr wrap="square"/>
                    <a:lstStyle/>
                    <a:p>
                      <a:pPr algn="ctr"/>
                      <a:r>
                        <a:rPr sz="1250" b="0">
                          <a:solidFill>
                            <a:srgbClr val="0B0B0B"/>
                          </a:solidFill>
                          <a:latin typeface="Calibri"/>
                        </a:rPr>
                        <a:t>68</a:t>
                      </a:r>
                    </a:p>
                  </a:txBody>
                  <a:tcPr anchor="ctr" marL="91440" marR="91440" marT="45720" marB="45720">
                    <a:solidFill>
                      <a:srgbClr val="FFFFFF"/>
                    </a:solidFill>
                  </a:tcPr>
                </a:tc>
                <a:tc>
                  <a:txBody>
                    <a:bodyPr wrap="square"/>
                    <a:lstStyle/>
                    <a:p>
                      <a:pPr algn="ctr"/>
                      <a:r>
                        <a:rPr sz="1250" b="0">
                          <a:solidFill>
                            <a:srgbClr val="0B0B0B"/>
                          </a:solidFill>
                          <a:latin typeface="Calibri"/>
                        </a:rPr>
                        <a:t>300,000</a:t>
                      </a:r>
                    </a:p>
                  </a:txBody>
                  <a:tcPr anchor="ctr" marL="91440" marR="91440" marT="45720" marB="45720">
                    <a:solidFill>
                      <a:srgbClr val="FFFFFF"/>
                    </a:solidFill>
                  </a:tcPr>
                </a:tc>
                <a:tc>
                  <a:txBody>
                    <a:bodyPr wrap="square"/>
                    <a:lstStyle/>
                    <a:p>
                      <a:pPr algn="ctr"/>
                      <a:r>
                        <a:rPr sz="1250" b="0">
                          <a:solidFill>
                            <a:srgbClr val="0B0B0B"/>
                          </a:solidFill>
                          <a:latin typeface="Calibri"/>
                        </a:rPr>
                        <a:t>≈2.0V</a:t>
                      </a:r>
                    </a:p>
                  </a:txBody>
                  <a:tcPr anchor="ctr" marL="91440" marR="91440" marT="45720" marB="45720">
                    <a:solidFill>
                      <a:srgbClr val="FFFFFF"/>
                    </a:solidFill>
                  </a:tcPr>
                </a:tc>
              </a:tr>
              <a:tr h="548640">
                <a:tc>
                  <a:txBody>
                    <a:bodyPr wrap="square"/>
                    <a:lstStyle/>
                    <a:p>
                      <a:pPr algn="l"/>
                      <a:r>
                        <a:rPr sz="1250" b="0">
                          <a:solidFill>
                            <a:srgbClr val="0B0B0B"/>
                          </a:solidFill>
                          <a:latin typeface="Calibri"/>
                        </a:rPr>
                        <a:t>100kΩ</a:t>
                      </a:r>
                    </a:p>
                  </a:txBody>
                  <a:tcPr anchor="ctr" marL="91440" marR="91440" marT="45720" marB="45720">
                    <a:solidFill>
                      <a:srgbClr val="F0EFEC"/>
                    </a:solidFill>
                  </a:tcPr>
                </a:tc>
                <a:tc>
                  <a:txBody>
                    <a:bodyPr wrap="square"/>
                    <a:lstStyle/>
                    <a:p>
                      <a:pPr algn="ctr"/>
                      <a:r>
                        <a:rPr sz="1250" b="0">
                          <a:solidFill>
                            <a:srgbClr val="0B0B0B"/>
                          </a:solidFill>
                          <a:latin typeface="Calibri"/>
                        </a:rPr>
                        <a:t>5pF</a:t>
                      </a:r>
                    </a:p>
                  </a:txBody>
                  <a:tcPr anchor="ctr" marL="91440" marR="91440" marT="45720" marB="45720">
                    <a:solidFill>
                      <a:srgbClr val="F0EFEC"/>
                    </a:solidFill>
                  </a:tcPr>
                </a:tc>
                <a:tc>
                  <a:txBody>
                    <a:bodyPr wrap="square"/>
                    <a:lstStyle/>
                    <a:p>
                      <a:pPr algn="ctr"/>
                      <a:r>
                        <a:rPr sz="1250" b="0">
                          <a:solidFill>
                            <a:srgbClr val="0B0B0B"/>
                          </a:solidFill>
                          <a:latin typeface="Calibri"/>
                        </a:rPr>
                        <a:t>318</a:t>
                      </a:r>
                    </a:p>
                  </a:txBody>
                  <a:tcPr anchor="ctr" marL="91440" marR="91440" marT="45720" marB="45720">
                    <a:solidFill>
                      <a:srgbClr val="F0EFEC"/>
                    </a:solidFill>
                  </a:tcPr>
                </a:tc>
                <a:tc>
                  <a:txBody>
                    <a:bodyPr wrap="square"/>
                    <a:lstStyle/>
                    <a:p>
                      <a:pPr algn="ctr"/>
                      <a:r>
                        <a:rPr sz="1250" b="0">
                          <a:solidFill>
                            <a:srgbClr val="0B0B0B"/>
                          </a:solidFill>
                          <a:latin typeface="Calibri"/>
                        </a:rPr>
                        <a:t>250,000</a:t>
                      </a:r>
                    </a:p>
                  </a:txBody>
                  <a:tcPr anchor="ctr" marL="91440" marR="91440" marT="45720" marB="45720">
                    <a:solidFill>
                      <a:srgbClr val="F0EFEC"/>
                    </a:solidFill>
                  </a:tcPr>
                </a:tc>
                <a:tc>
                  <a:txBody>
                    <a:bodyPr wrap="square"/>
                    <a:lstStyle/>
                    <a:p>
                      <a:pPr algn="ctr"/>
                      <a:r>
                        <a:rPr sz="1250" b="0">
                          <a:solidFill>
                            <a:srgbClr val="0B0B0B"/>
                          </a:solidFill>
                          <a:latin typeface="Calibri"/>
                        </a:rPr>
                        <a:t>≈400mV</a:t>
                      </a:r>
                    </a:p>
                  </a:txBody>
                  <a:tcPr anchor="ctr" marL="91440" marR="91440" marT="45720" marB="45720">
                    <a:solidFill>
                      <a:srgbClr val="F0EFEC"/>
                    </a:solidFill>
                  </a:tcPr>
                </a:tc>
              </a:tr>
              <a:tr h="548640">
                <a:tc>
                  <a:txBody>
                    <a:bodyPr wrap="square"/>
                    <a:lstStyle/>
                    <a:p>
                      <a:pPr algn="l"/>
                      <a:r>
                        <a:rPr sz="1250" b="0">
                          <a:solidFill>
                            <a:srgbClr val="0B0B0B"/>
                          </a:solidFill>
                          <a:latin typeface="Calibri"/>
                        </a:rPr>
                        <a:t>100kΩ</a:t>
                      </a:r>
                    </a:p>
                  </a:txBody>
                  <a:tcPr anchor="ctr" marL="91440" marR="91440" marT="45720" marB="45720">
                    <a:solidFill>
                      <a:srgbClr val="FFFFFF"/>
                    </a:solidFill>
                  </a:tcPr>
                </a:tc>
                <a:tc>
                  <a:txBody>
                    <a:bodyPr wrap="square"/>
                    <a:lstStyle/>
                    <a:p>
                      <a:pPr algn="ctr"/>
                      <a:r>
                        <a:rPr sz="1250" b="0">
                          <a:solidFill>
                            <a:srgbClr val="0B0B0B"/>
                          </a:solidFill>
                          <a:latin typeface="Calibri"/>
                        </a:rPr>
                        <a:t>1pF</a:t>
                      </a:r>
                    </a:p>
                  </a:txBody>
                  <a:tcPr anchor="ctr" marL="91440" marR="91440" marT="45720" marB="45720">
                    <a:solidFill>
                      <a:srgbClr val="FFFFFF"/>
                    </a:solidFill>
                  </a:tcPr>
                </a:tc>
                <a:tc>
                  <a:txBody>
                    <a:bodyPr wrap="square"/>
                    <a:lstStyle/>
                    <a:p>
                      <a:pPr algn="ctr"/>
                      <a:r>
                        <a:rPr sz="1250" b="0">
                          <a:solidFill>
                            <a:srgbClr val="0B0B0B"/>
                          </a:solidFill>
                          <a:latin typeface="Calibri"/>
                        </a:rPr>
                        <a:t>1,590</a:t>
                      </a:r>
                    </a:p>
                  </a:txBody>
                  <a:tcPr anchor="ctr" marL="91440" marR="91440" marT="45720" marB="45720">
                    <a:solidFill>
                      <a:srgbClr val="FFFFFF"/>
                    </a:solidFill>
                  </a:tcPr>
                </a:tc>
                <a:tc>
                  <a:txBody>
                    <a:bodyPr wrap="square"/>
                    <a:lstStyle/>
                    <a:p>
                      <a:pPr algn="ctr"/>
                      <a:r>
                        <a:rPr sz="1250" b="0">
                          <a:solidFill>
                            <a:srgbClr val="0B0B0B"/>
                          </a:solidFill>
                          <a:latin typeface="Calibri"/>
                        </a:rPr>
                        <a:t>TBD (future work)</a:t>
                      </a:r>
                    </a:p>
                  </a:txBody>
                  <a:tcPr anchor="ctr" marL="91440" marR="91440" marT="45720" marB="45720">
                    <a:solidFill>
                      <a:srgbClr val="FFFFFF"/>
                    </a:solidFill>
                  </a:tcPr>
                </a:tc>
                <a:tc>
                  <a:txBody>
                    <a:bodyPr wrap="square"/>
                    <a:lstStyle/>
                    <a:p>
                      <a:pPr algn="ctr"/>
                      <a:r>
                        <a:rPr sz="1250" b="0">
                          <a:solidFill>
                            <a:srgbClr val="0B0B0B"/>
                          </a:solidFill>
                          <a:latin typeface="Calibri"/>
                        </a:rPr>
                        <a:t>≈400mV</a:t>
                      </a:r>
                    </a:p>
                  </a:txBody>
                  <a:tcPr anchor="ctr" marL="91440" marR="91440" marT="45720" marB="45720">
                    <a:solidFill>
                      <a:srgbClr val="FFFFFF"/>
                    </a:solidFill>
                  </a:tcPr>
                </a:tc>
              </a:tr>
              <a:tr h="548640">
                <a:tc>
                  <a:txBody>
                    <a:bodyPr wrap="square"/>
                    <a:lstStyle/>
                    <a:p>
                      <a:pPr algn="l"/>
                      <a:r>
                        <a:rPr sz="1250" b="0">
                          <a:solidFill>
                            <a:srgbClr val="0B0B0B"/>
                          </a:solidFill>
                          <a:latin typeface="Calibri"/>
                        </a:rPr>
                        <a:t>47kΩ</a:t>
                      </a:r>
                    </a:p>
                  </a:txBody>
                  <a:tcPr anchor="ctr" marL="91440" marR="91440" marT="45720" marB="45720">
                    <a:solidFill>
                      <a:srgbClr val="F0EFEC"/>
                    </a:solidFill>
                  </a:tcPr>
                </a:tc>
                <a:tc>
                  <a:txBody>
                    <a:bodyPr wrap="square"/>
                    <a:lstStyle/>
                    <a:p>
                      <a:pPr algn="ctr"/>
                      <a:r>
                        <a:rPr sz="1250" b="0">
                          <a:solidFill>
                            <a:srgbClr val="0B0B0B"/>
                          </a:solidFill>
                          <a:latin typeface="Calibri"/>
                        </a:rPr>
                        <a:t>1pF</a:t>
                      </a:r>
                    </a:p>
                  </a:txBody>
                  <a:tcPr anchor="ctr" marL="91440" marR="91440" marT="45720" marB="45720">
                    <a:solidFill>
                      <a:srgbClr val="F0EFEC"/>
                    </a:solidFill>
                  </a:tcPr>
                </a:tc>
                <a:tc>
                  <a:txBody>
                    <a:bodyPr wrap="square"/>
                    <a:lstStyle/>
                    <a:p>
                      <a:pPr algn="ctr"/>
                      <a:r>
                        <a:rPr sz="1250" b="0">
                          <a:solidFill>
                            <a:srgbClr val="0B0B0B"/>
                          </a:solidFill>
                          <a:latin typeface="Calibri"/>
                        </a:rPr>
                        <a:t>3,386</a:t>
                      </a:r>
                    </a:p>
                  </a:txBody>
                  <a:tcPr anchor="ctr" marL="91440" marR="91440" marT="45720" marB="45720">
                    <a:solidFill>
                      <a:srgbClr val="F0EFEC"/>
                    </a:solidFill>
                  </a:tcPr>
                </a:tc>
                <a:tc>
                  <a:txBody>
                    <a:bodyPr wrap="square"/>
                    <a:lstStyle/>
                    <a:p>
                      <a:pPr algn="ctr"/>
                      <a:r>
                        <a:rPr sz="1250" b="0">
                          <a:solidFill>
                            <a:srgbClr val="0B0B0B"/>
                          </a:solidFill>
                          <a:latin typeface="Calibri"/>
                        </a:rPr>
                        <a:t>TBD (future work)</a:t>
                      </a:r>
                    </a:p>
                  </a:txBody>
                  <a:tcPr anchor="ctr" marL="91440" marR="91440" marT="45720" marB="45720">
                    <a:solidFill>
                      <a:srgbClr val="F0EFEC"/>
                    </a:solidFill>
                  </a:tcPr>
                </a:tc>
                <a:tc>
                  <a:txBody>
                    <a:bodyPr wrap="square"/>
                    <a:lstStyle/>
                    <a:p>
                      <a:pPr algn="ctr"/>
                      <a:r>
                        <a:rPr sz="1250" b="0">
                          <a:solidFill>
                            <a:srgbClr val="0B0B0B"/>
                          </a:solidFill>
                          <a:latin typeface="Calibri"/>
                        </a:rPr>
                        <a:t>≈200mV</a:t>
                      </a:r>
                    </a:p>
                  </a:txBody>
                  <a:tcPr anchor="ctr" marL="91440" marR="91440" marT="45720" marB="45720">
                    <a:solidFill>
                      <a:srgbClr val="F0EFEC"/>
                    </a:solidFill>
                  </a:tcPr>
                </a:tc>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i="0" b="1">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Three Receiver Variants, Three Auth Interaction Models</a:t>
            </a:r>
          </a:p>
        </p:txBody>
      </p:sp>
      <p:graphicFrame>
        <p:nvGraphicFramePr>
          <p:cNvPr id="3" name="Table 2"/>
          <p:cNvGraphicFramePr>
            <a:graphicFrameLocks noGrp="1"/>
          </p:cNvGraphicFramePr>
          <p:nvPr/>
        </p:nvGraphicFramePr>
        <p:xfrm>
          <a:off x="685800" y="1691640"/>
          <a:ext cx="11430000" cy="2011680"/>
        </p:xfrm>
        <a:graphic>
          <a:graphicData uri="http://schemas.openxmlformats.org/drawingml/2006/table">
            <a:tbl>
              <a:tblPr firstRow="1" bandRow="1">
                <a:tableStyleId>{5C22544A-7EE6-4342-B048-85BDC9FD1C3A}</a:tableStyleId>
              </a:tblPr>
              <a:tblGrid>
                <a:gridCol w="2377440"/>
                <a:gridCol w="2011680"/>
                <a:gridCol w="7040880"/>
              </a:tblGrid>
              <a:tr h="502920">
                <a:tc>
                  <a:txBody>
                    <a:bodyPr wrap="square"/>
                    <a:lstStyle/>
                    <a:p>
                      <a:pPr algn="l"/>
                      <a:r>
                        <a:rPr sz="1350" b="1">
                          <a:solidFill>
                            <a:srgbClr val="FFFFFF"/>
                          </a:solidFill>
                          <a:latin typeface="Calibri"/>
                        </a:rPr>
                        <a:t>Binary</a:t>
                      </a:r>
                    </a:p>
                  </a:txBody>
                  <a:tcPr anchor="ctr" marL="91440" marR="91440" marT="45720" marB="45720">
                    <a:solidFill>
                      <a:srgbClr val="0B0B0B"/>
                    </a:solidFill>
                  </a:tcPr>
                </a:tc>
                <a:tc>
                  <a:txBody>
                    <a:bodyPr wrap="square"/>
                    <a:lstStyle/>
                    <a:p>
                      <a:pPr algn="ctr"/>
                      <a:r>
                        <a:rPr sz="1350" b="1">
                          <a:solidFill>
                            <a:srgbClr val="FFFFFF"/>
                          </a:solidFill>
                          <a:latin typeface="Calibri"/>
                        </a:rPr>
                        <a:t>Role</a:t>
                      </a:r>
                    </a:p>
                  </a:txBody>
                  <a:tcPr anchor="ctr" marL="91440" marR="91440" marT="45720" marB="45720">
                    <a:solidFill>
                      <a:srgbClr val="0B0B0B"/>
                    </a:solidFill>
                  </a:tcPr>
                </a:tc>
                <a:tc>
                  <a:txBody>
                    <a:bodyPr wrap="square"/>
                    <a:lstStyle/>
                    <a:p>
                      <a:pPr algn="ctr"/>
                      <a:r>
                        <a:rPr sz="1350" b="1">
                          <a:solidFill>
                            <a:srgbClr val="FFFFFF"/>
                          </a:solidFill>
                          <a:latin typeface="Calibri"/>
                        </a:rPr>
                        <a:t>Auth interaction</a:t>
                      </a:r>
                    </a:p>
                  </a:txBody>
                  <a:tcPr anchor="ctr" marL="91440" marR="91440" marT="45720" marB="45720">
                    <a:solidFill>
                      <a:srgbClr val="0B0B0B"/>
                    </a:solidFill>
                  </a:tcPr>
                </a:tc>
              </a:tr>
              <a:tr h="502920">
                <a:tc>
                  <a:txBody>
                    <a:bodyPr wrap="square"/>
                    <a:lstStyle/>
                    <a:p>
                      <a:pPr algn="l"/>
                      <a:r>
                        <a:rPr sz="1250" b="0">
                          <a:solidFill>
                            <a:srgbClr val="0B0B0B"/>
                          </a:solidFill>
                          <a:latin typeface="Calibri"/>
                        </a:rPr>
                        <a:t>keys_receiver</a:t>
                      </a:r>
                    </a:p>
                  </a:txBody>
                  <a:tcPr anchor="ctr" marL="91440" marR="91440" marT="45720" marB="45720">
                    <a:solidFill>
                      <a:srgbClr val="FFFFFF"/>
                    </a:solidFill>
                  </a:tcPr>
                </a:tc>
                <a:tc>
                  <a:txBody>
                    <a:bodyPr wrap="square"/>
                    <a:lstStyle/>
                    <a:p>
                      <a:pPr algn="ctr"/>
                      <a:r>
                        <a:rPr sz="1250" b="0">
                          <a:solidFill>
                            <a:srgbClr val="0B0B0B"/>
                          </a:solidFill>
                          <a:latin typeface="Calibri"/>
                        </a:rPr>
                        <a:t>“The Manager”</a:t>
                      </a:r>
                    </a:p>
                  </a:txBody>
                  <a:tcPr anchor="ctr" marL="91440" marR="91440" marT="45720" marB="45720">
                    <a:solidFill>
                      <a:srgbClr val="FFFFFF"/>
                    </a:solidFill>
                  </a:tcPr>
                </a:tc>
                <a:tc>
                  <a:txBody>
                    <a:bodyPr wrap="square"/>
                    <a:lstStyle/>
                    <a:p>
                      <a:pPr algn="ctr"/>
                      <a:r>
                        <a:rPr sz="1250" b="0">
                          <a:solidFill>
                            <a:srgbClr val="0B0B0B"/>
                          </a:solidFill>
                          <a:latin typeface="Calibri"/>
                        </a:rPr>
                        <a:t>Fetches a session key from Auth at startup, pushes it to the sender</a:t>
                      </a:r>
                    </a:p>
                  </a:txBody>
                  <a:tcPr anchor="ctr" marL="91440" marR="91440" marT="45720" marB="45720">
                    <a:solidFill>
                      <a:srgbClr val="FFFFFF"/>
                    </a:solidFill>
                  </a:tcPr>
                </a:tc>
              </a:tr>
              <a:tr h="502920">
                <a:tc>
                  <a:txBody>
                    <a:bodyPr wrap="square"/>
                    <a:lstStyle/>
                    <a:p>
                      <a:pPr algn="l"/>
                      <a:r>
                        <a:rPr sz="1250" b="0">
                          <a:solidFill>
                            <a:srgbClr val="0B0B0B"/>
                          </a:solidFill>
                          <a:latin typeface="Calibri"/>
                        </a:rPr>
                        <a:t>flash_receiver</a:t>
                      </a:r>
                    </a:p>
                  </a:txBody>
                  <a:tcPr anchor="ctr" marL="91440" marR="91440" marT="45720" marB="45720">
                    <a:solidFill>
                      <a:srgbClr val="F0EFEC"/>
                    </a:solidFill>
                  </a:tcPr>
                </a:tc>
                <a:tc>
                  <a:txBody>
                    <a:bodyPr wrap="square"/>
                    <a:lstStyle/>
                    <a:p>
                      <a:pPr algn="ctr"/>
                      <a:r>
                        <a:rPr sz="1250" b="0">
                          <a:solidFill>
                            <a:srgbClr val="0B0B0B"/>
                          </a:solidFill>
                          <a:latin typeface="Calibri"/>
                        </a:rPr>
                        <a:t>Combined session app</a:t>
                      </a:r>
                    </a:p>
                  </a:txBody>
                  <a:tcPr anchor="ctr" marL="91440" marR="91440" marT="45720" marB="45720">
                    <a:solidFill>
                      <a:srgbClr val="F0EFEC"/>
                    </a:solidFill>
                  </a:tcPr>
                </a:tc>
                <a:tc>
                  <a:txBody>
                    <a:bodyPr wrap="square"/>
                    <a:lstStyle/>
                    <a:p>
                      <a:pPr algn="ctr"/>
                      <a:r>
                        <a:rPr sz="1250" b="0">
                          <a:solidFill>
                            <a:srgbClr val="0B0B0B"/>
                          </a:solidFill>
                          <a:latin typeface="Calibri"/>
                        </a:rPr>
                        <a:t>Chat + file transfer + HMAC verification + key management, combined</a:t>
                      </a:r>
                    </a:p>
                  </a:txBody>
                  <a:tcPr anchor="ctr" marL="91440" marR="91440" marT="45720" marB="45720">
                    <a:solidFill>
                      <a:srgbClr val="F0EFEC"/>
                    </a:solidFill>
                  </a:tcPr>
                </a:tc>
              </a:tr>
              <a:tr h="502920">
                <a:tc>
                  <a:txBody>
                    <a:bodyPr wrap="square"/>
                    <a:lstStyle/>
                    <a:p>
                      <a:pPr algn="l"/>
                      <a:r>
                        <a:rPr sz="1250" b="0">
                          <a:solidFill>
                            <a:srgbClr val="0B0B0B"/>
                          </a:solidFill>
                          <a:latin typeface="Calibri"/>
                        </a:rPr>
                        <a:t>ask_receiver</a:t>
                      </a:r>
                    </a:p>
                  </a:txBody>
                  <a:tcPr anchor="ctr" marL="91440" marR="91440" marT="45720" marB="45720">
                    <a:solidFill>
                      <a:srgbClr val="FFFFFF"/>
                    </a:solidFill>
                  </a:tcPr>
                </a:tc>
                <a:tc>
                  <a:txBody>
                    <a:bodyPr wrap="square"/>
                    <a:lstStyle/>
                    <a:p>
                      <a:pPr algn="ctr"/>
                      <a:r>
                        <a:rPr sz="1250" b="0">
                          <a:solidFill>
                            <a:srgbClr val="0B0B0B"/>
                          </a:solidFill>
                          <a:latin typeface="Calibri"/>
                        </a:rPr>
                        <a:t>“The Detective”</a:t>
                      </a:r>
                    </a:p>
                  </a:txBody>
                  <a:tcPr anchor="ctr" marL="91440" marR="91440" marT="45720" marB="45720">
                    <a:solidFill>
                      <a:srgbClr val="FFFFFF"/>
                    </a:solidFill>
                  </a:tcPr>
                </a:tc>
                <a:tc>
                  <a:txBody>
                    <a:bodyPr wrap="square"/>
                    <a:lstStyle/>
                    <a:p>
                      <a:pPr algn="ctr"/>
                      <a:r>
                        <a:rPr sz="1250" b="0">
                          <a:solidFill>
                            <a:srgbClr val="0B0B0B"/>
                          </a:solidFill>
                          <a:latin typeface="Calibri"/>
                        </a:rPr>
                        <a:t>No keys at start — listens for an optical key-ID broadcast, then queries Auth</a:t>
                      </a:r>
                    </a:p>
                  </a:txBody>
                  <a:tcPr anchor="ctr" marL="91440" marR="91440" marT="45720" marB="45720">
                    <a:solidFill>
                      <a:srgbClr val="FFFFFF"/>
                    </a:solidFill>
                  </a:tcPr>
                </a:tc>
              </a:tr>
            </a:tbl>
          </a:graphicData>
        </a:graphic>
      </p:graphicFrame>
      <p:sp>
        <p:nvSpPr>
          <p:cNvPr id="4" name="TextBox 3"/>
          <p:cNvSpPr txBox="1"/>
          <p:nvPr/>
        </p:nvSpPr>
        <p:spPr>
          <a:xfrm>
            <a:off x="502920" y="3931920"/>
            <a:ext cx="11155680" cy="548640"/>
          </a:xfrm>
          <a:prstGeom prst="rect">
            <a:avLst/>
          </a:prstGeom>
          <a:noFill/>
        </p:spPr>
        <p:txBody>
          <a:bodyPr wrap="square">
            <a:spAutoFit/>
          </a:bodyPr>
          <a:lstStyle/>
          <a:p>
            <a:pPr algn="ctr"/>
            <a:r>
              <a:rPr sz="1250" i="0" b="1">
                <a:solidFill>
                  <a:srgbClr val="898781"/>
                </a:solidFill>
                <a:latin typeface="Calibri"/>
              </a:rPr>
              <a:t>ask_receiver implements the roaming/discovery model shown on the Auth-runtime slide — it is the concrete code behind that diagram, not a conceptual simplification.</a:t>
            </a:r>
          </a:p>
        </p:txBody>
      </p:sp>
      <p:sp>
        <p:nvSpPr>
          <p:cNvPr id="5" name="TextBox 4"/>
          <p:cNvSpPr txBox="1"/>
          <p:nvPr/>
        </p:nvSpPr>
        <p:spPr>
          <a:xfrm>
            <a:off x="685800" y="4617720"/>
            <a:ext cx="10789920" cy="1828800"/>
          </a:xfrm>
          <a:prstGeom prst="rect">
            <a:avLst/>
          </a:prstGeom>
          <a:noFill/>
        </p:spPr>
        <p:txBody>
          <a:bodyPr wrap="square">
            <a:spAutoFit/>
          </a:bodyPr>
          <a:lstStyle/>
          <a:p>
            <a:pPr>
              <a:spcAft>
                <a:spcPts val="1100"/>
              </a:spcAft>
            </a:pPr>
            <a:r>
              <a:rPr sz="1350">
                <a:solidFill>
                  <a:srgbClr val="0B0B0B"/>
                </a:solidFill>
                <a:latin typeface="Calibri"/>
              </a:rPr>
              <a:t>●   Message types relevant to Auth interaction: MSG_TYPE_KEY_ID_ONLY (discovery), MSG_TYPE_CHALLENGE / RESPONSE (runtime HMAC), MSG_TYPE_KEY (provisioning push)</a:t>
            </a:r>
          </a:p>
          <a:p>
            <a:pPr>
              <a:spcAft>
                <a:spcPts val="1100"/>
              </a:spcAft>
            </a:pPr>
            <a:r>
              <a:rPr sz="1350">
                <a:solidFill>
                  <a:srgbClr val="0B0B0B"/>
                </a:solidFill>
                <a:latin typeface="Calibri"/>
              </a:rPr>
              <a:t>●   All three variants share the same SST C API calls underneath: init_SST(), get_session_key(), get_session_key_by_ID()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Two Real Bugs Found During Eval Prep</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Why the debug-receiver measurements should be trusted, not just assumed correct</a:t>
            </a:r>
          </a:p>
        </p:txBody>
      </p:sp>
      <p:graphicFrame>
        <p:nvGraphicFramePr>
          <p:cNvPr id="4" name="Table 3"/>
          <p:cNvGraphicFramePr>
            <a:graphicFrameLocks noGrp="1"/>
          </p:cNvGraphicFramePr>
          <p:nvPr/>
        </p:nvGraphicFramePr>
        <p:xfrm>
          <a:off x="685800" y="1691640"/>
          <a:ext cx="10789920" cy="2377440"/>
        </p:xfrm>
        <a:graphic>
          <a:graphicData uri="http://schemas.openxmlformats.org/drawingml/2006/table">
            <a:tbl>
              <a:tblPr firstRow="1" bandRow="1">
                <a:tableStyleId>{5C22544A-7EE6-4342-B048-85BDC9FD1C3A}</a:tableStyleId>
              </a:tblPr>
              <a:tblGrid>
                <a:gridCol w="2011680"/>
                <a:gridCol w="4572000"/>
                <a:gridCol w="4206240"/>
              </a:tblGrid>
              <a:tr h="792480">
                <a:tc>
                  <a:txBody>
                    <a:bodyPr wrap="square"/>
                    <a:lstStyle/>
                    <a:p>
                      <a:pPr algn="l"/>
                      <a:r>
                        <a:rPr sz="1350" b="1">
                          <a:solidFill>
                            <a:srgbClr val="FFFFFF"/>
                          </a:solidFill>
                          <a:latin typeface="Calibri"/>
                        </a:rPr>
                        <a:t>Bug</a:t>
                      </a:r>
                    </a:p>
                  </a:txBody>
                  <a:tcPr anchor="ctr" marL="91440" marR="91440" marT="45720" marB="45720">
                    <a:solidFill>
                      <a:srgbClr val="0B0B0B"/>
                    </a:solidFill>
                  </a:tcPr>
                </a:tc>
                <a:tc>
                  <a:txBody>
                    <a:bodyPr wrap="square"/>
                    <a:lstStyle/>
                    <a:p>
                      <a:pPr algn="ctr"/>
                      <a:r>
                        <a:rPr sz="1350" b="1">
                          <a:solidFill>
                            <a:srgbClr val="FFFFFF"/>
                          </a:solidFill>
                          <a:latin typeface="Calibri"/>
                        </a:rPr>
                        <a:t>What was wrong</a:t>
                      </a:r>
                    </a:p>
                  </a:txBody>
                  <a:tcPr anchor="ctr" marL="91440" marR="91440" marT="45720" marB="45720">
                    <a:solidFill>
                      <a:srgbClr val="0B0B0B"/>
                    </a:solidFill>
                  </a:tcPr>
                </a:tc>
                <a:tc>
                  <a:txBody>
                    <a:bodyPr wrap="square"/>
                    <a:lstStyle/>
                    <a:p>
                      <a:pPr algn="ctr"/>
                      <a:r>
                        <a:rPr sz="1350" b="1">
                          <a:solidFill>
                            <a:srgbClr val="FFFFFF"/>
                          </a:solidFill>
                          <a:latin typeface="Calibri"/>
                        </a:rPr>
                        <a:t>Impact / fix</a:t>
                      </a:r>
                    </a:p>
                  </a:txBody>
                  <a:tcPr anchor="ctr" marL="91440" marR="91440" marT="45720" marB="45720">
                    <a:solidFill>
                      <a:srgbClr val="0B0B0B"/>
                    </a:solidFill>
                  </a:tcPr>
                </a:tc>
              </a:tr>
              <a:tr h="792480">
                <a:tc>
                  <a:txBody>
                    <a:bodyPr wrap="square"/>
                    <a:lstStyle/>
                    <a:p>
                      <a:pPr algn="l"/>
                      <a:r>
                        <a:rPr sz="1250" b="0">
                          <a:solidFill>
                            <a:srgbClr val="0B0B0B"/>
                          </a:solidFill>
                          <a:latin typeface="Calibri"/>
                        </a:rPr>
                        <a:t>Framing bug</a:t>
                      </a:r>
                    </a:p>
                  </a:txBody>
                  <a:tcPr anchor="ctr" marL="91440" marR="91440" marT="45720" marB="45720">
                    <a:solidFill>
                      <a:srgbClr val="FFFFFF"/>
                    </a:solidFill>
                  </a:tcPr>
                </a:tc>
                <a:tc>
                  <a:txBody>
                    <a:bodyPr wrap="square"/>
                    <a:lstStyle/>
                    <a:p>
                      <a:pPr algn="ctr"/>
                      <a:r>
                        <a:rPr sz="1250" b="0">
                          <a:solidFill>
                            <a:srgbClr val="0B0B0B"/>
                          </a:solidFill>
                          <a:latin typeface="Calibri"/>
                        </a:rPr>
                        <a:t>Newline-terminated framing broke on any real encrypted frame — binary ciphertext routinely contains 0x0A/0x0D bytes</a:t>
                      </a:r>
                    </a:p>
                  </a:txBody>
                  <a:tcPr anchor="ctr" marL="91440" marR="91440" marT="45720" marB="45720">
                    <a:solidFill>
                      <a:srgbClr val="FFFFFF"/>
                    </a:solidFill>
                  </a:tcPr>
                </a:tc>
                <a:tc>
                  <a:txBody>
                    <a:bodyPr wrap="square"/>
                    <a:lstStyle/>
                    <a:p>
                      <a:pPr algn="ctr"/>
                      <a:r>
                        <a:rPr sz="1250" b="0">
                          <a:solidFill>
                            <a:srgbClr val="0B0B0B"/>
                          </a:solidFill>
                          <a:latin typeface="Calibri"/>
                        </a:rPr>
                        <a:t>Replaced with proper length-prefixed binary parsing matching the actual wire format</a:t>
                      </a:r>
                    </a:p>
                  </a:txBody>
                  <a:tcPr anchor="ctr" marL="91440" marR="91440" marT="45720" marB="45720">
                    <a:solidFill>
                      <a:srgbClr val="FFFFFF"/>
                    </a:solidFill>
                  </a:tcPr>
                </a:tc>
              </a:tr>
              <a:tr h="792480">
                <a:tc>
                  <a:txBody>
                    <a:bodyPr wrap="square"/>
                    <a:lstStyle/>
                    <a:p>
                      <a:pPr algn="l"/>
                      <a:r>
                        <a:rPr sz="1250" b="0">
                          <a:solidFill>
                            <a:srgbClr val="0B0B0B"/>
                          </a:solidFill>
                          <a:latin typeface="Calibri"/>
                        </a:rPr>
                        <a:t>Silent key-rotation no-op</a:t>
                      </a:r>
                    </a:p>
                  </a:txBody>
                  <a:tcPr anchor="ctr" marL="91440" marR="91440" marT="45720" marB="45720">
                    <a:solidFill>
                      <a:srgbClr val="F0EFEC"/>
                    </a:solidFill>
                  </a:tcPr>
                </a:tc>
                <a:tc>
                  <a:txBody>
                    <a:bodyPr wrap="square"/>
                    <a:lstStyle/>
                    <a:p>
                      <a:pPr algn="ctr"/>
                      <a:r>
                        <a:rPr sz="1250" b="0">
                          <a:solidFill>
                            <a:srgbClr val="0B0B0B"/>
                          </a:solidFill>
                          <a:latin typeface="Calibri"/>
                        </a:rPr>
                        <a:t>Key-push tool targeted the Pico's USB console instead of the hardware UART the firmware's key handler actually reads from</a:t>
                      </a:r>
                    </a:p>
                  </a:txBody>
                  <a:tcPr anchor="ctr" marL="91440" marR="91440" marT="45720" marB="45720">
                    <a:solidFill>
                      <a:srgbClr val="F0EFEC"/>
                    </a:solidFill>
                  </a:tcPr>
                </a:tc>
                <a:tc>
                  <a:txBody>
                    <a:bodyPr wrap="square"/>
                    <a:lstStyle/>
                    <a:p>
                      <a:pPr algn="ctr"/>
                      <a:r>
                        <a:rPr sz="1250" b="0">
                          <a:solidFill>
                            <a:srgbClr val="0B0B0B"/>
                          </a:solidFill>
                          <a:latin typeface="Calibri"/>
                        </a:rPr>
                        <a:t>Reported “success,” changed nothing — for an unknown, possibly long stretch of the project's history</a:t>
                      </a:r>
                    </a:p>
                  </a:txBody>
                  <a:tcPr anchor="ctr" marL="91440" marR="91440" marT="45720" marB="45720">
                    <a:solidFill>
                      <a:srgbClr val="F0EFEC"/>
                    </a:solidFill>
                  </a:tcPr>
                </a:tc>
              </a:tr>
            </a:tbl>
          </a:graphicData>
        </a:graphic>
      </p:graphicFrame>
      <p:sp>
        <p:nvSpPr>
          <p:cNvPr id="5" name="TextBox 4"/>
          <p:cNvSpPr txBox="1"/>
          <p:nvPr/>
        </p:nvSpPr>
        <p:spPr>
          <a:xfrm>
            <a:off x="502920" y="4343400"/>
            <a:ext cx="11155680" cy="548640"/>
          </a:xfrm>
          <a:prstGeom prst="rect">
            <a:avLst/>
          </a:prstGeom>
          <a:noFill/>
        </p:spPr>
        <p:txBody>
          <a:bodyPr wrap="square">
            <a:spAutoFit/>
          </a:bodyPr>
          <a:lstStyle/>
          <a:p>
            <a:pPr algn="ctr"/>
            <a:r>
              <a:rPr sz="1250" i="0" b="1">
                <a:solidFill>
                  <a:srgbClr val="898781"/>
                </a:solidFill>
                <a:latin typeface="Calibri"/>
              </a:rPr>
              <a:t>Both found and fixed on the debug receiver during 2026-07-25 eval prep, before any of the reported measurements were taken.</a:t>
            </a:r>
          </a:p>
        </p:txBody>
      </p:sp>
      <p:sp>
        <p:nvSpPr>
          <p:cNvPr id="6" name="TextBox 5"/>
          <p:cNvSpPr txBox="1"/>
          <p:nvPr/>
        </p:nvSpPr>
        <p:spPr>
          <a:xfrm>
            <a:off x="685800" y="4846320"/>
            <a:ext cx="10789920" cy="1554480"/>
          </a:xfrm>
          <a:prstGeom prst="rect">
            <a:avLst/>
          </a:prstGeom>
          <a:noFill/>
        </p:spPr>
        <p:txBody>
          <a:bodyPr wrap="square">
            <a:spAutoFit/>
          </a:bodyPr>
          <a:lstStyle/>
          <a:p>
            <a:pPr>
              <a:spcAft>
                <a:spcPts val="1100"/>
              </a:spcAft>
            </a:pPr>
            <a:r>
              <a:rPr sz="1400">
                <a:solidFill>
                  <a:srgbClr val="0B0B0B"/>
                </a:solidFill>
                <a:latin typeface="Calibri"/>
              </a:rPr>
              <a:t>●   dash_receiver.c (the production Pi4 path) consumes the identical wire format and session_key.json handling</a:t>
            </a:r>
          </a:p>
          <a:p>
            <a:pPr>
              <a:spcAft>
                <a:spcPts val="1100"/>
              </a:spcAft>
            </a:pPr>
            <a:r>
              <a:rPr sz="1400">
                <a:solidFill>
                  <a:srgbClr val="0B0B0B"/>
                </a:solidFill>
                <a:latin typeface="Calibri"/>
              </a:rPr>
              <a:t>●   It has not been exercised against a correctly-synced key since — a specific, named risk, not a generic caveat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