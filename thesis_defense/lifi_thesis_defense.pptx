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svg" ContentType="image/svg+xml"/>
  <Override PartName="/ppt/media/image13.svg" ContentType="image/svg+xml"/>
  <Override PartName="/ppt/media/image15.svg" ContentType="image/svg+xml"/>
  <Override PartName="/ppt/media/image5.svg" ContentType="image/svg+xml"/>
  <Override PartName="/ppt/media/image7.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03" r:id="rId1"/>
    <p:sldMasterId id="2147483815" r:id="rId2"/>
  </p:sldMasterIdLst>
  <p:notesMasterIdLst>
    <p:notesMasterId r:id="rId41"/>
  </p:notesMasterIdLst>
  <p:sldIdLst>
    <p:sldId id="256" r:id="rId3"/>
    <p:sldId id="295" r:id="rId4"/>
    <p:sldId id="297" r:id="rId5"/>
    <p:sldId id="301" r:id="rId6"/>
    <p:sldId id="310" r:id="rId7"/>
    <p:sldId id="258" r:id="rId8"/>
    <p:sldId id="259" r:id="rId9"/>
    <p:sldId id="260" r:id="rId10"/>
    <p:sldId id="347" r:id="rId11"/>
    <p:sldId id="349" r:id="rId12"/>
    <p:sldId id="263" r:id="rId13"/>
    <p:sldId id="264" r:id="rId14"/>
    <p:sldId id="265" r:id="rId15"/>
    <p:sldId id="336" r:id="rId16"/>
    <p:sldId id="266" r:id="rId17"/>
    <p:sldId id="267" r:id="rId18"/>
    <p:sldId id="268" r:id="rId19"/>
    <p:sldId id="269" r:id="rId20"/>
    <p:sldId id="270" r:id="rId21"/>
    <p:sldId id="271" r:id="rId22"/>
    <p:sldId id="272" r:id="rId23"/>
    <p:sldId id="337" r:id="rId24"/>
    <p:sldId id="338" r:id="rId25"/>
    <p:sldId id="274" r:id="rId26"/>
    <p:sldId id="273" r:id="rId27"/>
    <p:sldId id="275" r:id="rId28"/>
    <p:sldId id="276" r:id="rId29"/>
    <p:sldId id="277" r:id="rId30"/>
    <p:sldId id="335" r:id="rId31"/>
    <p:sldId id="278" r:id="rId32"/>
    <p:sldId id="279" r:id="rId33"/>
    <p:sldId id="280" r:id="rId34"/>
    <p:sldId id="281" r:id="rId35"/>
    <p:sldId id="282" r:id="rId36"/>
    <p:sldId id="283" r:id="rId37"/>
    <p:sldId id="284" r:id="rId38"/>
    <p:sldId id="285" r:id="rId39"/>
    <p:sldId id="286"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CBE44"/>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704" autoAdjust="0"/>
    <p:restoredTop sz="83715" autoAdjust="0"/>
  </p:normalViewPr>
  <p:slideViewPr>
    <p:cSldViewPr snapToGrid="0" snapToObjects="1">
      <p:cViewPr varScale="1">
        <p:scale>
          <a:sx n="92" d="100"/>
          <a:sy n="92" d="100"/>
        </p:scale>
        <p:origin x="836" y="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859754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State the title once clearly, introduce yourself, thank the committee for their time, and give a one-sentence roadmap: what the system is, and that you'll cover motivation, architecture, threat model, and then spend the middle of the talk on measured evaluation results before discussing limitations and future work.</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1EA393-18D5-EDE7-CD35-995024067B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45084F-E59A-FF53-B187-FB4D2939BD5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FE8F625-E999-FDD4-5304-8EE2DE2DF312}"/>
              </a:ext>
            </a:extLst>
          </p:cNvPr>
          <p:cNvSpPr>
            <a:spLocks noGrp="1"/>
          </p:cNvSpPr>
          <p:nvPr>
            <p:ph type="body" sz="quarter" idx="3"/>
          </p:nvPr>
        </p:nvSpPr>
        <p:spPr/>
        <p:txBody>
          <a:bodyPr/>
          <a:lstStyle/>
          <a:p>
            <a:r>
              <a:t>Open with the RF problem in one sentence: propagation is the enemy of physical-boundary security. Then pivot to LEDs — they're everywhere already, and the communicative potential is untapped. Land on the physics point: light is confined by construction. That's the one sentence you want the committee to remember from this slide.</a:t>
            </a:r>
          </a:p>
        </p:txBody>
      </p:sp>
      <p:sp>
        <p:nvSpPr>
          <p:cNvPr id="4" name="Slide Number Placeholder 3">
            <a:extLst>
              <a:ext uri="{FF2B5EF4-FFF2-40B4-BE49-F238E27FC236}">
                <a16:creationId xmlns:a16="http://schemas.microsoft.com/office/drawing/2014/main" id="{5922F708-56AD-89A9-08FB-33CC95A44669}"/>
              </a:ext>
            </a:extLst>
          </p:cNvPr>
          <p:cNvSpPr>
            <a:spLocks noGrp="1"/>
          </p:cNvSpPr>
          <p:nvPr>
            <p:ph type="sldNum" sz="quarter" idx="5"/>
          </p:nvPr>
        </p:nvSpPr>
        <p:spPr/>
      </p:sp>
    </p:spTree>
    <p:extLst>
      <p:ext uri="{BB962C8B-B14F-4D97-AF65-F5344CB8AC3E}">
        <p14:creationId xmlns:p14="http://schemas.microsoft.com/office/powerpoint/2010/main" val="41956958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0F04A-A1DF-F3EB-015D-1432691603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45A51D-9F5C-F36B-A51B-53FC63150BB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C0E5A8D-85AC-836B-BE82-FE843B4C9EC1}"/>
              </a:ext>
            </a:extLst>
          </p:cNvPr>
          <p:cNvSpPr>
            <a:spLocks noGrp="1"/>
          </p:cNvSpPr>
          <p:nvPr>
            <p:ph type="body" sz="quarter" idx="3"/>
          </p:nvPr>
        </p:nvSpPr>
        <p:spPr/>
        <p:txBody>
          <a:bodyPr/>
          <a:lstStyle/>
          <a:p>
            <a:r>
              <a:t>Open with the RF problem in one sentence: propagation is the enemy of physical-boundary security. Then pivot to LEDs — they're everywhere already, and the communicative potential is untapped. Land on the physics point: light is confined by construction. That's the one sentence you want the committee to remember from this slide.</a:t>
            </a:r>
          </a:p>
        </p:txBody>
      </p:sp>
      <p:sp>
        <p:nvSpPr>
          <p:cNvPr id="4" name="Slide Number Placeholder 3">
            <a:extLst>
              <a:ext uri="{FF2B5EF4-FFF2-40B4-BE49-F238E27FC236}">
                <a16:creationId xmlns:a16="http://schemas.microsoft.com/office/drawing/2014/main" id="{BFBDEE52-874E-31DC-2C65-3848C8F5F549}"/>
              </a:ext>
            </a:extLst>
          </p:cNvPr>
          <p:cNvSpPr>
            <a:spLocks noGrp="1"/>
          </p:cNvSpPr>
          <p:nvPr>
            <p:ph type="sldNum" sz="quarter" idx="5"/>
          </p:nvPr>
        </p:nvSpPr>
        <p:spPr/>
      </p:sp>
    </p:spTree>
    <p:extLst>
      <p:ext uri="{BB962C8B-B14F-4D97-AF65-F5344CB8AC3E}">
        <p14:creationId xmlns:p14="http://schemas.microsoft.com/office/powerpoint/2010/main" val="23005230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2399AE-44A9-7D49-F942-97AE1D6999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062C7B-B517-639E-6E7A-2025FE315E3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7D1A2B8-C87B-9192-ED39-99A15105FD20}"/>
              </a:ext>
            </a:extLst>
          </p:cNvPr>
          <p:cNvSpPr>
            <a:spLocks noGrp="1"/>
          </p:cNvSpPr>
          <p:nvPr>
            <p:ph type="body" sz="quarter" idx="3"/>
          </p:nvPr>
        </p:nvSpPr>
        <p:spPr/>
        <p:txBody>
          <a:bodyPr/>
          <a:lstStyle/>
          <a:p>
            <a:r>
              <a:t>Open with the RF problem in one sentence: propagation is the enemy of physical-boundary security. Then pivot to LEDs — they're everywhere already, and the communicative potential is untapped. Land on the physics point: light is confined by construction. That's the one sentence you want the committee to remember from this slide.</a:t>
            </a:r>
          </a:p>
        </p:txBody>
      </p:sp>
      <p:sp>
        <p:nvSpPr>
          <p:cNvPr id="4" name="Slide Number Placeholder 3">
            <a:extLst>
              <a:ext uri="{FF2B5EF4-FFF2-40B4-BE49-F238E27FC236}">
                <a16:creationId xmlns:a16="http://schemas.microsoft.com/office/drawing/2014/main" id="{8B367D80-5365-A9D8-2A47-CA5D77A8A204}"/>
              </a:ext>
            </a:extLst>
          </p:cNvPr>
          <p:cNvSpPr>
            <a:spLocks noGrp="1"/>
          </p:cNvSpPr>
          <p:nvPr>
            <p:ph type="sldNum" sz="quarter" idx="5"/>
          </p:nvPr>
        </p:nvSpPr>
        <p:spPr/>
      </p:sp>
    </p:spTree>
    <p:extLst>
      <p:ext uri="{BB962C8B-B14F-4D97-AF65-F5344CB8AC3E}">
        <p14:creationId xmlns:p14="http://schemas.microsoft.com/office/powerpoint/2010/main" val="2098819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RF problem in one sentence: propagation is the enemy of physical-boundary security. Then pivot to LEDs — they're everywhere already, and the communicative potential is untapped. Land on the physics point: light is confined by construction. That's the one sentence you want the committee to remember from this slide.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thesis statement slide. Say directly: the literature has information-theoretic secrecy, physical-layer key generation, encrypted VLC pipes, and commercial one-time-auth products — but nothing that continuously binds authorization to ongoing optical presence with automatic revocation. Then introduce G1 through G4 as the four goals the rest of the talk is structured around — you'll come back to this exact list on the security-goals table slide.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four rows quickly — the point isn't to teach the literature, it's to show you've placed this work precisely. Each row has one thing it does and one thing it stops short of. Land on the caption: nobody formalizes and evaluates continuous optical-presence authorization with automatic revocation. That's the gap.</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system architecture. Three participants: the optical beacon (Sender, RP2040) encrypting every message with AES-128-GCM and driving four LED channels in parallel; the client device (Receiver, RP2350) with a photodiode front-end checking each frame against a 64-entry nonce window before decryption; and the key provisioning service (IoTAuth), which both sides authenticate to independently over TLS with X.509 certs — the IoTAuth host is used only at provisioning time, not in the runtime data path. The orange arrow is the one that matters: the optical channel, one-way, is the whole security argument. Below the divider is the on-device monitoring path — the receiver makes its own revocation decision in firmware and reports it over USB serial — drawn separately and grayed out on purpose, because it is implementation, not part of the security model above it. Flag here that the reported occlusion-test numbers predate this on-device decision logic — you'll return to why on the methodology slide.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Sender hardware. Emphasize the crypto pipeline order — encrypt, construct nonce, frame, modulate — and that the PIO transmitter needs zero CPU cycles once armed, which is what makes the 1 Mbps figure achievable on a microcontroller with no dedicated radio hardware. If asked about nonce reuse: counter exhaustion at 2^32 messages triggers an immediate reboot to regenerate the salt.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Receiver hardware and analog front-end. Walk the signal chain left to right: photodiode current, transimpedance amplification, comparator digitization, then a custom PIO UART receiver on the RP2350. Mention the replay window is checked before decryption is attempted at all — a duplicate nonce never reaches the GCM primitive. The robot header is a real, populated connector, not a conceptual placeholder — flag that this feeds the robotic-platform future-work item later.</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exists to head off a specific committee assumption: that the authentication layer is a student-written crypto stack. It isn't. SST/IoTAuth is a published research architecture with almost a decade of venues behind it — IoTDI, FiCloud, an ACM journal on DoS recovery, a SoftwareX paper for the C API this project actually links against. Say plainly that Hokeun Kim, one of your co-authors, leads the project, and that you yourself are a listed contributor to the SST/IoTAuth repository — not just a consumer of the library. That's a credibility point worth stating out loud, not just leaving in a footnote. Land on the last bullet: this thesis's contribution is applying that existing, trusted key-distribution machinery to a domain — continuous optical presence — it wasn't originally built for.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mechanical half of the provisioning story: how a session key actually gets from the Java Auth server into the Pico's flash with confidence it arrived correctly. The four-state handshake is a real, implemented state machine — not a conceptual sketch — walk it in order without rushing the last transition, since 'verified' here is exactly what makes the difference between 'we sent a key' and 'we confirmed both sides hold the identical key.' The dual-slot rotation point is worth a sentence on its own: rotation is zero-downtime because the new key lands in the inactive slot first, and the old key is still available as an explicit rollback until someone clears it.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things happen with Auth in the loop that are easy to miss if you only think of provisioning as a one-time boot-up handshake. Phase one: a device entering a room broadcasts only its non-secret 8-byte key ID over light — never the session key itself. If the receiver doesn't already recognize that ID locally, it performs what the code literally calls a roaming lookup — get_session_key_by_ID over mutual TLS to the Auth server. Auth can return the session key for a valid, registered device, or reject the request outright for an unknown or revoked one. That rejection path is a second, distinct revocation mechanism from G4: G4 revokes because the physical light signal stopped; this revokes because Auth, administratively, said no — identity-layer revocation versus physical-layer revocation, and they're complementary, not redundant. Phase two: at any point after that, the receiver can issue a live HMAC challenge to the sender over the same optical or UART link — a fresh random challenge, HMAC-SHA256 under the session MAC key, AES-GCM-encrypted response, compared locally. That's a stronger, on-demand proof of live key possession, layered on top of the passive 'this frame decrypted successfully' freshness check the whole G1/G4 evaluation is built on. If asked why both mechanisms exist: the passive heartbeat check is what's continuously measured in the evaluation section; the active challenge is available whenever a stronger, interactive proof is warranted, without adding new hardware or a new channel.</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thesis statement slide. Say directly: the literature has information-theoretic secrecy, physical-layer key generation, encrypted VLC pipes, and commercial one-time-auth products — but nothing that continuously binds authorization to ongoing optical presence with automatic revocation. Then introduce G1 through G4 as the four goals the rest of the talk is structured around — you'll come back to this exact list on the security-goals table slide.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Five capabilities, five sentences. The one to slow down on is relay, since it sets up the G3 discussion later — plant the term delta-relay here so it isn't new vocabulary when it resurfaces. On denial of service, be explicit that this is a conscious design tradeoff: availability is sacrificed for safety, and that's stated as a non-goal in the paper, not discovered as a side effect.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 this table early and deliberately so the committee has the full scorecard before any evidence. Read the four goals aloud, including the G3 status column exactly as written — do not soften 'not achieved.' Tell them directly: you will spend the evaluation section proving the three green rows with measured data, and you will spend the discussion section explaining precisely why the red row is red, on purpose, as a named limitation rather than a discovered gap.</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State the measurement-provenance caveat proactively and plainly, in the same tone as every other sentence on this slide — don't let your delivery shift when you get to it. The frame-level parsing and crypto were always on-device; only the revocation decision (the Δ timer) was external at measurement time, mirroring the same logic that's now been moved on-device. The on-device confirmation has since been run: 25 trials, every single one landing at exactly 15.001 seconds, because the check runs every main-loop iteration with no polling cadence left to alias against. If pressed on why the two earlier batches still matter: they're what caught and explained the polling-artifact bimodality in the first place — the on-device run is confirmation, not a replacement for that story.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strip plots: time-to-revoke on the left, time-to-reverify on the right, two trial batches each — blue is the as-deployed condition, 5-second external-monitor polling, 21 trials; orange is fine-grained 0.2-second polling, 20 trials, run to separate the mechanism's real latency from polling artifacts. The blue row is bimodal, clustering near 15.7 and 18.2 seconds — that's aliasing against the 5-second poll interval, not the protocol misbehaving. The orange row proves it: once polling is fine-grained, time-to-revoke collapses to a tight cluster at 15.11 seconds, standard deviation six hundredths of a second. A third batch, not shown in this chart, confirms it further: reading the receiver's own on-device [PRESENCE] transitions directly (no external polling at all), all 25 trials landed at exactly 15.001 seconds, standard deviation zero — every trial hit the same value because the check runs every main-loop iteration, so revocation fires the instant the timer crosses Δ. That's the G4 evidence: revocation on interruption, enforced exactly. On the right, re-verification after unblocking is consistently under 1.5 seconds across all three batches, bounded above by the 2.5-second heartbeat interval as expected.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experiment asks whether Delta equals 15 seconds is actually justified, or just a number someone picked. 959 gaps between valid frames over a 40-minute benign session, checked against six candidate Delta values from 3 to 30 seconds. The honest result: every gap clustered within about 20 milliseconds of the 2.5-second heartbeat — that spike on the left — so every candidate Delta, including the most aggressive at 3 seconds, comes back at zero percent false-revoke. Say directly why this isn't as strong as it looks: one traffic pattern, a mechanically regular heartbeat, doesn't contain the irregular gaps a real degraded environment would produce, so there's no crossover to find in this data. What it does establish is a floor — Delta=15s costs nothing measured against this traffic. Full parametric justification under degraded conditions is future work, stated as such in the paper rather than let the clean number imply more than it shows.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results in one timeline, from one representative trial. At t plus zero, a legitimate heartbeat frame arrives and gets captured and pinned. At t plus 0.21 seconds, replaying that exact frame is rejected — the green marker — because its nonce is already in the replay window. That's G2 working as designed. Then the nonce window is deliberately shrunk from its production size of 64 down to 2 slots, to make a boundary condition observable in a short test instead of needing thousands of frames. Two more legitimate frames cycle through, evicting the original nonce, and at t plus 5 seconds the same frame is replayed a third time — the amber X — and this time it's accepted and decrypted. That's not a bug found by accident, it's a documented, real boundary: replay protection is bounded by window capacity, not permanent. This isn't a one-off: the automated harness (thesis_eval/replay_test.py) ran this exact procedure 25 times, and both outcomes reproduced 25/25 — the diagram shown is one representative trial, not the only one run. In production at 64 slots, an attacker needs 64 fresh legitimate frames to cycle through before a captured frame becomes replayable again, which bounds how long it stays a live threat — but the limitation is real, and it's on the same slide as the positive result, not buried in a footnote. If asked why a 2-slot window: say plainly it's artificially small only to make the boundary observable quickly — the mechanism and the limitation are identical at any window size, just slower to trigger at 64.</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baud-rate sweep behind the bandwidth-range tradeoff in the paper. Blue is 470 kilohms — higher gain, lower bandwidth, 2-volt output swing. Orange is 100 kilohms — lower gain, higher bandwidth, 400-millivolt swing. Both hold 100% frame success up to their ceiling — 300 kilobaud for 470k, 250 kilobaud for 100k — then the orange line shows measurable degradation, 96% and 86%, before both configurations hit a hard collapse where control messages themselves get corrupted. The counterintuitive result: at this close range, the higher-gain 470k configuration outperforms the higher-bandwidth 100k configuration. SNR margin from the larger voltage swing is the limiting factor at short range, not the TIA's raw bandwidth. The classic bandwidth-range tradeoff should favor the higher-bandwidth config once you're far enough that photocurrent drops and the 400-millivolt swing stops clearing the comparator's noise floor — that crossover distance hasn't been measured yet, which is why it's future work rather than a claim in this thesis.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thesis statement slide. Say directly: the literature has information-theoretic secrecy, physical-layer key generation, encrypted VLC pipes, and commercial one-time-auth products — but nothing that continuously binds authorization to ongoing optical presence with automatic revocation. Then introduce G1 through G4 as the four goals the rest of the talk is structured around — you'll come back to this exact list on the security-goals table slide.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thesis statement slide. Say directly: the literature has information-theoretic secrecy, physical-layer key generation, encrypted VLC pipes, and commercial one-time-auth products — but nothing that continuously binds authorization to ongoing optical presence with automatic revocation. Then introduce G1 through G4 as the four goals the rest of the talk is structured around — you'll come back to this exact list on the security-goals table slide.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slide to deliver in exactly the same tone as every positive result before it — that consistency is what reads as rigor instead of a hedge. The core distinction, if asked to restate it: G1's window bounds a captured, no-longer-live frame; it does not bound relay latency, because a continuously operating relay keeps t_last refreshed indefinitely with genuinely fresh, just-late frames. That confusion — mistaking G1's expiration window for a relay bound — is the single most likely follow-up question; have this paragraph ready verbatim.</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closes the loop back to slide 10's scorecard, now with evidence in the last column instead of just mechanism. Read it goal by goal, evidence-first: this is the moment to sound confident, because everything in the 'evidence' column is a number you already showed them on the previous four slides — you're not introducing anything new here, just tying it together.</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 limitations, read at the same pace and volume as everything else in the talk — don't rush through this slide to get past it. The last bullet used to be a pending item — confirming the revocation-latency numbers against the on-device presence decision — and it's since been run: 25 trials, all landing at exactly 15.001 seconds. Worth calling out explicitly if asked: this is evidence the earlier externally-measured numbers weren't an artifact of the measurement harness itself.</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columns, and the grouping itself is the point: the left column closes gaps you already admitted to earlier in the talk — G3's distance-bounding, formal verification — while the right column extends capability the system already has. (The on-device revocation-latency confirmation that used to be in this column is done — it moved to the Limitations slide as a closed item.) Say the grouping out loud rather than just reading bullets: it signals you know what matters most next, rather than reciting a flat wish list.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Closing content slide before thank-you. Keep this tight and confident — every bullet here is something you already showed evidence for earlier in the talk, so this should feel like a summary, not a new argument. The last two bullets are there on purpose: naming exactly what wasn't done, right next to what was, is itself part of the contribution.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1DDC8F-3F9B-FAF2-D627-9F1A7DF59F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8ED9F6-4412-0D6D-B382-95221179D5F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CD87C97-12D5-9BA8-C5A7-F5DA643CB913}"/>
              </a:ext>
            </a:extLst>
          </p:cNvPr>
          <p:cNvSpPr>
            <a:spLocks noGrp="1"/>
          </p:cNvSpPr>
          <p:nvPr>
            <p:ph type="body" sz="quarter" idx="3"/>
          </p:nvPr>
        </p:nvSpPr>
        <p:spPr/>
        <p:txBody>
          <a:bodyPr/>
          <a:lstStyle/>
          <a:p>
            <a:r>
              <a:t>Closing content slide before thank-you. Keep this tight and confident — every bullet here is something you already showed evidence for earlier in the talk, so this should feel like a summary, not a new argument. The last two bullets are there on purpose: naming exactly what wasn't done, right next to what was, is itself part of the contribution.</a:t>
            </a:r>
          </a:p>
        </p:txBody>
      </p:sp>
      <p:sp>
        <p:nvSpPr>
          <p:cNvPr id="4" name="Slide Number Placeholder 3">
            <a:extLst>
              <a:ext uri="{FF2B5EF4-FFF2-40B4-BE49-F238E27FC236}">
                <a16:creationId xmlns:a16="http://schemas.microsoft.com/office/drawing/2014/main" id="{023BFCE3-00FC-F104-073A-FE7407711B20}"/>
              </a:ext>
            </a:extLst>
          </p:cNvPr>
          <p:cNvSpPr>
            <a:spLocks noGrp="1"/>
          </p:cNvSpPr>
          <p:nvPr>
            <p:ph type="sldNum" sz="quarter" idx="5"/>
          </p:nvPr>
        </p:nvSpPr>
        <p:spPr/>
      </p:sp>
    </p:spTree>
    <p:extLst>
      <p:ext uri="{BB962C8B-B14F-4D97-AF65-F5344CB8AC3E}">
        <p14:creationId xmlns:p14="http://schemas.microsoft.com/office/powerpoint/2010/main" val="261333641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the committee again. Before opening the floor, briefly restate the scorecard from memory in one breath: freshness, replay resistance, and revocation on interruption were measured and hold; relay-bounding does not, and that's named on purpose. Then stop talking and take questions — the backup slides after this cover BOM/cost, the frame format, the TIA tuning table, and a one-slide answer to the G1-vs-G3 question specifically, pull them up if asked.</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Pull up only if asked about cost or component selection. The single largest line item is the PTN78000WAH DC-DC module at $24.58, chosen for research-prototype convenience — a production design substituting a discrete buck regulator would bring total cost under $60.</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Reference for the wire format question. The key point if asked: replay checking happens before the GCM primitive is ever invoked — a duplicate nonce is rejected without spending the decryption cost, let alone releasing plaintext.</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Only pull this up if asked directly why there's no Tamarin/ProVerif model. The core answer: this was a deliberate scoping decision, not an oversight — a rushed or incomplete formal model would be worse evidence than an honest 'empirically demonstrated, not formally proven' claim, which is exactly the language used throughout the paper.</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Reference table if pressed on the bandwidth-range tradeoff numbers or asked what's next for higher data rates. Be clear that only the first two rows have measured data — the 100k/1pF and 47k/1pF rows are calculated bandwidths, not measured baud ceilings.</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Memorize this slide's content, don't read it verbatim in the room — but have it exact in your head. The tightest one-sentence version if you need to compress under time pressure: freshness answers 'is this new,' relay-bounding answers 'how long did this take to get here,' and this system only answers the first question.</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Only needed if asked to justify why three separate receiver binaries exist rather than one. The honest answer: they correspond to three different Auth interaction models that were useful to isolate during development and evaluation — a proactive key-manager, a full combined session app, and a pure discovery/roaming client — not three independent implementations of the security logic, which is shared underneath via the same SST C API and the same replay/freshness code paths.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Pull this up only if a committee member asks 'what is SST, really' in more depth than the main slide covers. The point of reading a few venue names aloud is not to name-drop — it's to establish that this is externally reviewed, multi-year infrastructure, not something assembled for this thesis. The last bullet is worth reading slowly: you are named, by GitHub handle, as an active contributor to the repository this project depends 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DF946-2876-0B81-5D1E-39C8C68D02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E6D6C0B-68E2-7E95-AC29-21B8C6FD9F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BBAB935-4DC8-44B7-5E53-B43B56315187}"/>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729487F5-1728-A13B-16C4-1280698967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AB5030-67D1-1816-6474-4FA7FA270698}"/>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110836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B4AD9-0521-32C4-0221-580CC792E57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DBACAEE-0F42-B779-D2D5-78E877793A7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B19106-7D50-3E58-1242-B7BD83998B0D}"/>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E940B8EF-A32C-24CE-B89F-6882058692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3AD6E9-8A09-517A-265D-E5AECC86B1AE}"/>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469473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8D7247-0391-9D62-CA2C-47ECEEC5A26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0074E68-1281-771C-C06B-578F21CC8BC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338DCF3-7073-0FE0-F14C-C4A73AD935C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C8538AFE-7247-6A7C-A7B6-A9017357E5B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B96829-1C82-5C31-6F2E-308A0EADF9A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987221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B39A9-056D-38CB-A68C-C6DE26904F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8741EC7-C4A3-F7F0-E98B-6C165D35F1F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01E3EF0-6674-44C2-CB9D-F338968977A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90A5599-EB57-7645-E668-89C9A27489D9}"/>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6C2D0777-D33E-0DD2-5682-B85090118A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4049DE-7B7D-323F-A2DB-93A6440C417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613875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5DFCC-DA61-E39E-7597-14EA627DC26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1BB5620-36F1-F711-4BDF-5D31683B441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075391F-9FD7-8A66-9AEA-B27FEAD13B9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D1CC5DE-5A7A-BD5A-45BE-4E21A38C26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C010D1E-9473-A59A-D379-5CE6709EA65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352D4BE-B37F-0AFD-B494-52C8B04A06AA}"/>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a:extLst>
              <a:ext uri="{FF2B5EF4-FFF2-40B4-BE49-F238E27FC236}">
                <a16:creationId xmlns:a16="http://schemas.microsoft.com/office/drawing/2014/main" id="{C557FDD2-4D72-E182-5BE0-632F7712ACF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B9F260C-B51B-191C-1B13-90091AF9864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54568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C5CE53-B3FE-BD96-F160-E50400C8F8D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3A4F67D-9122-A9E6-FF68-BF4CD27B256D}"/>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a:extLst>
              <a:ext uri="{FF2B5EF4-FFF2-40B4-BE49-F238E27FC236}">
                <a16:creationId xmlns:a16="http://schemas.microsoft.com/office/drawing/2014/main" id="{CC12B25E-C3B1-7A04-C3E5-B0B7F3CDDC8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8E5CDE9-7B96-198E-99DB-BBEDBAE4EFC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754886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3FCE66-D23F-0F03-75E3-223BF562624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a:extLst>
              <a:ext uri="{FF2B5EF4-FFF2-40B4-BE49-F238E27FC236}">
                <a16:creationId xmlns:a16="http://schemas.microsoft.com/office/drawing/2014/main" id="{17D73575-DF56-7E00-7D59-841AC4C32CA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332645F-A98D-D0B8-BEAE-B79CFEFDE1EC}"/>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601430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43746C-944E-4E11-4A3C-9D1747922AA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368C99C-5C78-2CE6-1BFC-46F14CF7BF6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E49593C-37DF-B6C0-157F-999B21A17B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432A37F-9BF6-2420-C951-87730CC9E5BA}"/>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B970B584-CC2E-DFF8-E68C-C027712922D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3F0045B-EEF9-DD51-5655-649FD4C113C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9543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91546-10E2-996B-D8EC-535B147D98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520EC26-2023-01BA-C11A-A81F9B9D901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DCE60D7-D890-978D-14A7-40B1CCDEA2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37208CB-0B3A-4455-FF75-74875D4ECFA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63496656-F1C9-B959-6381-BDEE2E13364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8080AE9-6310-ACC2-2495-AEE56F3F093F}"/>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568882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01D7CD-03A4-181D-CCC4-849F215276C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E825F56-7446-5567-2D4E-00C383642D4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6D26AF1-F4A1-DC35-7C38-9F7032D60378}"/>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6686414E-CE30-BAE8-6E82-E30CCEB885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510D123-BCD8-A13A-1A04-4EDAFD0ECE4B}"/>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118114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124F964-58EB-44C5-F03F-E56684D37AA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E4704E5-7D6D-B8C7-47F5-DA168419879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F3D32A0-5205-80B4-97AE-96C509BC1CDB}"/>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CEE13216-E08B-C067-22E6-2078DF4443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E3AC84-B950-B585-971D-67911EE9095A}"/>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842506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DF946-2876-0B81-5D1E-39C8C68D02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E6D6C0B-68E2-7E95-AC29-21B8C6FD9F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BBAB935-4DC8-44B7-5E53-B43B56315187}"/>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729487F5-1728-A13B-16C4-1280698967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AB5030-67D1-1816-6474-4FA7FA270698}"/>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110836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B4AD9-0521-32C4-0221-580CC792E57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DBACAEE-0F42-B779-D2D5-78E877793A7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B19106-7D50-3E58-1242-B7BD83998B0D}"/>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E940B8EF-A32C-24CE-B89F-6882058692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3AD6E9-8A09-517A-265D-E5AECC86B1AE}"/>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4694732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8D7247-0391-9D62-CA2C-47ECEEC5A26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0074E68-1281-771C-C06B-578F21CC8BC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338DCF3-7073-0FE0-F14C-C4A73AD935C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C8538AFE-7247-6A7C-A7B6-A9017357E5B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B96829-1C82-5C31-6F2E-308A0EADF9A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9872215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B39A9-056D-38CB-A68C-C6DE26904F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8741EC7-C4A3-F7F0-E98B-6C165D35F1F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01E3EF0-6674-44C2-CB9D-F338968977A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90A5599-EB57-7645-E668-89C9A27489D9}"/>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6C2D0777-D33E-0DD2-5682-B85090118A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4049DE-7B7D-323F-A2DB-93A6440C417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6138756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5DFCC-DA61-E39E-7597-14EA627DC26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1BB5620-36F1-F711-4BDF-5D31683B441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075391F-9FD7-8A66-9AEA-B27FEAD13B9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D1CC5DE-5A7A-BD5A-45BE-4E21A38C26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C010D1E-9473-A59A-D379-5CE6709EA65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352D4BE-B37F-0AFD-B494-52C8B04A06AA}"/>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a:extLst>
              <a:ext uri="{FF2B5EF4-FFF2-40B4-BE49-F238E27FC236}">
                <a16:creationId xmlns:a16="http://schemas.microsoft.com/office/drawing/2014/main" id="{C557FDD2-4D72-E182-5BE0-632F7712ACF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B9F260C-B51B-191C-1B13-90091AF9864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545681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C5CE53-B3FE-BD96-F160-E50400C8F8D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3A4F67D-9122-A9E6-FF68-BF4CD27B256D}"/>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a:extLst>
              <a:ext uri="{FF2B5EF4-FFF2-40B4-BE49-F238E27FC236}">
                <a16:creationId xmlns:a16="http://schemas.microsoft.com/office/drawing/2014/main" id="{CC12B25E-C3B1-7A04-C3E5-B0B7F3CDDC8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8E5CDE9-7B96-198E-99DB-BBEDBAE4EFC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7548860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3FCE66-D23F-0F03-75E3-223BF562624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a:extLst>
              <a:ext uri="{FF2B5EF4-FFF2-40B4-BE49-F238E27FC236}">
                <a16:creationId xmlns:a16="http://schemas.microsoft.com/office/drawing/2014/main" id="{17D73575-DF56-7E00-7D59-841AC4C32CA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332645F-A98D-D0B8-BEAE-B79CFEFDE1EC}"/>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6014301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43746C-944E-4E11-4A3C-9D1747922AA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368C99C-5C78-2CE6-1BFC-46F14CF7BF6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E49593C-37DF-B6C0-157F-999B21A17B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432A37F-9BF6-2420-C951-87730CC9E5BA}"/>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B970B584-CC2E-DFF8-E68C-C027712922D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3F0045B-EEF9-DD51-5655-649FD4C113C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95430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91546-10E2-996B-D8EC-535B147D98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520EC26-2023-01BA-C11A-A81F9B9D901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DCE60D7-D890-978D-14A7-40B1CCDEA2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37208CB-0B3A-4455-FF75-74875D4ECFA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63496656-F1C9-B959-6381-BDEE2E13364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8080AE9-6310-ACC2-2495-AEE56F3F093F}"/>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5688824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01D7CD-03A4-181D-CCC4-849F215276C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E825F56-7446-5567-2D4E-00C383642D4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6D26AF1-F4A1-DC35-7C38-9F7032D60378}"/>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6686414E-CE30-BAE8-6E82-E30CCEB885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510D123-BCD8-A13A-1A04-4EDAFD0ECE4B}"/>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1181147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124F964-58EB-44C5-F03F-E56684D37AA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E4704E5-7D6D-B8C7-47F5-DA168419879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F3D32A0-5205-80B4-97AE-96C509BC1CDB}"/>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CEE13216-E08B-C067-22E6-2078DF4443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E3AC84-B950-B585-971D-67911EE9095A}"/>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8425067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67560C-7808-1D79-2A20-30F8D42E5A7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ABE85FB-A1EC-F43A-72AE-178BD5FE5E7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236746-1797-9A50-C967-A2A4AF8444F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BB68B1C6-E130-3810-53F0-A2EA45D2DE1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8570BE7-043E-67CB-CFA6-F23A2A1AE6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264737079"/>
      </p:ext>
    </p:extLst>
  </p:cSld>
  <p:clrMap bg1="lt1" tx1="dk1" bg2="lt2" tx2="dk2" accent1="accent1" accent2="accent2" accent3="accent3" accent4="accent4" accent5="accent5" accent6="accent6" hlink="hlink" folHlink="folHlink"/>
  <p:sldLayoutIdLst>
    <p:sldLayoutId id="2147483804" r:id="rId1"/>
    <p:sldLayoutId id="2147483805" r:id="rId2"/>
    <p:sldLayoutId id="2147483806" r:id="rId3"/>
    <p:sldLayoutId id="2147483807" r:id="rId4"/>
    <p:sldLayoutId id="2147483808" r:id="rId5"/>
    <p:sldLayoutId id="2147483809" r:id="rId6"/>
    <p:sldLayoutId id="2147483810" r:id="rId7"/>
    <p:sldLayoutId id="2147483811" r:id="rId8"/>
    <p:sldLayoutId id="2147483812" r:id="rId9"/>
    <p:sldLayoutId id="2147483813" r:id="rId10"/>
    <p:sldLayoutId id="2147483814"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67560C-7808-1D79-2A20-30F8D42E5A7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ABE85FB-A1EC-F43A-72AE-178BD5FE5E7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236746-1797-9A50-C967-A2A4AF8444F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BB68B1C6-E130-3810-53F0-A2EA45D2DE1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8570BE7-043E-67CB-CFA6-F23A2A1AE6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264737079"/>
      </p:ext>
    </p:extLst>
  </p:cSld>
  <p:clrMap bg1="lt1" tx1="dk1" bg2="lt2" tx2="dk2" accent1="accent1" accent2="accent2" accent3="accent3" accent4="accent4" accent5="accent5" accent6="accent6" hlink="hlink" folHlink="folHlink"/>
  <p:sldLayoutIdLst>
    <p:sldLayoutId id="2147483816" r:id="rId1"/>
    <p:sldLayoutId id="2147483817" r:id="rId2"/>
    <p:sldLayoutId id="2147483818" r:id="rId3"/>
    <p:sldLayoutId id="2147483819" r:id="rId4"/>
    <p:sldLayoutId id="2147483820" r:id="rId5"/>
    <p:sldLayoutId id="2147483821" r:id="rId6"/>
    <p:sldLayoutId id="2147483822" r:id="rId7"/>
    <p:sldLayoutId id="2147483823" r:id="rId8"/>
    <p:sldLayoutId id="2147483824" r:id="rId9"/>
    <p:sldLayoutId id="2147483825" r:id="rId10"/>
    <p:sldLayoutId id="2147483826"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5.svg"/><Relationship Id="rId6" Type="http://schemas.openxmlformats.org/officeDocument/2006/relationships/image" Target="../media/image6.png"/><Relationship Id="rId7" Type="http://schemas.openxmlformats.org/officeDocument/2006/relationships/image" Target="../media/image7.svg"/><Relationship Id="rId8" Type="http://schemas.openxmlformats.org/officeDocument/2006/relationships/image" Target="../media/image8.png"/><Relationship Id="rId9" Type="http://schemas.openxmlformats.org/officeDocument/2006/relationships/image" Target="../media/image9.svg"/><Relationship Id="rId10" Type="http://schemas.openxmlformats.org/officeDocument/2006/relationships/image" Target="../media/image10.png"/><Relationship Id="rId11" Type="http://schemas.openxmlformats.org/officeDocument/2006/relationships/image" Target="../media/image11.svg"/><Relationship Id="rId12" Type="http://schemas.openxmlformats.org/officeDocument/2006/relationships/image" Target="../media/image12.png"/><Relationship Id="rId13" Type="http://schemas.openxmlformats.org/officeDocument/2006/relationships/image" Target="../media/image13.svg"/><Relationship Id="rId14" Type="http://schemas.openxmlformats.org/officeDocument/2006/relationships/image" Target="../media/image14.png"/><Relationship Id="rId15" Type="http://schemas.openxmlformats.org/officeDocument/2006/relationships/image" Target="../media/image15.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8.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1.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2.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3.png"/><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Box 2"/>
          <p:cNvSpPr txBox="1"/>
          <p:nvPr/>
        </p:nvSpPr>
        <p:spPr>
          <a:xfrm>
            <a:off x="822960" y="1965959"/>
            <a:ext cx="41010840" cy="1477328"/>
          </a:xfrm>
          <a:prstGeom prst="rect">
            <a:avLst/>
          </a:prstGeom>
          <a:noFill/>
        </p:spPr>
        <p:txBody>
          <a:bodyPr wrap="square">
            <a:spAutoFit/>
          </a:bodyPr>
          <a:lstStyle/>
          <a:p>
            <a:r>
              <a:rPr sz="3000" b="1">
                <a:solidFill>
                  <a:srgbClr val="0B0B0B"/>
                </a:solidFill>
                <a:latin typeface="Calibri"/>
              </a:rPr>
              <a:t>Physical Presence-Based Authentication and
Authorization for Cyber-Physical Systems and
IoT using LiFi</a:t>
            </a:r>
          </a:p>
        </p:txBody>
      </p:sp>
      <p:sp>
        <p:nvSpPr>
          <p:cNvPr id="4" name="TextBox 3"/>
          <p:cNvSpPr txBox="1"/>
          <p:nvPr/>
        </p:nvSpPr>
        <p:spPr>
          <a:xfrm>
            <a:off x="822960" y="4160520"/>
            <a:ext cx="10515600" cy="457200"/>
          </a:xfrm>
          <a:prstGeom prst="rect">
            <a:avLst/>
          </a:prstGeom>
          <a:noFill/>
        </p:spPr>
        <p:txBody>
          <a:bodyPr wrap="none">
            <a:spAutoFit/>
          </a:bodyPr>
          <a:lstStyle/>
          <a:p>
            <a:r>
              <a:rPr sz="1700" i="1">
                <a:solidFill>
                  <a:srgbClr val="EB6834"/>
                </a:solidFill>
                <a:latin typeface="Calibri"/>
              </a:rPr>
              <a:t>M.S. Thesis Defense</a:t>
            </a:r>
          </a:p>
        </p:txBody>
      </p:sp>
      <p:sp>
        <p:nvSpPr>
          <p:cNvPr id="5" name="TextBox 4"/>
          <p:cNvSpPr txBox="1"/>
          <p:nvPr/>
        </p:nvSpPr>
        <p:spPr>
          <a:xfrm>
            <a:off x="822960" y="4892040"/>
            <a:ext cx="10515600" cy="1280160"/>
          </a:xfrm>
          <a:prstGeom prst="rect">
            <a:avLst/>
          </a:prstGeom>
          <a:noFill/>
        </p:spPr>
        <p:txBody>
          <a:bodyPr wrap="square">
            <a:spAutoFit/>
          </a:bodyPr>
          <a:lstStyle/>
          <a:p>
            <a:r>
              <a:rPr sz="1500" b="1">
                <a:solidFill>
                  <a:srgbClr val="0B0B0B"/>
                </a:solidFill>
                <a:latin typeface="Calibri"/>
              </a:rPr>
              <a:t>Jose Felix</a:t>
            </a:r>
          </a:p>
          <a:p>
            <a:r>
              <a:rPr sz="1250">
                <a:solidFill>
                  <a:srgbClr val="52514E"/>
                </a:solidFill>
                <a:latin typeface="Calibri"/>
              </a:rPr>
              <a:t>with Dongha Kim, Hokeun Kim, Michel Kinsy, Gail-Joon Ahn — KIM Labs, Arizona State University</a:t>
            </a:r>
          </a:p>
          <a:p>
            <a:pPr>
              <a:spcBef>
                <a:spcPts val="1000"/>
              </a:spcBef>
            </a:pPr>
            <a:r>
              <a:rPr sz="1150">
                <a:solidFill>
                  <a:srgbClr val="898781"/>
                </a:solidFill>
                <a:latin typeface="Calibri"/>
              </a:rPr>
              <a:t>github.com/asu-kim/lifi-auth</a:t>
            </a:r>
          </a:p>
        </p:txBody>
      </p:sp>
      <p:pic>
        <p:nvPicPr>
          <p:cNvPr id="7" name="Picture 6" descr="A white background with text&#10;&#10;AI-generated content may be incorrect.">
            <a:extLst>
              <a:ext uri="{FF2B5EF4-FFF2-40B4-BE49-F238E27FC236}">
                <a16:creationId xmlns:a16="http://schemas.microsoft.com/office/drawing/2014/main" id="{2DFD8899-2D82-E291-5E54-99E985244C48}"/>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EFA42346-6719-6C5D-7757-8C68151DFFD8}"/>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a:extLst>
            <a:ext uri="{FF2B5EF4-FFF2-40B4-BE49-F238E27FC236}">
              <a16:creationId xmlns:a16="http://schemas.microsoft.com/office/drawing/2014/main" id="{10D0B216-0C5E-0478-D42C-13260F089F7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6E05FE2-52ED-43F1-99C7-F5E03453C43E}"/>
              </a:ext>
            </a:extLst>
          </p:cNvPr>
          <p:cNvSpPr txBox="1"/>
          <p:nvPr/>
        </p:nvSpPr>
        <p:spPr>
          <a:xfrm>
            <a:off x="518160" y="873400"/>
            <a:ext cx="11155680" cy="538609"/>
          </a:xfrm>
          <a:prstGeom prst="rect">
            <a:avLst/>
          </a:prstGeom>
          <a:noFill/>
        </p:spPr>
        <p:txBody>
          <a:bodyPr wrap="square">
            <a:spAutoFit/>
          </a:bodyPr>
          <a:lstStyle/>
          <a:p>
            <a:r>
              <a:rPr lang="en-US" sz="2900" b="1" dirty="0">
                <a:solidFill>
                  <a:srgbClr val="0B0B0B"/>
                </a:solidFill>
                <a:latin typeface="Calibri"/>
              </a:rPr>
              <a:t>Outline</a:t>
            </a:r>
            <a:endParaRPr sz="2900" b="1" dirty="0">
              <a:solidFill>
                <a:srgbClr val="0B0B0B"/>
              </a:solidFill>
              <a:latin typeface="Calibri"/>
            </a:endParaRPr>
          </a:p>
        </p:txBody>
      </p:sp>
      <p:pic>
        <p:nvPicPr>
          <p:cNvPr id="5" name="Picture 4" descr="A white background with text&#10;&#10;AI-generated content may be incorrect.">
            <a:extLst>
              <a:ext uri="{FF2B5EF4-FFF2-40B4-BE49-F238E27FC236}">
                <a16:creationId xmlns:a16="http://schemas.microsoft.com/office/drawing/2014/main" id="{42A61C13-D085-DFC5-9AEA-C90D5199DE51}"/>
              </a:ext>
            </a:extLst>
          </p:cNvPr>
          <p:cNvPicPr>
            <a:picLocks noChangeAspect="1"/>
          </p:cNvPicPr>
          <p:nvPr/>
        </p:nvPicPr>
        <p:blipFill>
          <a:blip r:embed="rId3"/>
          <a:stretch>
            <a:fillRect/>
          </a:stretch>
        </p:blipFill>
        <p:spPr>
          <a:xfrm>
            <a:off x="9545121" y="-4718"/>
            <a:ext cx="2646879" cy="1477328"/>
          </a:xfrm>
          <a:prstGeom prst="rect">
            <a:avLst/>
          </a:prstGeom>
        </p:spPr>
      </p:pic>
      <p:sp>
        <p:nvSpPr>
          <p:cNvPr id="7" name="Rectangle 6">
            <a:extLst>
              <a:ext uri="{FF2B5EF4-FFF2-40B4-BE49-F238E27FC236}">
                <a16:creationId xmlns:a16="http://schemas.microsoft.com/office/drawing/2014/main" id="{06761257-14A6-2378-ED68-4FF7DBB9C845}"/>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90" name="Rule"/>
          <p:cNvSpPr/>
          <p:nvPr/>
        </p:nvSpPr>
        <p:spPr>
          <a:xfrm>
            <a:off x="762000" y="1524000"/>
            <a:ext cx="1397000" cy="50800"/>
          </a:xfrm>
          <a:prstGeom prst="rect">
            <a:avLst/>
          </a:prstGeom>
          <a:solidFill>
            <a:srgbClr val="8C1D40"/>
          </a:solidFill>
          <a:ln>
            <a:noFill/>
          </a:ln>
        </p:spPr>
        <p:txBody>
          <a:bodyPr/>
          <a:lstStyle/>
          <a:p>
            <a:endParaRPr lang="en-US"/>
          </a:p>
        </p:txBody>
      </p:sp>
      <p:sp>
        <p:nvSpPr>
          <p:cNvPr id="100" name="Card 100"/>
          <p:cNvSpPr/>
          <p:nvPr/>
        </p:nvSpPr>
        <p:spPr>
          <a:xfrm>
            <a:off x="762000" y="19050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LiFi Channel Background</a:t>
            </a:r>
          </a:p>
        </p:txBody>
      </p:sp>
      <p:sp>
        <p:nvSpPr>
          <p:cNvPr id="101" name="Badge 101"/>
          <p:cNvSpPr/>
          <p:nvPr/>
        </p:nvSpPr>
        <p:spPr>
          <a:xfrm>
            <a:off x="990600" y="21590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1</a:t>
            </a:r>
          </a:p>
        </p:txBody>
      </p:sp>
      <p:sp>
        <p:nvSpPr>
          <p:cNvPr id="102" name="Card 102"/>
          <p:cNvSpPr/>
          <p:nvPr/>
        </p:nvSpPr>
        <p:spPr>
          <a:xfrm>
            <a:off x="3492500" y="19050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Motivation</a:t>
            </a:r>
          </a:p>
        </p:txBody>
      </p:sp>
      <p:sp>
        <p:nvSpPr>
          <p:cNvPr id="103" name="Badge 103"/>
          <p:cNvSpPr/>
          <p:nvPr/>
        </p:nvSpPr>
        <p:spPr>
          <a:xfrm>
            <a:off x="3721100" y="21590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2</a:t>
            </a:r>
          </a:p>
        </p:txBody>
      </p:sp>
      <p:sp>
        <p:nvSpPr>
          <p:cNvPr id="104" name="Card 104"/>
          <p:cNvSpPr/>
          <p:nvPr/>
        </p:nvSpPr>
        <p:spPr>
          <a:xfrm>
            <a:off x="6223000" y="19050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Problem Statement / Gap</a:t>
            </a:r>
          </a:p>
        </p:txBody>
      </p:sp>
      <p:sp>
        <p:nvSpPr>
          <p:cNvPr id="105" name="Badge 105"/>
          <p:cNvSpPr/>
          <p:nvPr/>
        </p:nvSpPr>
        <p:spPr>
          <a:xfrm>
            <a:off x="6451600" y="21590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3</a:t>
            </a:r>
          </a:p>
        </p:txBody>
      </p:sp>
      <p:sp>
        <p:nvSpPr>
          <p:cNvPr id="106" name="Card 106"/>
          <p:cNvSpPr/>
          <p:nvPr/>
        </p:nvSpPr>
        <p:spPr>
          <a:xfrm>
            <a:off x="8953500" y="19050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Related Work</a:t>
            </a:r>
          </a:p>
        </p:txBody>
      </p:sp>
      <p:sp>
        <p:nvSpPr>
          <p:cNvPr id="107" name="Badge 107"/>
          <p:cNvSpPr/>
          <p:nvPr/>
        </p:nvSpPr>
        <p:spPr>
          <a:xfrm>
            <a:off x="9182100" y="21590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4</a:t>
            </a:r>
          </a:p>
        </p:txBody>
      </p:sp>
      <p:sp>
        <p:nvSpPr>
          <p:cNvPr id="108" name="Card 108"/>
          <p:cNvSpPr/>
          <p:nvPr/>
        </p:nvSpPr>
        <p:spPr>
          <a:xfrm>
            <a:off x="762000" y="42545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System Design: LiFi-auth</a:t>
            </a:r>
          </a:p>
        </p:txBody>
      </p:sp>
      <p:sp>
        <p:nvSpPr>
          <p:cNvPr id="109" name="Badge 109"/>
          <p:cNvSpPr/>
          <p:nvPr/>
        </p:nvSpPr>
        <p:spPr>
          <a:xfrm>
            <a:off x="990600" y="45085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5</a:t>
            </a:r>
          </a:p>
        </p:txBody>
      </p:sp>
      <p:sp>
        <p:nvSpPr>
          <p:cNvPr id="110" name="Card 110"/>
          <p:cNvSpPr/>
          <p:nvPr/>
        </p:nvSpPr>
        <p:spPr>
          <a:xfrm>
            <a:off x="3492500" y="42545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Implementation Details</a:t>
            </a:r>
          </a:p>
        </p:txBody>
      </p:sp>
      <p:sp>
        <p:nvSpPr>
          <p:cNvPr id="111" name="Badge 111"/>
          <p:cNvSpPr/>
          <p:nvPr/>
        </p:nvSpPr>
        <p:spPr>
          <a:xfrm>
            <a:off x="3721100" y="45085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6</a:t>
            </a:r>
          </a:p>
        </p:txBody>
      </p:sp>
      <p:sp>
        <p:nvSpPr>
          <p:cNvPr id="112" name="Card 112"/>
          <p:cNvSpPr/>
          <p:nvPr/>
        </p:nvSpPr>
        <p:spPr>
          <a:xfrm>
            <a:off x="6223000" y="42545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Evaluation / Results</a:t>
            </a:r>
          </a:p>
        </p:txBody>
      </p:sp>
      <p:sp>
        <p:nvSpPr>
          <p:cNvPr id="113" name="Badge 113"/>
          <p:cNvSpPr/>
          <p:nvPr/>
        </p:nvSpPr>
        <p:spPr>
          <a:xfrm>
            <a:off x="6451600" y="45085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7</a:t>
            </a:r>
          </a:p>
        </p:txBody>
      </p:sp>
    </p:spTree>
    <p:extLst>
      <p:ext uri="{BB962C8B-B14F-4D97-AF65-F5344CB8AC3E}">
        <p14:creationId xmlns:p14="http://schemas.microsoft.com/office/powerpoint/2010/main" val="14178106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a:extLst>
            <a:ext uri="{FF2B5EF4-FFF2-40B4-BE49-F238E27FC236}">
              <a16:creationId xmlns:a16="http://schemas.microsoft.com/office/drawing/2014/main" id="{F81C4F5C-CFE8-9C95-A50D-71E170EBA4A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93986E0-BE82-AB20-A8C0-AA0E891A3C5F}"/>
              </a:ext>
            </a:extLst>
          </p:cNvPr>
          <p:cNvSpPr txBox="1"/>
          <p:nvPr/>
        </p:nvSpPr>
        <p:spPr>
          <a:xfrm>
            <a:off x="388620" y="1203305"/>
            <a:ext cx="11155680" cy="538609"/>
          </a:xfrm>
          <a:prstGeom prst="rect">
            <a:avLst/>
          </a:prstGeom>
          <a:noFill/>
        </p:spPr>
        <p:txBody>
          <a:bodyPr wrap="square">
            <a:spAutoFit/>
          </a:bodyPr>
          <a:lstStyle/>
          <a:p>
            <a:r>
              <a:rPr lang="en-US" sz="2900" b="1" dirty="0">
                <a:solidFill>
                  <a:srgbClr val="0B0B0B"/>
                </a:solidFill>
                <a:latin typeface="Calibri"/>
              </a:rPr>
              <a:t>What is </a:t>
            </a:r>
            <a:r>
              <a:rPr lang="en-US" sz="2900" b="1" dirty="0" err="1">
                <a:solidFill>
                  <a:srgbClr val="0B0B0B"/>
                </a:solidFill>
                <a:latin typeface="Calibri"/>
              </a:rPr>
              <a:t>LiFi</a:t>
            </a:r>
            <a:r>
              <a:rPr lang="en-US" sz="2900" b="1" dirty="0">
                <a:solidFill>
                  <a:srgbClr val="0B0B0B"/>
                </a:solidFill>
                <a:latin typeface="Calibri"/>
              </a:rPr>
              <a:t>?</a:t>
            </a:r>
            <a:endParaRPr sz="2900" b="1" dirty="0">
              <a:solidFill>
                <a:srgbClr val="0B0B0B"/>
              </a:solidFill>
              <a:latin typeface="Calibri"/>
            </a:endParaRPr>
          </a:p>
        </p:txBody>
      </p:sp>
      <p:pic>
        <p:nvPicPr>
          <p:cNvPr id="6" name="Picture 5">
            <a:extLst>
              <a:ext uri="{FF2B5EF4-FFF2-40B4-BE49-F238E27FC236}">
                <a16:creationId xmlns:a16="http://schemas.microsoft.com/office/drawing/2014/main" id="{7694BFC2-C73A-9E25-BE1D-780FB8C2FAA7}"/>
              </a:ext>
            </a:extLst>
          </p:cNvPr>
          <p:cNvPicPr>
            <a:picLocks noChangeAspect="1"/>
          </p:cNvPicPr>
          <p:nvPr/>
        </p:nvPicPr>
        <p:blipFill>
          <a:blip r:embed="rId3"/>
          <a:stretch>
            <a:fillRect/>
          </a:stretch>
        </p:blipFill>
        <p:spPr>
          <a:xfrm>
            <a:off x="6070600" y="1879600"/>
            <a:ext cx="5486400" cy="3352800"/>
          </a:xfrm>
          <a:prstGeom prst="rect">
            <a:avLst/>
          </a:prstGeom>
        </p:spPr>
      </p:pic>
      <p:sp>
        <p:nvSpPr>
          <p:cNvPr id="8" name="TextBox 7">
            <a:extLst>
              <a:ext uri="{FF2B5EF4-FFF2-40B4-BE49-F238E27FC236}">
                <a16:creationId xmlns:a16="http://schemas.microsoft.com/office/drawing/2014/main" id="{4F89115C-AB0D-9204-A5E5-97DE970990AA}"/>
              </a:ext>
            </a:extLst>
          </p:cNvPr>
          <p:cNvSpPr txBox="1"/>
          <p:nvPr/>
        </p:nvSpPr>
        <p:spPr>
          <a:xfrm>
            <a:off x="571500" y="1879600"/>
            <a:ext cx="5207000" cy="3454400"/>
          </a:xfrm>
          <a:prstGeom prst="rect">
            <a:avLst/>
          </a:prstGeom>
          <a:noFill/>
        </p:spPr>
        <p:txBody>
          <a:bodyPr wrap="square" anchor="t">
            <a:spAutoFit/>
          </a:bodyPr>
          <a:lstStyle/>
          <a:p>
            <a:pPr marL="228600" indent="-228600">
              <a:lnSpc>
                <a:spcPct val="100000"/>
              </a:lnSpc>
              <a:spcAft>
                <a:spcPts val="1800"/>
              </a:spcAft>
              <a:buFont typeface="Arial"/>
              <a:buChar char="•"/>
            </a:pPr>
            <a:r>
              <a:rPr lang="en-US" sz="1700" dirty="0">
                <a:solidFill>
                  <a:srgbClr val="2E2E2E"/>
                </a:solidFill>
              </a:rPr>
              <a:t>Wireless data carried on light instead of radio waves</a:t>
            </a:r>
          </a:p>
          <a:p>
            <a:pPr marL="228600" indent="-228600">
              <a:lnSpc>
                <a:spcPct val="100000"/>
              </a:lnSpc>
              <a:spcAft>
                <a:spcPts val="1800"/>
              </a:spcAft>
              <a:buFont typeface="Arial"/>
              <a:buChar char="•"/>
            </a:pPr>
            <a:r>
              <a:rPr lang="en-US" sz="1700" dirty="0">
                <a:solidFill>
                  <a:srgbClr val="2E2E2E"/>
                </a:solidFill>
              </a:rPr>
              <a:t>LEDs switched on and off (OOK) far faster than the eye can perceive</a:t>
            </a:r>
          </a:p>
          <a:p>
            <a:pPr marL="228600" indent="-228600">
              <a:lnSpc>
                <a:spcPct val="100000"/>
              </a:lnSpc>
              <a:spcAft>
                <a:spcPts val="1800"/>
              </a:spcAft>
              <a:buFont typeface="Arial"/>
              <a:buChar char="•"/>
            </a:pPr>
            <a:r>
              <a:rPr lang="en-US" sz="1700" dirty="0">
                <a:solidFill>
                  <a:srgbClr val="2E2E2E"/>
                </a:solidFill>
              </a:rPr>
              <a:t>Light is confined by walls and surfaces — the channel ends at the room boundary</a:t>
            </a:r>
          </a:p>
          <a:p>
            <a:pPr marL="228600" indent="-228600">
              <a:lnSpc>
                <a:spcPct val="100000"/>
              </a:lnSpc>
              <a:spcAft>
                <a:spcPts val="1800"/>
              </a:spcAft>
              <a:buFont typeface="Arial"/>
              <a:buChar char="•"/>
            </a:pPr>
            <a:r>
              <a:rPr lang="en-US" sz="1700" dirty="0">
                <a:solidFill>
                  <a:srgbClr val="2E2E2E"/>
                </a:solidFill>
              </a:rPr>
              <a:t>Line-of-sight link: LED downlink, photodiode uplink</a:t>
            </a:r>
          </a:p>
          <a:p>
            <a:pPr marL="228600" indent="-228600">
              <a:lnSpc>
                <a:spcPct val="100000"/>
              </a:lnSpc>
              <a:spcAft>
                <a:spcPts val="1800"/>
              </a:spcAft>
              <a:buFont typeface="Arial"/>
              <a:buChar char="•"/>
            </a:pPr>
            <a:r>
              <a:rPr lang="en-US" sz="1700" dirty="0">
                <a:solidFill>
                  <a:srgbClr val="2E2E2E"/>
                </a:solidFill>
              </a:rPr>
              <a:t>Standardized as IEEE 802.11bb, ratified June 2023</a:t>
            </a:r>
          </a:p>
        </p:txBody>
      </p:sp>
      <p:pic>
        <p:nvPicPr>
          <p:cNvPr id="11" name="Picture 10" descr="A white background with text&#10;&#10;AI-generated content may be incorrect.">
            <a:extLst>
              <a:ext uri="{FF2B5EF4-FFF2-40B4-BE49-F238E27FC236}">
                <a16:creationId xmlns:a16="http://schemas.microsoft.com/office/drawing/2014/main" id="{087D9B69-0AF3-08B2-82DB-03A226902BC6}"/>
              </a:ext>
            </a:extLst>
          </p:cNvPr>
          <p:cNvPicPr>
            <a:picLocks noChangeAspect="1"/>
          </p:cNvPicPr>
          <p:nvPr/>
        </p:nvPicPr>
        <p:blipFill>
          <a:blip r:embed="rId4"/>
          <a:stretch>
            <a:fillRect/>
          </a:stretch>
        </p:blipFill>
        <p:spPr>
          <a:xfrm>
            <a:off x="9545121" y="-4718"/>
            <a:ext cx="2646879" cy="1477328"/>
          </a:xfrm>
          <a:prstGeom prst="rect">
            <a:avLst/>
          </a:prstGeom>
        </p:spPr>
      </p:pic>
      <p:sp>
        <p:nvSpPr>
          <p:cNvPr id="12" name="Rectangle 11">
            <a:extLst>
              <a:ext uri="{FF2B5EF4-FFF2-40B4-BE49-F238E27FC236}">
                <a16:creationId xmlns:a16="http://schemas.microsoft.com/office/drawing/2014/main" id="{A324EBA9-69DF-7F9A-CF41-9F62096826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200" name="Stat 200"/>
          <p:cNvSpPr/>
          <p:nvPr/>
        </p:nvSpPr>
        <p:spPr>
          <a:xfrm>
            <a:off x="520700" y="5562600"/>
            <a:ext cx="3619500" cy="863600"/>
          </a:xfrm>
          <a:prstGeom prst="roundRect">
            <a:avLst>
              <a:gd name="adj" fmla="val 8000"/>
            </a:avLst>
          </a:prstGeom>
          <a:solidFill>
            <a:srgbClr val="F7F5F2"/>
          </a:solidFill>
          <a:ln w="12700">
            <a:solidFill>
              <a:srgbClr val="E6E1D8"/>
            </a:solidFill>
          </a:ln>
        </p:spPr>
        <p:txBody>
          <a:bodyPr wrap="square" lIns="152400" tIns="45720" rIns="114300" bIns="45720" anchor="ctr"/>
          <a:lstStyle/>
          <a:p>
            <a:pPr algn="l">
              <a:buNone/>
            </a:pPr>
            <a:r>
              <a:rPr lang="en-US" sz="2000" b="1" dirty="0">
                <a:solidFill>
                  <a:srgbClr val="8C1D40"/>
                </a:solidFill>
              </a:rPr>
              <a:t>800–1000 nm</a:t>
            </a:r>
          </a:p>
          <a:p>
            <a:pPr algn="l">
              <a:buNone/>
            </a:pPr>
            <a:r>
              <a:rPr lang="en-US" sz="1400" dirty="0">
                <a:solidFill>
                  <a:srgbClr val="4A4A4A"/>
                </a:solidFill>
              </a:rPr>
              <a:t>802.11bb operating waveband</a:t>
            </a:r>
          </a:p>
        </p:txBody>
      </p:sp>
      <p:sp>
        <p:nvSpPr>
          <p:cNvPr id="201" name="Stat 201"/>
          <p:cNvSpPr/>
          <p:nvPr/>
        </p:nvSpPr>
        <p:spPr>
          <a:xfrm>
            <a:off x="4292600" y="5562600"/>
            <a:ext cx="3619500" cy="863600"/>
          </a:xfrm>
          <a:prstGeom prst="roundRect">
            <a:avLst>
              <a:gd name="adj" fmla="val 8000"/>
            </a:avLst>
          </a:prstGeom>
          <a:solidFill>
            <a:srgbClr val="F7F5F2"/>
          </a:solidFill>
          <a:ln w="12700">
            <a:solidFill>
              <a:srgbClr val="E6E1D8"/>
            </a:solidFill>
          </a:ln>
        </p:spPr>
        <p:txBody>
          <a:bodyPr wrap="square" lIns="152400" tIns="45720" rIns="114300" bIns="45720" anchor="ctr"/>
          <a:lstStyle/>
          <a:p>
            <a:pPr algn="l">
              <a:buNone/>
            </a:pPr>
            <a:r>
              <a:rPr lang="en-US" sz="2000" b="1" dirty="0">
                <a:solidFill>
                  <a:srgbClr val="8C1D40"/>
                </a:solidFill>
              </a:rPr>
              <a:t>10 Mb/s – 9.6 Gb/s</a:t>
            </a:r>
          </a:p>
          <a:p>
            <a:pPr algn="l">
              <a:buNone/>
            </a:pPr>
            <a:r>
              <a:rPr lang="en-US" sz="1400" dirty="0">
                <a:solidFill>
                  <a:srgbClr val="4A4A4A"/>
                </a:solidFill>
              </a:rPr>
              <a:t>Standardized PHY data rates</a:t>
            </a:r>
          </a:p>
        </p:txBody>
      </p:sp>
      <p:sp>
        <p:nvSpPr>
          <p:cNvPr id="202" name="Stat 202"/>
          <p:cNvSpPr/>
          <p:nvPr/>
        </p:nvSpPr>
        <p:spPr>
          <a:xfrm>
            <a:off x="8064500" y="5562600"/>
            <a:ext cx="3619500" cy="863600"/>
          </a:xfrm>
          <a:prstGeom prst="roundRect">
            <a:avLst>
              <a:gd name="adj" fmla="val 8000"/>
            </a:avLst>
          </a:prstGeom>
          <a:solidFill>
            <a:srgbClr val="F7F5F2"/>
          </a:solidFill>
          <a:ln w="12700">
            <a:solidFill>
              <a:srgbClr val="E6E1D8"/>
            </a:solidFill>
          </a:ln>
        </p:spPr>
        <p:txBody>
          <a:bodyPr wrap="square" lIns="152400" tIns="45720" rIns="114300" bIns="45720" anchor="ctr"/>
          <a:lstStyle/>
          <a:p>
            <a:pPr algn="l">
              <a:buNone/>
            </a:pPr>
            <a:r>
              <a:rPr lang="en-US" sz="2000" b="1" dirty="0">
                <a:solidFill>
                  <a:srgbClr val="8C1D40"/>
                </a:solidFill>
              </a:rPr>
              <a:t>Room-bound</a:t>
            </a:r>
          </a:p>
          <a:p>
            <a:pPr algn="l">
              <a:buNone/>
            </a:pPr>
            <a:r>
              <a:rPr lang="en-US" sz="1400" dirty="0">
                <a:solidFill>
                  <a:srgbClr val="4A4A4A"/>
                </a:solidFill>
              </a:rPr>
              <a:t>No signal propagates through walls</a:t>
            </a:r>
          </a:p>
        </p:txBody>
      </p:sp>
    </p:spTree>
    <p:extLst>
      <p:ext uri="{BB962C8B-B14F-4D97-AF65-F5344CB8AC3E}">
        <p14:creationId xmlns:p14="http://schemas.microsoft.com/office/powerpoint/2010/main" val="42378258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E6660-6270-1916-A99F-6E20A75BB88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2EC0F69-66AE-75EF-901E-43A2D4AB83A0}"/>
              </a:ext>
            </a:extLst>
          </p:cNvPr>
          <p:cNvSpPr txBox="1"/>
          <p:nvPr/>
        </p:nvSpPr>
        <p:spPr>
          <a:xfrm>
            <a:off x="388620" y="1203305"/>
            <a:ext cx="11155680" cy="538609"/>
          </a:xfrm>
          <a:prstGeom prst="rect">
            <a:avLst/>
          </a:prstGeom>
          <a:noFill/>
        </p:spPr>
        <p:txBody>
          <a:bodyPr wrap="square">
            <a:spAutoFit/>
          </a:bodyPr>
          <a:lstStyle/>
          <a:p>
            <a:r>
              <a:rPr lang="en-US" sz="2900" b="1" dirty="0">
                <a:solidFill>
                  <a:srgbClr val="0B0B0B"/>
                </a:solidFill>
                <a:latin typeface="Calibri"/>
              </a:rPr>
              <a:t>Where is </a:t>
            </a:r>
            <a:r>
              <a:rPr lang="en-US" sz="2900" b="1" dirty="0" err="1">
                <a:solidFill>
                  <a:srgbClr val="0B0B0B"/>
                </a:solidFill>
                <a:latin typeface="Calibri"/>
              </a:rPr>
              <a:t>LiFi</a:t>
            </a:r>
            <a:r>
              <a:rPr lang="en-US" sz="2900" b="1" dirty="0">
                <a:solidFill>
                  <a:srgbClr val="0B0B0B"/>
                </a:solidFill>
                <a:latin typeface="Calibri"/>
              </a:rPr>
              <a:t>?</a:t>
            </a:r>
            <a:endParaRPr sz="2900" b="1" dirty="0">
              <a:solidFill>
                <a:srgbClr val="0B0B0B"/>
              </a:solidFill>
              <a:latin typeface="Calibri"/>
            </a:endParaRPr>
          </a:p>
        </p:txBody>
      </p:sp>
      <p:pic>
        <p:nvPicPr>
          <p:cNvPr id="11" name="Picture 10" descr="A white background with text&#10;&#10;AI-generated content may be incorrect.">
            <a:extLst>
              <a:ext uri="{FF2B5EF4-FFF2-40B4-BE49-F238E27FC236}">
                <a16:creationId xmlns:a16="http://schemas.microsoft.com/office/drawing/2014/main" id="{A4461E7D-7A94-E522-EAD3-BC9AC2FD6958}"/>
              </a:ext>
            </a:extLst>
          </p:cNvPr>
          <p:cNvPicPr>
            <a:picLocks noChangeAspect="1"/>
          </p:cNvPicPr>
          <p:nvPr/>
        </p:nvPicPr>
        <p:blipFill>
          <a:blip r:embed="rId3"/>
          <a:stretch>
            <a:fillRect/>
          </a:stretch>
        </p:blipFill>
        <p:spPr>
          <a:xfrm>
            <a:off x="9545121" y="-4718"/>
            <a:ext cx="2646879" cy="1477328"/>
          </a:xfrm>
          <a:prstGeom prst="rect">
            <a:avLst/>
          </a:prstGeom>
        </p:spPr>
      </p:pic>
      <p:sp>
        <p:nvSpPr>
          <p:cNvPr id="12" name="Rectangle 11">
            <a:extLst>
              <a:ext uri="{FF2B5EF4-FFF2-40B4-BE49-F238E27FC236}">
                <a16:creationId xmlns:a16="http://schemas.microsoft.com/office/drawing/2014/main" id="{1C95E7F5-D291-A85D-42A6-C5BBB9E8A688}"/>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pic>
        <p:nvPicPr>
          <p:cNvPr id="4" name="Picture 3">
            <a:extLst>
              <a:ext uri="{FF2B5EF4-FFF2-40B4-BE49-F238E27FC236}">
                <a16:creationId xmlns:a16="http://schemas.microsoft.com/office/drawing/2014/main" id="{7B31DEA5-EFB6-8524-01CA-DFF4204DE3C6}"/>
              </a:ext>
            </a:extLst>
          </p:cNvPr>
          <p:cNvPicPr>
            <a:picLocks noChangeAspect="1"/>
          </p:cNvPicPr>
          <p:nvPr/>
        </p:nvPicPr>
        <p:blipFill>
          <a:blip r:embed="rId4"/>
          <a:stretch>
            <a:fillRect/>
          </a:stretch>
        </p:blipFill>
        <p:spPr>
          <a:xfrm>
            <a:off x="5969000" y="1905000"/>
            <a:ext cx="5715000" cy="3124200"/>
          </a:xfrm>
          <a:prstGeom prst="rect">
            <a:avLst/>
          </a:prstGeom>
        </p:spPr>
      </p:pic>
      <p:sp>
        <p:nvSpPr>
          <p:cNvPr id="5" name="TextBox 4">
            <a:extLst>
              <a:ext uri="{FF2B5EF4-FFF2-40B4-BE49-F238E27FC236}">
                <a16:creationId xmlns:a16="http://schemas.microsoft.com/office/drawing/2014/main" id="{D6F368A2-3C2E-5F3E-147D-F897D330F327}"/>
              </a:ext>
            </a:extLst>
          </p:cNvPr>
          <p:cNvSpPr txBox="1"/>
          <p:nvPr/>
        </p:nvSpPr>
        <p:spPr>
          <a:xfrm>
            <a:off x="571500" y="2006600"/>
            <a:ext cx="5232400" cy="889000"/>
          </a:xfrm>
          <a:prstGeom prst="rect">
            <a:avLst/>
          </a:prstGeom>
          <a:noFill/>
        </p:spPr>
        <p:txBody>
          <a:bodyPr wrap="square" rtlCol="0">
            <a:spAutoFit/>
          </a:bodyPr>
          <a:lstStyle/>
          <a:p>
            <a:pPr marL="285750" indent="-285750">
              <a:lnSpc>
                <a:spcPct val="100000"/>
              </a:lnSpc>
              <a:buFont typeface="Arial" pitchFamily="34" charset="0"/>
              <a:buChar char="•"/>
            </a:pPr>
            <a:r>
              <a:rPr lang="en-US" sz="1700" dirty="0">
                <a:solidFill>
                  <a:srgbClr val="2E2E2E"/>
                </a:solidFill>
              </a:rPr>
              <a:t>LOS (orange) vs NLOS/reflected (dashed red) paths — link strength depends on which dominates</a:t>
            </a:r>
          </a:p>
        </p:txBody>
      </p:sp>
      <p:sp>
        <p:nvSpPr>
          <p:cNvPr id="7" name="TextBox 6">
            <a:extLst>
              <a:ext uri="{FF2B5EF4-FFF2-40B4-BE49-F238E27FC236}">
                <a16:creationId xmlns:a16="http://schemas.microsoft.com/office/drawing/2014/main" id="{EAC0693C-95CC-087E-E64E-A3089630A066}"/>
              </a:ext>
            </a:extLst>
          </p:cNvPr>
          <p:cNvSpPr txBox="1"/>
          <p:nvPr/>
        </p:nvSpPr>
        <p:spPr>
          <a:xfrm>
            <a:off x="5969000" y="5080000"/>
            <a:ext cx="5715000" cy="457200"/>
          </a:xfrm>
          <a:prstGeom prst="rect">
            <a:avLst/>
          </a:prstGeom>
          <a:noFill/>
        </p:spPr>
        <p:txBody>
          <a:bodyPr wrap="square" rtlCol="0"/>
          <a:lstStyle/>
          <a:p>
            <a:r>
              <a:rPr lang="en-US" sz="1000" dirty="0"/>
              <a:t>Source: S. Ma et al., "Feasibility Conditions for Mobile </a:t>
            </a:r>
            <a:r>
              <a:rPr lang="en-US" sz="1000" dirty="0" err="1"/>
              <a:t>LiFi</a:t>
            </a:r>
            <a:r>
              <a:rPr lang="en-US" sz="1000" dirty="0"/>
              <a:t>," </a:t>
            </a:r>
            <a:r>
              <a:rPr lang="en-US" sz="1000" i="1" dirty="0"/>
              <a:t>IEEE Trans. Wireless Commun.</a:t>
            </a:r>
            <a:r>
              <a:rPr lang="en-US" sz="1000" dirty="0"/>
              <a:t>, vol. 23, no. 7, pp. 7911–7923, Jul. 2024.</a:t>
            </a:r>
          </a:p>
        </p:txBody>
      </p:sp>
      <p:sp>
        <p:nvSpPr>
          <p:cNvPr id="15" name="TextBox 14">
            <a:extLst>
              <a:ext uri="{FF2B5EF4-FFF2-40B4-BE49-F238E27FC236}">
                <a16:creationId xmlns:a16="http://schemas.microsoft.com/office/drawing/2014/main" id="{02CA43BE-8487-89EE-B003-4734D4AD2353}"/>
              </a:ext>
            </a:extLst>
          </p:cNvPr>
          <p:cNvSpPr txBox="1"/>
          <p:nvPr/>
        </p:nvSpPr>
        <p:spPr>
          <a:xfrm>
            <a:off x="571500" y="3327400"/>
            <a:ext cx="5232400" cy="635000"/>
          </a:xfrm>
          <a:prstGeom prst="rect">
            <a:avLst/>
          </a:prstGeom>
          <a:noFill/>
        </p:spPr>
        <p:txBody>
          <a:bodyPr wrap="square" rtlCol="0">
            <a:spAutoFit/>
          </a:bodyPr>
          <a:lstStyle/>
          <a:p>
            <a:pPr marL="285750" indent="-285750">
              <a:lnSpc>
                <a:spcPct val="100000"/>
              </a:lnSpc>
              <a:buFont typeface="Arial" pitchFamily="34" charset="0"/>
              <a:buChar char="•"/>
            </a:pPr>
            <a:r>
              <a:rPr lang="en-US" sz="1700" dirty="0">
                <a:solidFill>
                  <a:srgbClr val="2E2E2E"/>
                </a:solidFill>
              </a:rPr>
              <a:t>Receiver has a limited field-of-view (FOV) — outside that cone, no signal</a:t>
            </a:r>
          </a:p>
        </p:txBody>
      </p:sp>
      <p:sp>
        <p:nvSpPr>
          <p:cNvPr id="16" name="TextBox 15">
            <a:extLst>
              <a:ext uri="{FF2B5EF4-FFF2-40B4-BE49-F238E27FC236}">
                <a16:creationId xmlns:a16="http://schemas.microsoft.com/office/drawing/2014/main" id="{F28B9106-9E67-4FD4-2DF8-82103AA99EE1}"/>
              </a:ext>
            </a:extLst>
          </p:cNvPr>
          <p:cNvSpPr txBox="1"/>
          <p:nvPr/>
        </p:nvSpPr>
        <p:spPr>
          <a:xfrm>
            <a:off x="571500" y="4546600"/>
            <a:ext cx="5232400" cy="635000"/>
          </a:xfrm>
          <a:prstGeom prst="rect">
            <a:avLst/>
          </a:prstGeom>
          <a:noFill/>
        </p:spPr>
        <p:txBody>
          <a:bodyPr wrap="square" rtlCol="0">
            <a:spAutoFit/>
          </a:bodyPr>
          <a:lstStyle/>
          <a:p>
            <a:pPr marL="285750" indent="-285750">
              <a:lnSpc>
                <a:spcPct val="100000"/>
              </a:lnSpc>
              <a:buFont typeface="Arial" pitchFamily="34" charset="0"/>
              <a:buChar char="•"/>
            </a:pPr>
            <a:r>
              <a:rPr lang="en-US" sz="1700" dirty="0">
                <a:solidFill>
                  <a:srgbClr val="2E2E2E"/>
                </a:solidFill>
              </a:rPr>
              <a:t>Both LED and photodiode (PD) orientation matter, not just distance</a:t>
            </a:r>
          </a:p>
        </p:txBody>
      </p:sp>
      <p:sp>
        <p:nvSpPr>
          <p:cNvPr id="3" name="Takeaway Card">
            <a:extLst>
              <a:ext uri="{FF2B5EF4-FFF2-40B4-BE49-F238E27FC236}">
                <a16:creationId xmlns:a16="http://schemas.microsoft.com/office/drawing/2014/main" id="{09713310-6B6E-4681-BD8D-093557E6862D}"/>
              </a:ext>
            </a:extLst>
          </p:cNvPr>
          <p:cNvSpPr/>
          <p:nvPr/>
        </p:nvSpPr>
        <p:spPr>
          <a:xfrm>
            <a:off x="571500" y="5638800"/>
            <a:ext cx="11112500" cy="787400"/>
          </a:xfrm>
          <a:prstGeom prst="roundRect">
            <a:avLst/>
          </a:prstGeom>
          <a:solidFill>
            <a:srgbClr val="F5E9E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b="1">
                <a:solidFill>
                  <a:srgbClr val="8C1D40"/>
                </a:solidFill>
              </a:rPr>
              <a:t>Why it matters: LOS geometry shapes the trust and access-control assumptions in LiFi-auth</a:t>
            </a:r>
          </a:p>
        </p:txBody>
      </p:sp>
      <p:sp>
        <p:nvSpPr>
          <p:cNvPr id="6" name="Takeaway Bar">
            <a:extLst>
              <a:ext uri="{FF2B5EF4-FFF2-40B4-BE49-F238E27FC236}">
                <a16:creationId xmlns:a16="http://schemas.microsoft.com/office/drawing/2014/main" id="{3E5D7E63-A94A-4A0A-BEC2-B3BB9C799074}"/>
              </a:ext>
            </a:extLst>
          </p:cNvPr>
          <p:cNvSpPr/>
          <p:nvPr/>
        </p:nvSpPr>
        <p:spPr>
          <a:xfrm>
            <a:off x="571500" y="5638800"/>
            <a:ext cx="88900" cy="787400"/>
          </a:xfrm>
          <a:prstGeom prst="rect">
            <a:avLst/>
          </a:prstGeom>
          <a:solidFill>
            <a:srgbClr val="8C1D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5723902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p:cNvSpPr txBox="1"/>
          <p:nvPr/>
        </p:nvSpPr>
        <p:spPr>
          <a:xfrm>
            <a:off x="482600" y="365125"/>
            <a:ext cx="5387502" cy="1325563"/>
          </a:xfrm>
          <a:prstGeom prst="rect">
            <a:avLst/>
          </a:prstGeom>
        </p:spPr>
        <p:txBody>
          <a:bodyPr vert="horz" lIns="91440" tIns="45720" rIns="91440" bIns="45720" rtlCol="0" anchor="ctr">
            <a:normAutofit/>
          </a:bodyPr>
          <a:lstStyle/>
          <a:p>
            <a:pPr>
              <a:lnSpc>
                <a:spcPct val="90000"/>
              </a:lnSpc>
              <a:spcBef>
                <a:spcPct val="0"/>
              </a:spcBef>
              <a:spcAft>
                <a:spcPts val="600"/>
              </a:spcAft>
            </a:pPr>
            <a:r>
              <a:rPr lang="en-US" sz="4400" dirty="0">
                <a:latin typeface="+mj-lt"/>
                <a:ea typeface="+mj-ea"/>
                <a:cs typeface="+mj-cs"/>
              </a:rPr>
              <a:t>Motivation</a:t>
            </a:r>
          </a:p>
        </p:txBody>
      </p:sp>
      <p:sp>
        <p:nvSpPr>
          <p:cNvPr id="3" name="TextBox 2"/>
          <p:cNvSpPr txBox="1"/>
          <p:nvPr/>
        </p:nvSpPr>
        <p:spPr>
          <a:xfrm>
            <a:off x="571500" y="1625600"/>
            <a:ext cx="11155680" cy="307777"/>
          </a:xfrm>
          <a:prstGeom prst="rect">
            <a:avLst/>
          </a:prstGeom>
          <a:noFill/>
        </p:spPr>
        <p:txBody>
          <a:bodyPr wrap="square" lIns="0">
            <a:spAutoFit/>
          </a:bodyPr>
          <a:lstStyle/>
          <a:p>
            <a:pPr>
              <a:spcAft>
                <a:spcPts val="600"/>
              </a:spcAft>
            </a:pPr>
            <a:r>
              <a:rPr lang="en-US" sz="1400" i="1" dirty="0">
                <a:solidFill>
                  <a:srgbClr val="595959"/>
                </a:solidFill>
                <a:latin typeface="Calibri"/>
              </a:rPr>
              <a:t>RF security is an architecture problem. Optical confinement is a physics problem.</a:t>
            </a:r>
          </a:p>
        </p:txBody>
      </p:sp>
      <p:pic>
        <p:nvPicPr>
          <p:cNvPr id="20" name="Picture 19" descr="A white background with text&#10;&#10;AI-generated content may be incorrect.">
            <a:extLst>
              <a:ext uri="{FF2B5EF4-FFF2-40B4-BE49-F238E27FC236}">
                <a16:creationId xmlns:a16="http://schemas.microsoft.com/office/drawing/2014/main" id="{5B96CDD0-174A-A82C-1CE9-4BEE0A371DEA}"/>
              </a:ext>
            </a:extLst>
          </p:cNvPr>
          <p:cNvPicPr>
            <a:picLocks noChangeAspect="1"/>
          </p:cNvPicPr>
          <p:nvPr/>
        </p:nvPicPr>
        <p:blipFill>
          <a:blip r:embed="rId3"/>
          <a:stretch>
            <a:fillRect/>
          </a:stretch>
        </p:blipFill>
        <p:spPr>
          <a:xfrm>
            <a:off x="9545121" y="-4718"/>
            <a:ext cx="2646879" cy="1477328"/>
          </a:xfrm>
          <a:prstGeom prst="rect">
            <a:avLst/>
          </a:prstGeom>
        </p:spPr>
      </p:pic>
      <p:sp>
        <p:nvSpPr>
          <p:cNvPr id="22" name="Rectangle 21">
            <a:extLst>
              <a:ext uri="{FF2B5EF4-FFF2-40B4-BE49-F238E27FC236}">
                <a16:creationId xmlns:a16="http://schemas.microsoft.com/office/drawing/2014/main" id="{B5E46029-7B1F-EF65-0EE0-0E1F2E55DC3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300" name="Group Label"/>
          <p:cNvSpPr txBox="1"/>
          <p:nvPr/>
        </p:nvSpPr>
        <p:spPr>
          <a:xfrm>
            <a:off x="571500" y="2032000"/>
            <a:ext cx="5080000" cy="254000"/>
          </a:xfrm>
          <a:prstGeom prst="rect">
            <a:avLst/>
          </a:prstGeom>
          <a:noFill/>
        </p:spPr>
        <p:txBody>
          <a:bodyPr wrap="square" lIns="0" tIns="0" rIns="0" bIns="0" anchor="t"/>
          <a:lstStyle/>
          <a:p>
            <a:pPr algn="l">
              <a:buNone/>
            </a:pPr>
            <a:r>
              <a:rPr lang="en-US" sz="1500" b="1" spc="200" dirty="0">
                <a:solidFill>
                  <a:srgbClr val="8C1D40"/>
                </a:solidFill>
              </a:rPr>
              <a:t>THE RF PROBLEM</a:t>
            </a:r>
          </a:p>
        </p:txBody>
      </p:sp>
      <p:sp>
        <p:nvSpPr>
          <p:cNvPr id="301" name="Motivation Card"/>
          <p:cNvSpPr/>
          <p:nvPr/>
        </p:nvSpPr>
        <p:spPr>
          <a:xfrm>
            <a:off x="571500" y="23622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RF wireless (WiFi, Bluetooth, Zigbee) propagates through walls, floors, and physical barriers by design</a:t>
            </a:r>
          </a:p>
        </p:txBody>
      </p:sp>
      <p:sp>
        <p:nvSpPr>
          <p:cNvPr id="302" name="Motivation Card"/>
          <p:cNvSpPr/>
          <p:nvPr/>
        </p:nvSpPr>
        <p:spPr>
          <a:xfrm>
            <a:off x="4406900" y="23622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An attacker need not be physically present to intercept, relay, or replay an RF authorization credential</a:t>
            </a:r>
          </a:p>
        </p:txBody>
      </p:sp>
      <p:sp>
        <p:nvSpPr>
          <p:cNvPr id="303" name="Motivation Card"/>
          <p:cNvSpPr/>
          <p:nvPr/>
        </p:nvSpPr>
        <p:spPr>
          <a:xfrm>
            <a:off x="8242300" y="23622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Enforcing a physical boundary on RF requires costly countermeasures — shielding, Faraday enclosures, attenuation</a:t>
            </a:r>
          </a:p>
        </p:txBody>
      </p:sp>
      <p:sp>
        <p:nvSpPr>
          <p:cNvPr id="304" name="Group Label"/>
          <p:cNvSpPr txBox="1"/>
          <p:nvPr/>
        </p:nvSpPr>
        <p:spPr>
          <a:xfrm>
            <a:off x="571500" y="4216400"/>
            <a:ext cx="5080000" cy="254000"/>
          </a:xfrm>
          <a:prstGeom prst="rect">
            <a:avLst/>
          </a:prstGeom>
          <a:noFill/>
        </p:spPr>
        <p:txBody>
          <a:bodyPr wrap="square" lIns="0" tIns="0" rIns="0" bIns="0" anchor="t"/>
          <a:lstStyle/>
          <a:p>
            <a:pPr algn="l">
              <a:buNone/>
            </a:pPr>
            <a:r>
              <a:rPr lang="en-US" sz="1500" b="1" spc="200" dirty="0">
                <a:solidFill>
                  <a:srgbClr val="8C1D40"/>
                </a:solidFill>
              </a:rPr>
              <a:t>THE OPTICAL OPPORTUNITY</a:t>
            </a:r>
          </a:p>
        </p:txBody>
      </p:sp>
      <p:sp>
        <p:nvSpPr>
          <p:cNvPr id="305" name="Motivation Card"/>
          <p:cNvSpPr/>
          <p:nvPr/>
        </p:nvSpPr>
        <p:spPr>
          <a:xfrm>
            <a:off x="571500" y="45466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LEDs have become the dominant lighting technology in nearly every indoor environment — hospitals, schools, offices</a:t>
            </a:r>
          </a:p>
        </p:txBody>
      </p:sp>
      <p:sp>
        <p:nvSpPr>
          <p:cNvPr id="306" name="Motivation Card"/>
          <p:cNvSpPr/>
          <p:nvPr/>
        </p:nvSpPr>
        <p:spPr>
          <a:xfrm>
            <a:off x="4406900" y="45466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That installed, already-powered, already-trusted infrastructure can modulate data imperceptibly to the human eye</a:t>
            </a:r>
          </a:p>
        </p:txBody>
      </p:sp>
      <p:sp>
        <p:nvSpPr>
          <p:cNvPr id="307" name="Motivation Card"/>
          <p:cNvSpPr/>
          <p:nvPr/>
        </p:nvSpPr>
        <p:spPr>
          <a:xfrm>
            <a:off x="8242300" y="45466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Light does not pass through opaque walls or bend around corners — confinement by construction, not by policy</a:t>
            </a:r>
          </a:p>
        </p:txBody>
      </p:sp>
      <p:pic>
        <p:nvPicPr>
          <p:cNvPr id="308" name="Graphic 308" descr="RF propagates through walls"/>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4700" y="2565400"/>
            <a:ext cx="406400" cy="406400"/>
          </a:xfrm>
          <a:prstGeom prst="rect">
            <a:avLst/>
          </a:prstGeom>
        </p:spPr>
      </p:pic>
      <p:pic>
        <p:nvPicPr>
          <p:cNvPr id="309" name="Graphic 309" descr="Remote interception of credentials"/>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610100" y="2565400"/>
            <a:ext cx="406400" cy="406400"/>
          </a:xfrm>
          <a:prstGeom prst="rect">
            <a:avLst/>
          </a:prstGeom>
        </p:spPr>
      </p:pic>
      <p:pic>
        <p:nvPicPr>
          <p:cNvPr id="310" name="Graphic 310" descr="Shielding and Faraday enclosures"/>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445500" y="2565400"/>
            <a:ext cx="406400" cy="406400"/>
          </a:xfrm>
          <a:prstGeom prst="rect">
            <a:avLst/>
          </a:prstGeom>
        </p:spPr>
      </p:pic>
      <p:pic>
        <p:nvPicPr>
          <p:cNvPr id="311" name="Graphic 311" descr="LED lighting ubiquity"/>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74700" y="4749800"/>
            <a:ext cx="406400" cy="406400"/>
          </a:xfrm>
          <a:prstGeom prst="rect">
            <a:avLst/>
          </a:prstGeom>
        </p:spPr>
      </p:pic>
      <p:pic>
        <p:nvPicPr>
          <p:cNvPr id="312" name="Graphic 312" descr="Existing infrastructure modulates data"/>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4610100" y="4749800"/>
            <a:ext cx="406400" cy="406400"/>
          </a:xfrm>
          <a:prstGeom prst="rect">
            <a:avLst/>
          </a:prstGeom>
        </p:spPr>
      </p:pic>
      <p:pic>
        <p:nvPicPr>
          <p:cNvPr id="313" name="Graphic 313" descr="Confinement by construction"/>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8445500" y="4749800"/>
            <a:ext cx="406400" cy="406400"/>
          </a:xfrm>
          <a:prstGeom prst="rect">
            <a:avLst/>
          </a:prstGeom>
        </p:spPr>
      </p:pic>
    </p:spTree>
    <p:extLst>
      <p:ext uri="{BB962C8B-B14F-4D97-AF65-F5344CB8AC3E}">
        <p14:creationId xmlns:p14="http://schemas.microsoft.com/office/powerpoint/2010/main" val="20239496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33400" y="777240"/>
            <a:ext cx="11155680" cy="822960"/>
          </a:xfrm>
          <a:prstGeom prst="rect">
            <a:avLst/>
          </a:prstGeom>
          <a:noFill/>
        </p:spPr>
        <p:txBody>
          <a:bodyPr wrap="square">
            <a:spAutoFit/>
          </a:bodyPr>
          <a:lstStyle/>
          <a:p>
            <a:r>
              <a:rPr sz="2900" b="1" dirty="0">
                <a:solidFill>
                  <a:srgbClr val="0B0B0B"/>
                </a:solidFill>
                <a:latin typeface="Calibri"/>
              </a:rPr>
              <a:t>The Gap This Thesis Addresses</a:t>
            </a:r>
          </a:p>
        </p:txBody>
      </p:sp>
      <p:sp>
        <p:nvSpPr>
          <p:cNvPr id="3" name="TextBox 2"/>
          <p:cNvSpPr txBox="1"/>
          <p:nvPr/>
        </p:nvSpPr>
        <p:spPr>
          <a:xfrm>
            <a:off x="502920" y="1299300"/>
            <a:ext cx="11155680" cy="457200"/>
          </a:xfrm>
          <a:prstGeom prst="rect">
            <a:avLst/>
          </a:prstGeom>
          <a:noFill/>
        </p:spPr>
        <p:txBody>
          <a:bodyPr wrap="square">
            <a:spAutoFit/>
          </a:bodyPr>
          <a:lstStyle/>
          <a:p>
            <a:r>
              <a:rPr sz="1350" i="1" dirty="0">
                <a:solidFill>
                  <a:srgbClr val="898781"/>
                </a:solidFill>
                <a:latin typeface="Calibri"/>
              </a:rPr>
              <a:t>“Authorized because you are here, now, in the light.”</a:t>
            </a:r>
          </a:p>
        </p:txBody>
      </p:sp>
      <p:sp>
        <p:nvSpPr>
          <p:cNvPr id="4" name="TextBox 3"/>
          <p:cNvSpPr txBox="1"/>
          <p:nvPr/>
        </p:nvSpPr>
        <p:spPr>
          <a:xfrm>
            <a:off x="685800" y="1600200"/>
            <a:ext cx="10789920" cy="4572000"/>
          </a:xfrm>
          <a:prstGeom prst="rect">
            <a:avLst/>
          </a:prstGeom>
          <a:noFill/>
        </p:spPr>
        <p:txBody>
          <a:bodyPr wrap="square">
            <a:spAutoFit/>
          </a:bodyPr>
          <a:lstStyle/>
          <a:p>
            <a:pPr>
              <a:spcAft>
                <a:spcPts val="1100"/>
              </a:spcAft>
            </a:pPr>
            <a:r>
              <a:rPr sz="1700" dirty="0">
                <a:solidFill>
                  <a:srgbClr val="0B0B0B"/>
                </a:solidFill>
                <a:latin typeface="Calibri"/>
              </a:rPr>
              <a:t>●   No existing work binds authorization to continuous, time-bounded optical reception with automatic revocation</a:t>
            </a:r>
          </a:p>
          <a:p>
            <a:pPr>
              <a:spcAft>
                <a:spcPts val="1100"/>
              </a:spcAft>
            </a:pPr>
            <a:r>
              <a:rPr sz="1700" dirty="0">
                <a:solidFill>
                  <a:srgbClr val="0B0B0B"/>
                </a:solidFill>
                <a:latin typeface="Calibri"/>
              </a:rPr>
              <a:t>●   This thesis reframes the optical signal as an active security primitive — not just a higher-bandwidth data channel</a:t>
            </a:r>
          </a:p>
          <a:p>
            <a:pPr>
              <a:spcAft>
                <a:spcPts val="1100"/>
              </a:spcAft>
            </a:pPr>
            <a:r>
              <a:rPr sz="1700" dirty="0">
                <a:solidFill>
                  <a:srgbClr val="0B0B0B"/>
                </a:solidFill>
                <a:latin typeface="Calibri"/>
              </a:rPr>
              <a:t>●   The optical signal is continuously asserted, continuously verified, and automatically revoked the instant the optical path breaks</a:t>
            </a:r>
          </a:p>
          <a:p>
            <a:pPr>
              <a:spcAft>
                <a:spcPts val="1100"/>
              </a:spcAft>
            </a:pPr>
            <a:r>
              <a:rPr sz="1700" dirty="0">
                <a:solidFill>
                  <a:srgbClr val="0B0B0B"/>
                </a:solidFill>
                <a:latin typeface="Calibri"/>
              </a:rPr>
              <a:t>●   Formalized as four concrete security goals:</a:t>
            </a:r>
          </a:p>
          <a:p>
            <a:pPr lvl="1">
              <a:spcAft>
                <a:spcPts val="700"/>
              </a:spcAft>
            </a:pPr>
            <a:r>
              <a:rPr sz="1450" dirty="0">
                <a:solidFill>
                  <a:srgbClr val="52514E"/>
                </a:solidFill>
                <a:latin typeface="Calibri"/>
              </a:rPr>
              <a:t>‒   G1 — Freshness &amp; Expiration</a:t>
            </a:r>
          </a:p>
          <a:p>
            <a:pPr lvl="1">
              <a:spcAft>
                <a:spcPts val="700"/>
              </a:spcAft>
            </a:pPr>
            <a:r>
              <a:rPr sz="1450" dirty="0">
                <a:solidFill>
                  <a:srgbClr val="52514E"/>
                </a:solidFill>
                <a:latin typeface="Calibri"/>
              </a:rPr>
              <a:t>‒   G2 — Replay Resistance</a:t>
            </a:r>
          </a:p>
          <a:p>
            <a:pPr lvl="1">
              <a:spcAft>
                <a:spcPts val="700"/>
              </a:spcAft>
            </a:pPr>
            <a:r>
              <a:rPr sz="1450" dirty="0">
                <a:solidFill>
                  <a:srgbClr val="52514E"/>
                </a:solidFill>
                <a:latin typeface="Calibri"/>
              </a:rPr>
              <a:t>‒   G3 — Relay-Bounded Authorization</a:t>
            </a:r>
          </a:p>
          <a:p>
            <a:pPr lvl="1">
              <a:spcAft>
                <a:spcPts val="700"/>
              </a:spcAft>
            </a:pPr>
            <a:r>
              <a:rPr sz="1450" dirty="0">
                <a:solidFill>
                  <a:srgbClr val="52514E"/>
                </a:solidFill>
                <a:latin typeface="Calibri"/>
              </a:rPr>
              <a:t>‒   G4 — Revocation on Interruption</a:t>
            </a:r>
          </a:p>
        </p:txBody>
      </p:sp>
      <p:pic>
        <p:nvPicPr>
          <p:cNvPr id="7" name="Picture 6" descr="A white background with text&#10;&#10;AI-generated content may be incorrect.">
            <a:extLst>
              <a:ext uri="{FF2B5EF4-FFF2-40B4-BE49-F238E27FC236}">
                <a16:creationId xmlns:a16="http://schemas.microsoft.com/office/drawing/2014/main" id="{E815CBF9-8B4C-C24C-1249-0A42B9A5F6CF}"/>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1D78EB68-6E49-6E62-6807-621A767964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685800" y="822960"/>
            <a:ext cx="11155680" cy="822960"/>
          </a:xfrm>
          <a:prstGeom prst="rect">
            <a:avLst/>
          </a:prstGeom>
          <a:noFill/>
        </p:spPr>
        <p:txBody>
          <a:bodyPr wrap="square">
            <a:spAutoFit/>
          </a:bodyPr>
          <a:lstStyle/>
          <a:p>
            <a:r>
              <a:rPr sz="2900" b="1">
                <a:solidFill>
                  <a:srgbClr val="0B0B0B"/>
                </a:solidFill>
                <a:latin typeface="Calibri"/>
              </a:rPr>
              <a:t>Related Work — Where the Literature Stops Short</a:t>
            </a:r>
          </a:p>
        </p:txBody>
      </p:sp>
      <p:graphicFrame>
        <p:nvGraphicFramePr>
          <p:cNvPr id="3" name="Table 2"/>
          <p:cNvGraphicFramePr>
            <a:graphicFrameLocks noGrp="1"/>
          </p:cNvGraphicFramePr>
          <p:nvPr/>
        </p:nvGraphicFramePr>
        <p:xfrm>
          <a:off x="685800" y="1691640"/>
          <a:ext cx="10881359" cy="329184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3749039">
                  <a:extLst>
                    <a:ext uri="{9D8B030D-6E8A-4147-A177-3AD203B41FA5}">
                      <a16:colId xmlns:a16="http://schemas.microsoft.com/office/drawing/2014/main" val="20002"/>
                    </a:ext>
                  </a:extLst>
                </a:gridCol>
              </a:tblGrid>
              <a:tr h="658368">
                <a:tc>
                  <a:txBody>
                    <a:bodyPr/>
                    <a:lstStyle/>
                    <a:p>
                      <a:pPr algn="l"/>
                      <a:r>
                        <a:rPr sz="1350" b="1">
                          <a:solidFill>
                            <a:srgbClr val="FFFFFF"/>
                          </a:solidFill>
                          <a:latin typeface="Calibri"/>
                        </a:rPr>
                        <a:t>Category</a:t>
                      </a:r>
                    </a:p>
                  </a:txBody>
                  <a:tcPr anchor="ctr">
                    <a:solidFill>
                      <a:srgbClr val="0B0B0B"/>
                    </a:solidFill>
                  </a:tcPr>
                </a:tc>
                <a:tc>
                  <a:txBody>
                    <a:bodyPr/>
                    <a:lstStyle/>
                    <a:p>
                      <a:pPr algn="ctr"/>
                      <a:r>
                        <a:rPr sz="1350" b="1">
                          <a:solidFill>
                            <a:srgbClr val="FFFFFF"/>
                          </a:solidFill>
                          <a:latin typeface="Calibri"/>
                        </a:rPr>
                        <a:t>What it does</a:t>
                      </a:r>
                    </a:p>
                  </a:txBody>
                  <a:tcPr anchor="ctr">
                    <a:solidFill>
                      <a:srgbClr val="0B0B0B"/>
                    </a:solidFill>
                  </a:tcPr>
                </a:tc>
                <a:tc>
                  <a:txBody>
                    <a:bodyPr/>
                    <a:lstStyle/>
                    <a:p>
                      <a:pPr algn="ctr"/>
                      <a:r>
                        <a:rPr sz="1350" b="1">
                          <a:solidFill>
                            <a:srgbClr val="FFFFFF"/>
                          </a:solidFill>
                          <a:latin typeface="Calibri"/>
                        </a:rPr>
                        <a:t>What it doesn't do</a:t>
                      </a:r>
                    </a:p>
                  </a:txBody>
                  <a:tcPr anchor="ctr">
                    <a:solidFill>
                      <a:srgbClr val="0B0B0B"/>
                    </a:solidFill>
                  </a:tcPr>
                </a:tc>
                <a:extLst>
                  <a:ext uri="{0D108BD9-81ED-4DB2-BD59-A6C34878D82A}">
                    <a16:rowId xmlns:a16="http://schemas.microsoft.com/office/drawing/2014/main" val="10000"/>
                  </a:ext>
                </a:extLst>
              </a:tr>
              <a:tr h="658368">
                <a:tc>
                  <a:txBody>
                    <a:bodyPr/>
                    <a:lstStyle/>
                    <a:p>
                      <a:pPr algn="l"/>
                      <a:r>
                        <a:rPr sz="1250" b="0">
                          <a:solidFill>
                            <a:srgbClr val="0B0B0B"/>
                          </a:solidFill>
                          <a:latin typeface="Calibri"/>
                        </a:rPr>
                        <a:t>Info-theoretic PLS</a:t>
                      </a:r>
                    </a:p>
                  </a:txBody>
                  <a:tcPr anchor="ctr">
                    <a:solidFill>
                      <a:srgbClr val="FFFFFF"/>
                    </a:solidFill>
                  </a:tcPr>
                </a:tc>
                <a:tc>
                  <a:txBody>
                    <a:bodyPr/>
                    <a:lstStyle/>
                    <a:p>
                      <a:pPr algn="ctr"/>
                      <a:r>
                        <a:rPr sz="1250" b="0">
                          <a:solidFill>
                            <a:srgbClr val="0B0B0B"/>
                          </a:solidFill>
                          <a:latin typeface="Calibri"/>
                        </a:rPr>
                        <a:t>Statistical eavesdropper disadvantage (Wyner wiretap model)</a:t>
                      </a:r>
                    </a:p>
                  </a:txBody>
                  <a:tcPr anchor="ctr">
                    <a:solidFill>
                      <a:srgbClr val="FFFFFF"/>
                    </a:solidFill>
                  </a:tcPr>
                </a:tc>
                <a:tc>
                  <a:txBody>
                    <a:bodyPr/>
                    <a:lstStyle/>
                    <a:p>
                      <a:pPr algn="ctr"/>
                      <a:r>
                        <a:rPr sz="1250" b="0">
                          <a:solidFill>
                            <a:srgbClr val="0B0B0B"/>
                          </a:solidFill>
                          <a:latin typeface="Calibri"/>
                        </a:rPr>
                        <a:t>No real-time authorization decision</a:t>
                      </a:r>
                    </a:p>
                  </a:txBody>
                  <a:tcPr anchor="ctr">
                    <a:solidFill>
                      <a:srgbClr val="FFFFFF"/>
                    </a:solidFill>
                  </a:tcPr>
                </a:tc>
                <a:extLst>
                  <a:ext uri="{0D108BD9-81ED-4DB2-BD59-A6C34878D82A}">
                    <a16:rowId xmlns:a16="http://schemas.microsoft.com/office/drawing/2014/main" val="10001"/>
                  </a:ext>
                </a:extLst>
              </a:tr>
              <a:tr h="658368">
                <a:tc>
                  <a:txBody>
                    <a:bodyPr/>
                    <a:lstStyle/>
                    <a:p>
                      <a:pPr algn="l"/>
                      <a:r>
                        <a:rPr sz="1250" b="0">
                          <a:solidFill>
                            <a:srgbClr val="0B0B0B"/>
                          </a:solidFill>
                          <a:latin typeface="Calibri"/>
                        </a:rPr>
                        <a:t>Physical-layer key generation</a:t>
                      </a:r>
                    </a:p>
                  </a:txBody>
                  <a:tcPr anchor="ctr">
                    <a:solidFill>
                      <a:srgbClr val="F0EFEC"/>
                    </a:solidFill>
                  </a:tcPr>
                </a:tc>
                <a:tc>
                  <a:txBody>
                    <a:bodyPr/>
                    <a:lstStyle/>
                    <a:p>
                      <a:pPr algn="ctr"/>
                      <a:r>
                        <a:rPr sz="1250" b="0">
                          <a:solidFill>
                            <a:srgbClr val="0B0B0B"/>
                          </a:solidFill>
                          <a:latin typeface="Calibri"/>
                        </a:rPr>
                        <a:t>Bootstraps a shared secret from channel measurements</a:t>
                      </a:r>
                    </a:p>
                  </a:txBody>
                  <a:tcPr anchor="ctr">
                    <a:solidFill>
                      <a:srgbClr val="F0EFEC"/>
                    </a:solidFill>
                  </a:tcPr>
                </a:tc>
                <a:tc>
                  <a:txBody>
                    <a:bodyPr/>
                    <a:lstStyle/>
                    <a:p>
                      <a:pPr algn="ctr"/>
                      <a:r>
                        <a:rPr sz="1250" b="0">
                          <a:solidFill>
                            <a:srgbClr val="0B0B0B"/>
                          </a:solidFill>
                          <a:latin typeface="Calibri"/>
                        </a:rPr>
                        <a:t>Key persists after the optical link ends</a:t>
                      </a:r>
                    </a:p>
                  </a:txBody>
                  <a:tcPr anchor="ctr">
                    <a:solidFill>
                      <a:srgbClr val="F0EFEC"/>
                    </a:solidFill>
                  </a:tcPr>
                </a:tc>
                <a:extLst>
                  <a:ext uri="{0D108BD9-81ED-4DB2-BD59-A6C34878D82A}">
                    <a16:rowId xmlns:a16="http://schemas.microsoft.com/office/drawing/2014/main" val="10002"/>
                  </a:ext>
                </a:extLst>
              </a:tr>
              <a:tr h="658368">
                <a:tc>
                  <a:txBody>
                    <a:bodyPr/>
                    <a:lstStyle/>
                    <a:p>
                      <a:pPr algn="l"/>
                      <a:r>
                        <a:rPr sz="1250" b="0">
                          <a:solidFill>
                            <a:srgbClr val="0B0B0B"/>
                          </a:solidFill>
                          <a:latin typeface="Calibri"/>
                        </a:rPr>
                        <a:t>Encrypted VLC implementations</a:t>
                      </a:r>
                    </a:p>
                  </a:txBody>
                  <a:tcPr anchor="ctr">
                    <a:solidFill>
                      <a:srgbClr val="FFFFFF"/>
                    </a:solidFill>
                  </a:tcPr>
                </a:tc>
                <a:tc>
                  <a:txBody>
                    <a:bodyPr/>
                    <a:lstStyle/>
                    <a:p>
                      <a:pPr algn="ctr"/>
                      <a:r>
                        <a:rPr sz="1250" b="0">
                          <a:solidFill>
                            <a:srgbClr val="0B0B0B"/>
                          </a:solidFill>
                          <a:latin typeface="Calibri"/>
                        </a:rPr>
                        <a:t>Protects data in transit (RSA/chaos-synchronized links)</a:t>
                      </a:r>
                    </a:p>
                  </a:txBody>
                  <a:tcPr anchor="ctr">
                    <a:solidFill>
                      <a:srgbClr val="FFFFFF"/>
                    </a:solidFill>
                  </a:tcPr>
                </a:tc>
                <a:tc>
                  <a:txBody>
                    <a:bodyPr/>
                    <a:lstStyle/>
                    <a:p>
                      <a:pPr algn="ctr"/>
                      <a:r>
                        <a:rPr sz="1250" b="0">
                          <a:solidFill>
                            <a:srgbClr val="0B0B0B"/>
                          </a:solidFill>
                          <a:latin typeface="Calibri"/>
                        </a:rPr>
                        <a:t>Optical channel not used for access control</a:t>
                      </a:r>
                    </a:p>
                  </a:txBody>
                  <a:tcPr anchor="ctr">
                    <a:solidFill>
                      <a:srgbClr val="FFFFFF"/>
                    </a:solidFill>
                  </a:tcPr>
                </a:tc>
                <a:extLst>
                  <a:ext uri="{0D108BD9-81ED-4DB2-BD59-A6C34878D82A}">
                    <a16:rowId xmlns:a16="http://schemas.microsoft.com/office/drawing/2014/main" val="10003"/>
                  </a:ext>
                </a:extLst>
              </a:tr>
              <a:tr h="658368">
                <a:tc>
                  <a:txBody>
                    <a:bodyPr/>
                    <a:lstStyle/>
                    <a:p>
                      <a:pPr algn="l"/>
                      <a:r>
                        <a:rPr sz="1250" b="0">
                          <a:solidFill>
                            <a:srgbClr val="0B0B0B"/>
                          </a:solidFill>
                          <a:latin typeface="Calibri"/>
                        </a:rPr>
                        <a:t>Commercial LiFi (Signify, Oledcomm)</a:t>
                      </a:r>
                    </a:p>
                  </a:txBody>
                  <a:tcPr anchor="ctr">
                    <a:solidFill>
                      <a:srgbClr val="F0EFEC"/>
                    </a:solidFill>
                  </a:tcPr>
                </a:tc>
                <a:tc>
                  <a:txBody>
                    <a:bodyPr/>
                    <a:lstStyle/>
                    <a:p>
                      <a:pPr algn="ctr"/>
                      <a:r>
                        <a:rPr sz="1250" b="0">
                          <a:solidFill>
                            <a:srgbClr val="0B0B0B"/>
                          </a:solidFill>
                          <a:latin typeface="Calibri"/>
                        </a:rPr>
                        <a:t>Markets spatial confinement as a security feature</a:t>
                      </a:r>
                    </a:p>
                  </a:txBody>
                  <a:tcPr anchor="ctr">
                    <a:solidFill>
                      <a:srgbClr val="F0EFEC"/>
                    </a:solidFill>
                  </a:tcPr>
                </a:tc>
                <a:tc>
                  <a:txBody>
                    <a:bodyPr/>
                    <a:lstStyle/>
                    <a:p>
                      <a:pPr algn="ctr"/>
                      <a:r>
                        <a:rPr sz="1250" b="0">
                          <a:solidFill>
                            <a:srgbClr val="0B0B0B"/>
                          </a:solidFill>
                          <a:latin typeface="Calibri"/>
                        </a:rPr>
                        <a:t>One-time authentication, not continuous</a:t>
                      </a:r>
                    </a:p>
                  </a:txBody>
                  <a:tcPr anchor="ctr">
                    <a:solidFill>
                      <a:srgbClr val="F0EFEC"/>
                    </a:solidFill>
                  </a:tcPr>
                </a:tc>
                <a:extLst>
                  <a:ext uri="{0D108BD9-81ED-4DB2-BD59-A6C34878D82A}">
                    <a16:rowId xmlns:a16="http://schemas.microsoft.com/office/drawing/2014/main" val="10004"/>
                  </a:ext>
                </a:extLst>
              </a:tr>
            </a:tbl>
          </a:graphicData>
        </a:graphic>
      </p:graphicFrame>
      <p:sp>
        <p:nvSpPr>
          <p:cNvPr id="4" name="TextBox 3"/>
          <p:cNvSpPr txBox="1"/>
          <p:nvPr/>
        </p:nvSpPr>
        <p:spPr>
          <a:xfrm>
            <a:off x="502920" y="5257800"/>
            <a:ext cx="11155680" cy="548640"/>
          </a:xfrm>
          <a:prstGeom prst="rect">
            <a:avLst/>
          </a:prstGeom>
          <a:noFill/>
        </p:spPr>
        <p:txBody>
          <a:bodyPr wrap="square">
            <a:spAutoFit/>
          </a:bodyPr>
          <a:lstStyle/>
          <a:p>
            <a:pPr algn="ctr"/>
            <a:r>
              <a:rPr sz="1250" b="1" i="0">
                <a:solidFill>
                  <a:srgbClr val="0B0B0B"/>
                </a:solidFill>
                <a:latin typeface="Calibri"/>
              </a:rPr>
              <a:t>Gap: no work formalizes, implements, and evaluates continuous optical-presence authorization with automatic revocation on signal loss.</a:t>
            </a:r>
          </a:p>
        </p:txBody>
      </p:sp>
      <p:pic>
        <p:nvPicPr>
          <p:cNvPr id="7" name="Picture 6" descr="A white background with text&#10;&#10;AI-generated content may be incorrect.">
            <a:extLst>
              <a:ext uri="{FF2B5EF4-FFF2-40B4-BE49-F238E27FC236}">
                <a16:creationId xmlns:a16="http://schemas.microsoft.com/office/drawing/2014/main" id="{4F43F1C0-7A04-87AE-E959-AAE2FF598F26}"/>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C375DA98-D59B-9295-CB69-B7F965D4BB7B}"/>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629920" y="840740"/>
            <a:ext cx="11155680" cy="822960"/>
          </a:xfrm>
          <a:prstGeom prst="rect">
            <a:avLst/>
          </a:prstGeom>
          <a:noFill/>
        </p:spPr>
        <p:txBody>
          <a:bodyPr wrap="square">
            <a:spAutoFit/>
          </a:bodyPr>
          <a:lstStyle/>
          <a:p>
            <a:r>
              <a:rPr sz="2900" b="1" dirty="0">
                <a:solidFill>
                  <a:srgbClr val="0B0B0B"/>
                </a:solidFill>
                <a:latin typeface="Calibri"/>
              </a:rPr>
              <a:t>System Architecture</a:t>
            </a:r>
          </a:p>
        </p:txBody>
      </p:sp>
      <p:pic>
        <p:nvPicPr>
          <p:cNvPr id="3" name="Picture 2" descr="system_block_diagram.png"/>
          <p:cNvPicPr>
            <a:picLocks noChangeAspect="1"/>
          </p:cNvPicPr>
          <p:nvPr/>
        </p:nvPicPr>
        <p:blipFill>
          <a:blip r:embed="rId3"/>
          <a:stretch>
            <a:fillRect/>
          </a:stretch>
        </p:blipFill>
        <p:spPr>
          <a:xfrm>
            <a:off x="1755455" y="1417320"/>
            <a:ext cx="8680784" cy="5074920"/>
          </a:xfrm>
          <a:prstGeom prst="rect">
            <a:avLst/>
          </a:prstGeom>
        </p:spPr>
      </p:pic>
      <p:pic>
        <p:nvPicPr>
          <p:cNvPr id="6" name="Picture 5" descr="A white background with text&#10;&#10;AI-generated content may be incorrect.">
            <a:extLst>
              <a:ext uri="{FF2B5EF4-FFF2-40B4-BE49-F238E27FC236}">
                <a16:creationId xmlns:a16="http://schemas.microsoft.com/office/drawing/2014/main" id="{49F3415E-64DE-7F3C-75B2-B77F6CEC910B}"/>
              </a:ext>
            </a:extLst>
          </p:cNvPr>
          <p:cNvPicPr>
            <a:picLocks noChangeAspect="1"/>
          </p:cNvPicPr>
          <p:nvPr/>
        </p:nvPicPr>
        <p:blipFill>
          <a:blip r:embed="rId4"/>
          <a:stretch>
            <a:fillRect/>
          </a:stretch>
        </p:blipFill>
        <p:spPr>
          <a:xfrm>
            <a:off x="9545121" y="-4718"/>
            <a:ext cx="2646879" cy="1477328"/>
          </a:xfrm>
          <a:prstGeom prst="rect">
            <a:avLst/>
          </a:prstGeom>
        </p:spPr>
      </p:pic>
      <p:sp>
        <p:nvSpPr>
          <p:cNvPr id="7" name="Rectangle 6">
            <a:extLst>
              <a:ext uri="{FF2B5EF4-FFF2-40B4-BE49-F238E27FC236}">
                <a16:creationId xmlns:a16="http://schemas.microsoft.com/office/drawing/2014/main" id="{F9063284-4A8D-B9A4-02CC-2276ACF2D9FF}"/>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71500" y="635000"/>
            <a:ext cx="7620000" cy="584200"/>
          </a:xfrm>
          <a:prstGeom prst="rect">
            <a:avLst/>
          </a:prstGeom>
          <a:noFill/>
        </p:spPr>
        <p:txBody>
          <a:bodyPr wrap="square">
            <a:spAutoFit/>
          </a:bodyPr>
          <a:lstStyle/>
          <a:p>
            <a:r>
              <a:rPr sz="2900" b="1" dirty="0">
                <a:solidFill>
                  <a:srgbClr val="0B0B0B"/>
                </a:solidFill>
                <a:latin typeface="Calibri"/>
              </a:rPr>
              <a:t>Optical Beacon (Sender)</a:t>
            </a:r>
          </a:p>
        </p:txBody>
      </p:sp>
      <p:sp>
        <p:nvSpPr>
          <p:cNvPr id="3" name="TextBox 2"/>
          <p:cNvSpPr txBox="1"/>
          <p:nvPr/>
        </p:nvSpPr>
        <p:spPr>
          <a:xfrm>
            <a:off x="571500" y="1244600"/>
            <a:ext cx="7620000" cy="330200"/>
          </a:xfrm>
          <a:prstGeom prst="rect">
            <a:avLst/>
          </a:prstGeom>
          <a:noFill/>
        </p:spPr>
        <p:txBody>
          <a:bodyPr wrap="square">
            <a:spAutoFit/>
          </a:bodyPr>
          <a:lstStyle/>
          <a:p>
            <a:pPr>
              <a:buNone/>
            </a:pPr>
            <a:r>
              <a:rPr lang="en-US" sz="1500" i="1" dirty="0">
                <a:solidFill>
                  <a:srgbClr val="46443F"/>
                </a:solidFill>
                <a:latin typeface="Calibri"/>
              </a:rPr>
              <a:t>Pico H · RP2040</a:t>
            </a:r>
          </a:p>
        </p:txBody>
      </p:sp>
      <p:sp>
        <p:nvSpPr>
          <p:cNvPr id="61" name="ImageCard"/>
          <p:cNvSpPr/>
          <p:nvPr/>
        </p:nvSpPr>
        <p:spPr>
          <a:xfrm>
            <a:off x="571500" y="1905000"/>
            <a:ext cx="5715000" cy="4445000"/>
          </a:xfrm>
          <a:prstGeom prst="roundRect">
            <a:avLst>
              <a:gd name="adj" fmla="val 3000"/>
            </a:avLst>
          </a:prstGeom>
          <a:solidFill>
            <a:srgbClr val="F5F4F1"/>
          </a:solidFill>
          <a:ln w="9525">
            <a:solidFill>
              <a:srgbClr val="E2E0DA"/>
            </a:solidFill>
          </a:ln>
        </p:spPr>
        <p:txBody>
          <a:bodyPr/>
          <a:lstStyle/>
          <a:p>
            <a:endParaRPr/>
          </a:p>
        </p:txBody>
      </p:sp>
      <p:pic>
        <p:nvPicPr>
          <p:cNvPr id="4" name="Picture 3" descr="lifi_sender_pcb.png"/>
          <p:cNvPicPr>
            <a:picLocks noChangeAspect="1"/>
          </p:cNvPicPr>
          <p:nvPr/>
        </p:nvPicPr>
        <p:blipFill>
          <a:blip r:embed="rId3"/>
          <a:stretch>
            <a:fillRect/>
          </a:stretch>
        </p:blipFill>
        <p:spPr>
          <a:xfrm>
            <a:off x="965200" y="2032000"/>
            <a:ext cx="4927600" cy="4191000"/>
          </a:xfrm>
          <a:prstGeom prst="rect">
            <a:avLst/>
          </a:prstGeom>
        </p:spPr>
      </p:pic>
      <p:sp>
        <p:nvSpPr>
          <p:cNvPr id="5" name="TextBox 4"/>
          <p:cNvSpPr txBox="1"/>
          <p:nvPr/>
        </p:nvSpPr>
        <p:spPr>
          <a:xfrm>
            <a:off x="6604000" y="1905000"/>
            <a:ext cx="5016500" cy="4445000"/>
          </a:xfrm>
          <a:prstGeom prst="rect">
            <a:avLst/>
          </a:prstGeom>
          <a:noFill/>
        </p:spPr>
        <p:txBody>
          <a:bodyPr wrap="square" anchor="t" anchorCtr="0">
            <a:spAutoFit/>
          </a:bodyPr>
          <a:lstStyle/>
          <a:p>
            <a:pPr marL="228600" indent="-228600">
              <a:lnSpc>
                <a:spcPct val="100000"/>
              </a:lnSpc>
              <a:spcAft>
                <a:spcPts val="2200"/>
              </a:spcAft>
              <a:buClr>
                <a:srgbClr val="ECBE44"/>
              </a:buClr>
              <a:buFont typeface="Arial"/>
              <a:buChar char="•"/>
            </a:pPr>
            <a:r>
              <a:rPr lang="en-US" sz="1600" b="1" dirty="0">
                <a:solidFill>
                  <a:srgbClr val="0B0B0B"/>
                </a:solidFill>
                <a:latin typeface="Calibri"/>
              </a:rPr>
              <a:t>AES-128-GCM</a:t>
            </a:r>
            <a:r>
              <a:rPr lang="en-US" sz="1600" dirty="0">
                <a:solidFill>
                  <a:srgbClr val="3A3A38"/>
                </a:solidFill>
                <a:latin typeface="Calibri"/>
              </a:rPr>
              <a:t> encrypt → nonce construction → frame → modulate</a:t>
            </a:r>
          </a:p>
          <a:p>
            <a:pPr marL="228600" indent="-228600">
              <a:lnSpc>
                <a:spcPct val="100000"/>
              </a:lnSpc>
              <a:spcAft>
                <a:spcPts val="2200"/>
              </a:spcAft>
              <a:buClr>
                <a:srgbClr val="ECBE44"/>
              </a:buClr>
              <a:buFont typeface="Arial"/>
              <a:buChar char="•"/>
            </a:pPr>
            <a:r>
              <a:rPr lang="en-US" sz="1600" b="1" dirty="0">
                <a:solidFill>
                  <a:srgbClr val="0B0B0B"/>
                </a:solidFill>
                <a:latin typeface="Calibri"/>
              </a:rPr>
              <a:t>Nonce</a:t>
            </a:r>
            <a:r>
              <a:rPr lang="en-US" sz="1600" dirty="0">
                <a:solidFill>
                  <a:srgbClr val="3A3A38"/>
                </a:solidFill>
                <a:latin typeface="Calibri"/>
              </a:rPr>
              <a:t> = 8-byte random boot salt (CTR_DRBG) + 4-byte monotonic counter</a:t>
            </a:r>
          </a:p>
          <a:p>
            <a:pPr marL="228600" indent="-228600">
              <a:lnSpc>
                <a:spcPct val="100000"/>
              </a:lnSpc>
              <a:spcAft>
                <a:spcPts val="2200"/>
              </a:spcAft>
              <a:buClr>
                <a:srgbClr val="ECBE44"/>
              </a:buClr>
              <a:buFont typeface="Arial"/>
              <a:buChar char="•"/>
            </a:pPr>
            <a:r>
              <a:rPr lang="en-US" sz="1600" b="1" dirty="0">
                <a:solidFill>
                  <a:srgbClr val="0B0B0B"/>
                </a:solidFill>
                <a:latin typeface="Calibri"/>
              </a:rPr>
              <a:t>PIO state machine</a:t>
            </a:r>
            <a:r>
              <a:rPr lang="en-US" sz="1600" dirty="0">
                <a:solidFill>
                  <a:srgbClr val="3A3A38"/>
                </a:solidFill>
                <a:latin typeface="Calibri"/>
              </a:rPr>
              <a:t> drives 4 LED channels in lockstep, 1 Mbps, zero CPU overhead during TX</a:t>
            </a:r>
          </a:p>
          <a:p>
            <a:pPr marL="228600" indent="-228600">
              <a:lnSpc>
                <a:spcPct val="100000"/>
              </a:lnSpc>
              <a:spcAft>
                <a:spcPts val="2200"/>
              </a:spcAft>
              <a:buClr>
                <a:srgbClr val="ECBE44"/>
              </a:buClr>
              <a:buFont typeface="Arial"/>
              <a:buChar char="•"/>
            </a:pPr>
            <a:r>
              <a:rPr lang="en-US" sz="1600" b="1" dirty="0">
                <a:solidFill>
                  <a:srgbClr val="0B0B0B"/>
                </a:solidFill>
                <a:latin typeface="Calibri"/>
              </a:rPr>
              <a:t>Frame:</a:t>
            </a:r>
            <a:r>
              <a:rPr lang="en-US" sz="1600" dirty="0">
                <a:solidFill>
                  <a:srgbClr val="3A3A38"/>
                </a:solidFill>
                <a:latin typeface="Calibri"/>
              </a:rPr>
              <a:t> preamble · type · length · nonce · ciphertext · 16B GCM tag · CRC16</a:t>
            </a:r>
          </a:p>
          <a:p>
            <a:pPr marL="228600" indent="-228600">
              <a:lnSpc>
                <a:spcPct val="100000"/>
              </a:lnSpc>
              <a:spcAft>
                <a:spcPts val="2200"/>
              </a:spcAft>
              <a:buClr>
                <a:srgbClr val="ECBE44"/>
              </a:buClr>
              <a:buFont typeface="Arial"/>
              <a:buChar char="•"/>
            </a:pPr>
            <a:r>
              <a:rPr lang="en-US" sz="1600" b="1" dirty="0">
                <a:solidFill>
                  <a:srgbClr val="0B0B0B"/>
                </a:solidFill>
                <a:latin typeface="Calibri"/>
              </a:rPr>
              <a:t>Dual-slot A/B flash key storage,</a:t>
            </a:r>
            <a:r>
              <a:rPr lang="en-US" sz="1600" dirty="0">
                <a:solidFill>
                  <a:srgbClr val="3A3A38"/>
                </a:solidFill>
                <a:latin typeface="Calibri"/>
              </a:rPr>
              <a:t> SHA-256 integrity hash, secure_zero() RAM clearing</a:t>
            </a:r>
          </a:p>
        </p:txBody>
      </p:sp>
      <p:pic>
        <p:nvPicPr>
          <p:cNvPr id="10" name="Picture 9" descr="A white background with text&#10;&#10;AI-generated content may be incorrect.">
            <a:extLst>
              <a:ext uri="{FF2B5EF4-FFF2-40B4-BE49-F238E27FC236}">
                <a16:creationId xmlns:a16="http://schemas.microsoft.com/office/drawing/2014/main" id="{34E6A257-91F6-7226-7C72-ED83C89189E1}"/>
              </a:ext>
            </a:extLst>
          </p:cNvPr>
          <p:cNvPicPr>
            <a:picLocks noChangeAspect="1"/>
          </p:cNvPicPr>
          <p:nvPr/>
        </p:nvPicPr>
        <p:blipFill>
          <a:blip r:embed="rId4"/>
          <a:stretch>
            <a:fillRect/>
          </a:stretch>
        </p:blipFill>
        <p:spPr>
          <a:xfrm>
            <a:off x="9545121" y="-4718"/>
            <a:ext cx="2646879" cy="1477328"/>
          </a:xfrm>
          <a:prstGeom prst="rect">
            <a:avLst/>
          </a:prstGeom>
        </p:spPr>
      </p:pic>
      <p:sp>
        <p:nvSpPr>
          <p:cNvPr id="11" name="Rectangle 10">
            <a:extLst>
              <a:ext uri="{FF2B5EF4-FFF2-40B4-BE49-F238E27FC236}">
                <a16:creationId xmlns:a16="http://schemas.microsoft.com/office/drawing/2014/main" id="{8819F131-0369-0035-1152-064B70696DB2}"/>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60" name="Divider"/>
          <p:cNvSpPr/>
          <p:nvPr/>
        </p:nvSpPr>
        <p:spPr>
          <a:xfrm>
            <a:off x="571500" y="1676400"/>
            <a:ext cx="11049000" cy="25400"/>
          </a:xfrm>
          <a:prstGeom prst="rect">
            <a:avLst/>
          </a:prstGeom>
          <a:solidFill>
            <a:srgbClr val="ECBE44"/>
          </a:solidFill>
          <a:ln>
            <a:noFill/>
          </a:ln>
        </p:spPr>
        <p:txBody>
          <a:bodyPr/>
          <a:lstStyle/>
          <a:p>
            <a:endParaRPr/>
          </a:p>
        </p:txBody>
      </p:sp>
    </p:spTree>
    <p:extLst>
      <p:ext uri="{BB962C8B-B14F-4D97-AF65-F5344CB8AC3E}">
        <p14:creationId xmlns:p14="http://schemas.microsoft.com/office/powerpoint/2010/main" val="2674303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71500" y="635000"/>
            <a:ext cx="7620000" cy="584200"/>
          </a:xfrm>
          <a:prstGeom prst="rect">
            <a:avLst/>
          </a:prstGeom>
          <a:noFill/>
        </p:spPr>
        <p:txBody>
          <a:bodyPr wrap="square">
            <a:spAutoFit/>
          </a:bodyPr>
          <a:lstStyle/>
          <a:p>
            <a:r>
              <a:rPr sz="2900" b="1" dirty="0">
                <a:solidFill>
                  <a:srgbClr val="0B0B0B"/>
                </a:solidFill>
                <a:latin typeface="Calibri"/>
              </a:rPr>
              <a:t>Client Device (Receiver)</a:t>
            </a:r>
          </a:p>
        </p:txBody>
      </p:sp>
      <p:sp>
        <p:nvSpPr>
          <p:cNvPr id="3" name="TextBox 2"/>
          <p:cNvSpPr txBox="1"/>
          <p:nvPr/>
        </p:nvSpPr>
        <p:spPr>
          <a:xfrm>
            <a:off x="571500" y="1244600"/>
            <a:ext cx="7620000" cy="330200"/>
          </a:xfrm>
          <a:prstGeom prst="rect">
            <a:avLst/>
          </a:prstGeom>
          <a:noFill/>
        </p:spPr>
        <p:txBody>
          <a:bodyPr wrap="square">
            <a:spAutoFit/>
          </a:bodyPr>
          <a:lstStyle/>
          <a:p>
            <a:pPr>
              <a:buNone/>
            </a:pPr>
            <a:r>
              <a:rPr lang="en-US" sz="1500" i="1" dirty="0">
                <a:solidFill>
                  <a:srgbClr val="46443F"/>
                </a:solidFill>
                <a:latin typeface="Calibri"/>
              </a:rPr>
              <a:t>Pico 2 H · RP2350</a:t>
            </a:r>
          </a:p>
        </p:txBody>
      </p:sp>
      <p:sp>
        <p:nvSpPr>
          <p:cNvPr id="61" name="ImageCard"/>
          <p:cNvSpPr/>
          <p:nvPr/>
        </p:nvSpPr>
        <p:spPr>
          <a:xfrm>
            <a:off x="571500" y="1905000"/>
            <a:ext cx="5715000" cy="4445000"/>
          </a:xfrm>
          <a:prstGeom prst="roundRect">
            <a:avLst>
              <a:gd name="adj" fmla="val 3000"/>
            </a:avLst>
          </a:prstGeom>
          <a:solidFill>
            <a:srgbClr val="F5F4F1"/>
          </a:solidFill>
          <a:ln w="9525">
            <a:solidFill>
              <a:srgbClr val="E2E0DA"/>
            </a:solidFill>
          </a:ln>
        </p:spPr>
        <p:txBody>
          <a:bodyPr/>
          <a:lstStyle/>
          <a:p>
            <a:endParaRPr/>
          </a:p>
        </p:txBody>
      </p:sp>
      <p:pic>
        <p:nvPicPr>
          <p:cNvPr id="4" name="Picture 3" descr="lifi_receiver_pcb.png"/>
          <p:cNvPicPr>
            <a:picLocks noChangeAspect="1"/>
          </p:cNvPicPr>
          <p:nvPr/>
        </p:nvPicPr>
        <p:blipFill>
          <a:blip r:embed="rId3"/>
          <a:stretch>
            <a:fillRect/>
          </a:stretch>
        </p:blipFill>
        <p:spPr>
          <a:xfrm>
            <a:off x="736600" y="2654300"/>
            <a:ext cx="5384800" cy="2933700"/>
          </a:xfrm>
          <a:prstGeom prst="rect">
            <a:avLst/>
          </a:prstGeom>
        </p:spPr>
      </p:pic>
      <p:sp>
        <p:nvSpPr>
          <p:cNvPr id="5" name="TextBox 4"/>
          <p:cNvSpPr txBox="1"/>
          <p:nvPr/>
        </p:nvSpPr>
        <p:spPr>
          <a:xfrm>
            <a:off x="6604000" y="1905000"/>
            <a:ext cx="5016500" cy="4445000"/>
          </a:xfrm>
          <a:prstGeom prst="rect">
            <a:avLst/>
          </a:prstGeom>
          <a:noFill/>
        </p:spPr>
        <p:txBody>
          <a:bodyPr wrap="square" anchor="t" anchorCtr="0">
            <a:spAutoFit/>
          </a:bodyPr>
          <a:lstStyle/>
          <a:p>
            <a:pPr marL="228600" indent="-228600">
              <a:lnSpc>
                <a:spcPct val="100000"/>
              </a:lnSpc>
              <a:spcAft>
                <a:spcPts val="3000"/>
              </a:spcAft>
              <a:buClr>
                <a:srgbClr val="ECBE44"/>
              </a:buClr>
              <a:buFont typeface="Arial"/>
              <a:buChar char="•"/>
            </a:pPr>
            <a:r>
              <a:rPr lang="en-US" sz="1600" b="1" dirty="0">
                <a:solidFill>
                  <a:srgbClr val="0B0B0B"/>
                </a:solidFill>
                <a:latin typeface="Calibri"/>
              </a:rPr>
              <a:t>Photodiode (SFH 2400)</a:t>
            </a:r>
            <a:r>
              <a:rPr lang="en-US" sz="1600" dirty="0">
                <a:solidFill>
                  <a:srgbClr val="3A3A38"/>
                </a:solidFill>
                <a:latin typeface="Calibri"/>
              </a:rPr>
              <a:t> → OPA381 TIA → TLV3501 comparator → PIO UART RX</a:t>
            </a:r>
          </a:p>
          <a:p>
            <a:pPr marL="228600" indent="-228600">
              <a:lnSpc>
                <a:spcPct val="100000"/>
              </a:lnSpc>
              <a:spcAft>
                <a:spcPts val="3000"/>
              </a:spcAft>
              <a:buClr>
                <a:srgbClr val="ECBE44"/>
              </a:buClr>
              <a:buFont typeface="Arial"/>
              <a:buChar char="•"/>
            </a:pPr>
            <a:r>
              <a:rPr lang="en-US" sz="1600" b="1" dirty="0">
                <a:solidFill>
                  <a:srgbClr val="0B0B0B"/>
                </a:solidFill>
                <a:latin typeface="Calibri"/>
              </a:rPr>
              <a:t>Programmable threshold</a:t>
            </a:r>
            <a:r>
              <a:rPr lang="en-US" sz="1600" dirty="0">
                <a:solidFill>
                  <a:srgbClr val="3A3A38"/>
                </a:solidFill>
                <a:latin typeface="Calibri"/>
              </a:rPr>
              <a:t> via MCP4725 12-bit DAC, tuned each boot (~0.8V)</a:t>
            </a:r>
          </a:p>
          <a:p>
            <a:pPr marL="228600" indent="-228600">
              <a:lnSpc>
                <a:spcPct val="100000"/>
              </a:lnSpc>
              <a:spcAft>
                <a:spcPts val="3000"/>
              </a:spcAft>
              <a:buClr>
                <a:srgbClr val="ECBE44"/>
              </a:buClr>
              <a:buFont typeface="Arial"/>
              <a:buChar char="•"/>
            </a:pPr>
            <a:r>
              <a:rPr lang="en-US" sz="1600" b="1" dirty="0">
                <a:solidFill>
                  <a:srgbClr val="0B0B0B"/>
                </a:solidFill>
                <a:latin typeface="Calibri"/>
              </a:rPr>
              <a:t>64-entry nonce window</a:t>
            </a:r>
            <a:r>
              <a:rPr lang="en-US" sz="1600" dirty="0">
                <a:solidFill>
                  <a:srgbClr val="3A3A38"/>
                </a:solidFill>
                <a:latin typeface="Calibri"/>
              </a:rPr>
              <a:t> checked before decryption is ever attempted</a:t>
            </a:r>
          </a:p>
          <a:p>
            <a:pPr marL="228600" indent="-228600">
              <a:lnSpc>
                <a:spcPct val="100000"/>
              </a:lnSpc>
              <a:spcAft>
                <a:spcPts val="3000"/>
              </a:spcAft>
              <a:buClr>
                <a:srgbClr val="ECBE44"/>
              </a:buClr>
              <a:buFont typeface="Arial"/>
              <a:buChar char="•"/>
            </a:pPr>
            <a:r>
              <a:rPr lang="en-US" sz="1600" b="1" dirty="0">
                <a:solidFill>
                  <a:srgbClr val="0B0B0B"/>
                </a:solidFill>
                <a:latin typeface="Calibri"/>
              </a:rPr>
              <a:t>Robotic integration:</a:t>
            </a:r>
            <a:r>
              <a:rPr lang="en-US" sz="1600" dirty="0">
                <a:solidFill>
                  <a:srgbClr val="3A3A38"/>
                </a:solidFill>
                <a:latin typeface="Calibri"/>
              </a:rPr>
              <a:t> built for Pololu 3pi+ headers, LiPo + buck-boost, USB-C charging</a:t>
            </a:r>
          </a:p>
          <a:p>
            <a:pPr marL="228600" indent="-228600">
              <a:lnSpc>
                <a:spcPct val="100000"/>
              </a:lnSpc>
              <a:spcAft>
                <a:spcPts val="3000"/>
              </a:spcAft>
              <a:buClr>
                <a:srgbClr val="ECBE44"/>
              </a:buClr>
              <a:buFont typeface="Arial"/>
              <a:buChar char="•"/>
            </a:pPr>
            <a:r>
              <a:rPr lang="en-US" sz="1600" b="1" dirty="0">
                <a:solidFill>
                  <a:srgbClr val="0B0B0B"/>
                </a:solidFill>
                <a:latin typeface="Calibri"/>
              </a:rPr>
              <a:t>Untethered operation</a:t>
            </a:r>
            <a:r>
              <a:rPr lang="en-US" sz="1600" dirty="0">
                <a:solidFill>
                  <a:srgbClr val="3A3A38"/>
                </a:solidFill>
                <a:latin typeface="Calibri"/>
              </a:rPr>
              <a:t> — same board runs aboard a mobile CPS platform</a:t>
            </a:r>
          </a:p>
        </p:txBody>
      </p:sp>
      <p:pic>
        <p:nvPicPr>
          <p:cNvPr id="6" name="Picture 5" descr="A white background with text&#10;&#10;AI-generated content may be incorrect.">
            <a:extLst>
              <a:ext uri="{FF2B5EF4-FFF2-40B4-BE49-F238E27FC236}">
                <a16:creationId xmlns:a16="http://schemas.microsoft.com/office/drawing/2014/main" id="{69822B9B-F03E-64DC-FFAD-541EFB29C299}"/>
              </a:ext>
            </a:extLst>
          </p:cNvPr>
          <p:cNvPicPr>
            <a:picLocks noChangeAspect="1"/>
          </p:cNvPicPr>
          <p:nvPr/>
        </p:nvPicPr>
        <p:blipFill>
          <a:blip r:embed="rId4"/>
          <a:stretch>
            <a:fillRect/>
          </a:stretch>
        </p:blipFill>
        <p:spPr>
          <a:xfrm>
            <a:off x="9545121" y="-4718"/>
            <a:ext cx="2646879" cy="1477328"/>
          </a:xfrm>
          <a:prstGeom prst="rect">
            <a:avLst/>
          </a:prstGeom>
        </p:spPr>
      </p:pic>
      <p:sp>
        <p:nvSpPr>
          <p:cNvPr id="7" name="Rectangle 6">
            <a:extLst>
              <a:ext uri="{FF2B5EF4-FFF2-40B4-BE49-F238E27FC236}">
                <a16:creationId xmlns:a16="http://schemas.microsoft.com/office/drawing/2014/main" id="{42872188-DCB7-EBC2-8999-11FB8AEE3D08}"/>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60" name="Divider"/>
          <p:cNvSpPr/>
          <p:nvPr/>
        </p:nvSpPr>
        <p:spPr>
          <a:xfrm>
            <a:off x="571500" y="1676400"/>
            <a:ext cx="11049000" cy="25400"/>
          </a:xfrm>
          <a:prstGeom prst="rect">
            <a:avLst/>
          </a:prstGeom>
          <a:solidFill>
            <a:srgbClr val="ECBE44"/>
          </a:solidFill>
          <a:ln>
            <a:noFill/>
          </a:ln>
        </p:spPr>
        <p:txBody>
          <a:bodyPr/>
          <a:lstStyle/>
          <a:p>
            <a:endParaRPr/>
          </a:p>
        </p:txBody>
      </p:sp>
    </p:spTree>
    <p:extLst>
      <p:ext uri="{BB962C8B-B14F-4D97-AF65-F5344CB8AC3E}">
        <p14:creationId xmlns:p14="http://schemas.microsoft.com/office/powerpoint/2010/main" val="36166456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932688"/>
            <a:ext cx="11155680" cy="822960"/>
          </a:xfrm>
          <a:prstGeom prst="rect">
            <a:avLst/>
          </a:prstGeom>
          <a:noFill/>
        </p:spPr>
        <p:txBody>
          <a:bodyPr wrap="square">
            <a:spAutoFit/>
          </a:bodyPr>
          <a:lstStyle/>
          <a:p>
            <a:r>
              <a:rPr sz="2900" b="1">
                <a:solidFill>
                  <a:srgbClr val="0B0B0B"/>
                </a:solidFill>
                <a:latin typeface="Calibri"/>
              </a:rPr>
              <a:t>SST / IoTAuth — the Security Foundation</a:t>
            </a:r>
          </a:p>
        </p:txBody>
      </p:sp>
      <p:sp>
        <p:nvSpPr>
          <p:cNvPr id="3" name="TextBox 2"/>
          <p:cNvSpPr txBox="1"/>
          <p:nvPr/>
        </p:nvSpPr>
        <p:spPr>
          <a:xfrm>
            <a:off x="518160" y="1499616"/>
            <a:ext cx="11155680" cy="457200"/>
          </a:xfrm>
          <a:prstGeom prst="rect">
            <a:avLst/>
          </a:prstGeom>
          <a:noFill/>
        </p:spPr>
        <p:txBody>
          <a:bodyPr wrap="square">
            <a:spAutoFit/>
          </a:bodyPr>
          <a:lstStyle/>
          <a:p>
            <a:r>
              <a:rPr sz="1350" i="1">
                <a:solidFill>
                  <a:srgbClr val="898781"/>
                </a:solidFill>
                <a:latin typeface="Calibri"/>
              </a:rPr>
              <a:t>Not a homebrew crypto stack — a published, decade-long IoT authorization research line</a:t>
            </a:r>
          </a:p>
        </p:txBody>
      </p:sp>
      <p:sp>
        <p:nvSpPr>
          <p:cNvPr id="4" name="TextBox 3"/>
          <p:cNvSpPr txBox="1"/>
          <p:nvPr/>
        </p:nvSpPr>
        <p:spPr>
          <a:xfrm>
            <a:off x="701040" y="2121408"/>
            <a:ext cx="10789920" cy="2762295"/>
          </a:xfrm>
          <a:prstGeom prst="rect">
            <a:avLst/>
          </a:prstGeom>
          <a:noFill/>
        </p:spPr>
        <p:txBody>
          <a:bodyPr wrap="square">
            <a:spAutoFit/>
          </a:bodyPr>
          <a:lstStyle/>
          <a:p>
            <a:pPr>
              <a:spcAft>
                <a:spcPts val="1100"/>
              </a:spcAft>
            </a:pPr>
            <a:r>
              <a:rPr sz="1500" dirty="0">
                <a:solidFill>
                  <a:srgbClr val="0B0B0B"/>
                </a:solidFill>
                <a:latin typeface="Calibri"/>
              </a:rPr>
              <a:t>●   SST (Secure Swarm Toolkit): open-source authentication &amp; authorization framework for distributed IoT systems</a:t>
            </a:r>
          </a:p>
          <a:p>
            <a:pPr>
              <a:spcAft>
                <a:spcPts val="1100"/>
              </a:spcAft>
            </a:pPr>
            <a:r>
              <a:rPr sz="1500" dirty="0">
                <a:solidFill>
                  <a:srgbClr val="0B0B0B"/>
                </a:solidFill>
                <a:latin typeface="Calibri"/>
              </a:rPr>
              <a:t>●   Auth = the local, automated point of authorization — two roles:</a:t>
            </a:r>
          </a:p>
          <a:p>
            <a:pPr lvl="1">
              <a:spcAft>
                <a:spcPts val="700"/>
              </a:spcAft>
            </a:pPr>
            <a:r>
              <a:rPr sz="1300" dirty="0">
                <a:solidFill>
                  <a:srgbClr val="52514E"/>
                </a:solidFill>
                <a:latin typeface="Calibri"/>
              </a:rPr>
              <a:t>‒   Authenticates/authorizes its own locally registered entities</a:t>
            </a:r>
          </a:p>
          <a:p>
            <a:pPr lvl="1">
              <a:spcAft>
                <a:spcPts val="700"/>
              </a:spcAft>
            </a:pPr>
            <a:r>
              <a:rPr sz="1300" dirty="0">
                <a:solidFill>
                  <a:srgbClr val="52514E"/>
                </a:solidFill>
                <a:latin typeface="Calibri"/>
              </a:rPr>
              <a:t>‒   Bridges authorization between local entities and the wider network</a:t>
            </a:r>
          </a:p>
          <a:p>
            <a:pPr>
              <a:spcAft>
                <a:spcPts val="1100"/>
              </a:spcAft>
            </a:pPr>
            <a:r>
              <a:rPr sz="1500" dirty="0">
                <a:solidFill>
                  <a:srgbClr val="0B0B0B"/>
                </a:solidFill>
                <a:latin typeface="Calibri"/>
              </a:rPr>
              <a:t>●   Architectural concept: “locally centralized, globally distributed” authentication and authorization</a:t>
            </a:r>
          </a:p>
          <a:p>
            <a:pPr>
              <a:spcAft>
                <a:spcPts val="1100"/>
              </a:spcAft>
            </a:pPr>
            <a:r>
              <a:rPr sz="1500" dirty="0">
                <a:solidFill>
                  <a:srgbClr val="0B0B0B"/>
                </a:solidFill>
                <a:latin typeface="Calibri"/>
              </a:rPr>
              <a:t>●   Published research lineage spanning a decade: </a:t>
            </a:r>
            <a:r>
              <a:rPr sz="1500" dirty="0" err="1">
                <a:solidFill>
                  <a:srgbClr val="0B0B0B"/>
                </a:solidFill>
                <a:latin typeface="Calibri"/>
              </a:rPr>
              <a:t>IoTDI</a:t>
            </a:r>
            <a:r>
              <a:rPr sz="1500" dirty="0">
                <a:solidFill>
                  <a:srgbClr val="0B0B0B"/>
                </a:solidFill>
                <a:latin typeface="Calibri"/>
              </a:rPr>
              <a:t> '17, </a:t>
            </a:r>
            <a:r>
              <a:rPr sz="1500" dirty="0" err="1">
                <a:solidFill>
                  <a:srgbClr val="0B0B0B"/>
                </a:solidFill>
                <a:latin typeface="Calibri"/>
              </a:rPr>
              <a:t>FiCloud</a:t>
            </a:r>
            <a:r>
              <a:rPr sz="1500" dirty="0">
                <a:solidFill>
                  <a:srgbClr val="0B0B0B"/>
                </a:solidFill>
                <a:latin typeface="Calibri"/>
              </a:rPr>
              <a:t> '16, IT Professional '17, ACM TIOT '20, </a:t>
            </a:r>
            <a:r>
              <a:rPr sz="1500" dirty="0" err="1">
                <a:solidFill>
                  <a:srgbClr val="0B0B0B"/>
                </a:solidFill>
                <a:latin typeface="Calibri"/>
              </a:rPr>
              <a:t>SoftwareX</a:t>
            </a:r>
            <a:r>
              <a:rPr sz="1500" dirty="0">
                <a:solidFill>
                  <a:srgbClr val="0B0B0B"/>
                </a:solidFill>
                <a:latin typeface="Calibri"/>
              </a:rPr>
              <a:t> '23</a:t>
            </a:r>
          </a:p>
          <a:p>
            <a:pPr>
              <a:spcAft>
                <a:spcPts val="1100"/>
              </a:spcAft>
            </a:pPr>
            <a:r>
              <a:rPr sz="1500" dirty="0">
                <a:solidFill>
                  <a:srgbClr val="0B0B0B"/>
                </a:solidFill>
                <a:latin typeface="Calibri"/>
              </a:rPr>
              <a:t>●   Built and maintained at ASU KIM Labs </a:t>
            </a:r>
            <a:endParaRPr lang="en-US" sz="1500" dirty="0">
              <a:solidFill>
                <a:srgbClr val="0B0B0B"/>
              </a:solidFill>
              <a:latin typeface="Calibri"/>
            </a:endParaRPr>
          </a:p>
          <a:p>
            <a:pPr>
              <a:spcAft>
                <a:spcPts val="1100"/>
              </a:spcAft>
            </a:pPr>
            <a:r>
              <a:rPr sz="1500" dirty="0">
                <a:solidFill>
                  <a:srgbClr val="0B0B0B"/>
                </a:solidFill>
                <a:latin typeface="Calibri"/>
              </a:rPr>
              <a:t>●   This work integrates via the </a:t>
            </a:r>
            <a:r>
              <a:rPr sz="1500" dirty="0" err="1">
                <a:solidFill>
                  <a:srgbClr val="0B0B0B"/>
                </a:solidFill>
                <a:latin typeface="Calibri"/>
              </a:rPr>
              <a:t>sst</a:t>
            </a:r>
            <a:r>
              <a:rPr sz="1500" dirty="0">
                <a:solidFill>
                  <a:srgbClr val="0B0B0B"/>
                </a:solidFill>
                <a:latin typeface="Calibri"/>
              </a:rPr>
              <a:t>-c-</a:t>
            </a:r>
            <a:r>
              <a:rPr sz="1500" dirty="0" err="1">
                <a:solidFill>
                  <a:srgbClr val="0B0B0B"/>
                </a:solidFill>
                <a:latin typeface="Calibri"/>
              </a:rPr>
              <a:t>api</a:t>
            </a:r>
            <a:r>
              <a:rPr sz="1500" dirty="0">
                <a:solidFill>
                  <a:srgbClr val="0B0B0B"/>
                </a:solidFill>
                <a:latin typeface="Calibri"/>
              </a:rPr>
              <a:t> C library, rather than reimplementing key distribution from scratch</a:t>
            </a:r>
          </a:p>
        </p:txBody>
      </p:sp>
      <p:pic>
        <p:nvPicPr>
          <p:cNvPr id="5" name="Picture 4" descr="A white background with text&#10;&#10;AI-generated content may be incorrect.">
            <a:extLst>
              <a:ext uri="{FF2B5EF4-FFF2-40B4-BE49-F238E27FC236}">
                <a16:creationId xmlns:a16="http://schemas.microsoft.com/office/drawing/2014/main" id="{FD186EBB-D5B1-D227-8BA2-572D39B76F41}"/>
              </a:ext>
            </a:extLst>
          </p:cNvPr>
          <p:cNvPicPr>
            <a:picLocks noChangeAspect="1"/>
          </p:cNvPicPr>
          <p:nvPr/>
        </p:nvPicPr>
        <p:blipFill>
          <a:blip r:embed="rId3"/>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C360D6C2-2345-AF65-F8EC-35635716C6A4}"/>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1127352"/>
            <a:ext cx="11155680" cy="822960"/>
          </a:xfrm>
          <a:prstGeom prst="rect">
            <a:avLst/>
          </a:prstGeom>
          <a:noFill/>
        </p:spPr>
        <p:txBody>
          <a:bodyPr wrap="square">
            <a:spAutoFit/>
          </a:bodyPr>
          <a:lstStyle/>
          <a:p>
            <a:r>
              <a:rPr sz="2900" b="1" dirty="0">
                <a:solidFill>
                  <a:srgbClr val="0B0B0B"/>
                </a:solidFill>
                <a:latin typeface="Calibri"/>
              </a:rPr>
              <a:t>Sender Provisioning &amp; Key Rotation</a:t>
            </a:r>
          </a:p>
        </p:txBody>
      </p:sp>
      <p:sp>
        <p:nvSpPr>
          <p:cNvPr id="3" name="TextBox 2"/>
          <p:cNvSpPr txBox="1"/>
          <p:nvPr/>
        </p:nvSpPr>
        <p:spPr>
          <a:xfrm>
            <a:off x="701040" y="1879600"/>
            <a:ext cx="10789920" cy="4846320"/>
          </a:xfrm>
          <a:prstGeom prst="rect">
            <a:avLst/>
          </a:prstGeom>
          <a:noFill/>
        </p:spPr>
        <p:txBody>
          <a:bodyPr wrap="square">
            <a:spAutoFit/>
          </a:bodyPr>
          <a:lstStyle/>
          <a:p>
            <a:pPr>
              <a:spcAft>
                <a:spcPts val="1100"/>
              </a:spcAft>
            </a:pPr>
            <a:r>
              <a:rPr sz="1550" dirty="0">
                <a:solidFill>
                  <a:srgbClr val="0B0B0B"/>
                </a:solidFill>
                <a:latin typeface="Calibri"/>
              </a:rPr>
              <a:t>●   </a:t>
            </a:r>
            <a:r>
              <a:rPr sz="1550" dirty="0" err="1">
                <a:solidFill>
                  <a:srgbClr val="0B0B0B"/>
                </a:solidFill>
                <a:latin typeface="Calibri"/>
              </a:rPr>
              <a:t>IoTAuth</a:t>
            </a:r>
            <a:r>
              <a:rPr sz="1550" dirty="0">
                <a:solidFill>
                  <a:srgbClr val="0B0B0B"/>
                </a:solidFill>
                <a:latin typeface="Calibri"/>
              </a:rPr>
              <a:t> Server (Java, TLS-protected) ↔ </a:t>
            </a:r>
            <a:r>
              <a:rPr sz="1550" dirty="0" err="1">
                <a:solidFill>
                  <a:srgbClr val="0B0B0B"/>
                </a:solidFill>
                <a:latin typeface="Calibri"/>
              </a:rPr>
              <a:t>keys_receiver</a:t>
            </a:r>
            <a:r>
              <a:rPr sz="1550" dirty="0">
                <a:solidFill>
                  <a:srgbClr val="0B0B0B"/>
                </a:solidFill>
                <a:latin typeface="Calibri"/>
              </a:rPr>
              <a:t> (Linux host) via the SST C API</a:t>
            </a:r>
          </a:p>
          <a:p>
            <a:pPr lvl="1">
              <a:spcAft>
                <a:spcPts val="700"/>
              </a:spcAft>
            </a:pPr>
            <a:r>
              <a:rPr sz="1350" dirty="0">
                <a:solidFill>
                  <a:srgbClr val="52514E"/>
                </a:solidFill>
                <a:latin typeface="Calibri"/>
              </a:rPr>
              <a:t>‒   </a:t>
            </a:r>
            <a:r>
              <a:rPr sz="1350" dirty="0" err="1">
                <a:solidFill>
                  <a:srgbClr val="52514E"/>
                </a:solidFill>
                <a:latin typeface="Calibri"/>
              </a:rPr>
              <a:t>init_SST</a:t>
            </a:r>
            <a:r>
              <a:rPr sz="1350" dirty="0">
                <a:solidFill>
                  <a:srgbClr val="52514E"/>
                </a:solidFill>
                <a:latin typeface="Calibri"/>
              </a:rPr>
              <a:t>() → </a:t>
            </a:r>
            <a:r>
              <a:rPr sz="1350" dirty="0" err="1">
                <a:solidFill>
                  <a:srgbClr val="52514E"/>
                </a:solidFill>
                <a:latin typeface="Calibri"/>
              </a:rPr>
              <a:t>get_session_key</a:t>
            </a:r>
            <a:r>
              <a:rPr sz="1350" dirty="0">
                <a:solidFill>
                  <a:srgbClr val="52514E"/>
                </a:solidFill>
                <a:latin typeface="Calibri"/>
              </a:rPr>
              <a:t>() → </a:t>
            </a:r>
            <a:r>
              <a:rPr sz="1350" dirty="0" err="1">
                <a:solidFill>
                  <a:srgbClr val="52514E"/>
                </a:solidFill>
                <a:latin typeface="Calibri"/>
              </a:rPr>
              <a:t>session_key_t</a:t>
            </a:r>
            <a:r>
              <a:rPr sz="1350" dirty="0">
                <a:solidFill>
                  <a:srgbClr val="52514E"/>
                </a:solidFill>
                <a:latin typeface="Calibri"/>
              </a:rPr>
              <a:t> { key ID, cipher key, MAC key, mode, validity }</a:t>
            </a:r>
          </a:p>
          <a:p>
            <a:pPr>
              <a:spcAft>
                <a:spcPts val="1100"/>
              </a:spcAft>
            </a:pPr>
            <a:r>
              <a:rPr sz="1550" dirty="0">
                <a:solidFill>
                  <a:srgbClr val="0B0B0B"/>
                </a:solidFill>
                <a:latin typeface="Calibri"/>
              </a:rPr>
              <a:t>●   Session key delivered to the Pico sender over a dedicated UART channel (1 Mbps)</a:t>
            </a:r>
          </a:p>
          <a:p>
            <a:pPr>
              <a:spcAft>
                <a:spcPts val="1100"/>
              </a:spcAft>
            </a:pPr>
            <a:r>
              <a:rPr sz="1550" dirty="0">
                <a:solidFill>
                  <a:srgbClr val="0B0B0B"/>
                </a:solidFill>
                <a:latin typeface="Calibri"/>
              </a:rPr>
              <a:t>●   Delivery is confirmed, not assumed — a 4-state HMAC handshake between host and sender:</a:t>
            </a:r>
          </a:p>
          <a:p>
            <a:pPr lvl="1">
              <a:spcAft>
                <a:spcPts val="700"/>
              </a:spcAft>
            </a:pPr>
            <a:r>
              <a:rPr sz="1350" dirty="0">
                <a:solidFill>
                  <a:srgbClr val="52514E"/>
                </a:solidFill>
                <a:latin typeface="Calibri"/>
              </a:rPr>
              <a:t>‒   IDLE → send challenge → WAITING_FOR_YES (ACK) → WAITING_FOR_ACK (KEY_OK) → WAITING_FOR_HMAC_RESP → verified</a:t>
            </a:r>
          </a:p>
          <a:p>
            <a:pPr>
              <a:spcAft>
                <a:spcPts val="1100"/>
              </a:spcAft>
            </a:pPr>
            <a:r>
              <a:rPr sz="1550" dirty="0">
                <a:solidFill>
                  <a:srgbClr val="0B0B0B"/>
                </a:solidFill>
                <a:latin typeface="Calibri"/>
              </a:rPr>
              <a:t>●   Only once the HMAC response matches does the host consider the key genuinely loaded</a:t>
            </a:r>
          </a:p>
          <a:p>
            <a:pPr>
              <a:spcAft>
                <a:spcPts val="1100"/>
              </a:spcAft>
            </a:pPr>
            <a:r>
              <a:rPr sz="1550" dirty="0">
                <a:solidFill>
                  <a:srgbClr val="0B0B0B"/>
                </a:solidFill>
                <a:latin typeface="Calibri"/>
              </a:rPr>
              <a:t>●   Keys persist in dual-slot (A/B) flash, SHA-256 integrity-checked — rotation writes the inactive slot first, old slot kept as rollback</a:t>
            </a:r>
          </a:p>
        </p:txBody>
      </p:sp>
      <p:pic>
        <p:nvPicPr>
          <p:cNvPr id="4" name="Picture 3" descr="A white background with text&#10;&#10;AI-generated content may be incorrect.">
            <a:extLst>
              <a:ext uri="{FF2B5EF4-FFF2-40B4-BE49-F238E27FC236}">
                <a16:creationId xmlns:a16="http://schemas.microsoft.com/office/drawing/2014/main" id="{60378733-A5B4-5FB6-E2A7-C4B05769043B}"/>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DC2415C6-7601-AB30-B6A9-E5502E006843}"/>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801303"/>
            <a:ext cx="11155680" cy="822960"/>
          </a:xfrm>
          <a:prstGeom prst="rect">
            <a:avLst/>
          </a:prstGeom>
          <a:noFill/>
        </p:spPr>
        <p:txBody>
          <a:bodyPr wrap="square">
            <a:spAutoFit/>
          </a:bodyPr>
          <a:lstStyle/>
          <a:p>
            <a:r>
              <a:rPr sz="2900" b="1" dirty="0">
                <a:solidFill>
                  <a:srgbClr val="0B0B0B"/>
                </a:solidFill>
                <a:latin typeface="Calibri"/>
              </a:rPr>
              <a:t>Auth's Role Doesn't Stop After Provisioning</a:t>
            </a:r>
          </a:p>
        </p:txBody>
      </p:sp>
      <p:pic>
        <p:nvPicPr>
          <p:cNvPr id="3" name="Picture 2" descr="sst_auth_role.png"/>
          <p:cNvPicPr>
            <a:picLocks noChangeAspect="1"/>
          </p:cNvPicPr>
          <p:nvPr/>
        </p:nvPicPr>
        <p:blipFill>
          <a:blip r:embed="rId3"/>
          <a:stretch>
            <a:fillRect/>
          </a:stretch>
        </p:blipFill>
        <p:spPr>
          <a:xfrm>
            <a:off x="2818295" y="1417320"/>
            <a:ext cx="6555105" cy="5074920"/>
          </a:xfrm>
          <a:prstGeom prst="rect">
            <a:avLst/>
          </a:prstGeom>
        </p:spPr>
      </p:pic>
      <p:pic>
        <p:nvPicPr>
          <p:cNvPr id="4" name="Picture 3" descr="A white background with text&#10;&#10;AI-generated content may be incorrect.">
            <a:extLst>
              <a:ext uri="{FF2B5EF4-FFF2-40B4-BE49-F238E27FC236}">
                <a16:creationId xmlns:a16="http://schemas.microsoft.com/office/drawing/2014/main" id="{842F10B3-DB57-3EBF-10AD-BD6C1B2514DF}"/>
              </a:ext>
            </a:extLst>
          </p:cNvPr>
          <p:cNvPicPr>
            <a:picLocks noChangeAspect="1"/>
          </p:cNvPicPr>
          <p:nvPr/>
        </p:nvPicPr>
        <p:blipFill>
          <a:blip r:embed="rId4"/>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A9039314-DA31-4692-9C1D-F224572C01CF}"/>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33400" y="777240"/>
            <a:ext cx="11155680" cy="538609"/>
          </a:xfrm>
          <a:prstGeom prst="rect">
            <a:avLst/>
          </a:prstGeom>
          <a:noFill/>
        </p:spPr>
        <p:txBody>
          <a:bodyPr wrap="square">
            <a:spAutoFit/>
          </a:bodyPr>
          <a:lstStyle/>
          <a:p>
            <a:r>
              <a:rPr lang="en-US" sz="2900" b="1" dirty="0">
                <a:solidFill>
                  <a:srgbClr val="0B0B0B"/>
                </a:solidFill>
                <a:latin typeface="Calibri"/>
              </a:rPr>
              <a:t>Protocol Flow — Beacon to Authorization Grant</a:t>
            </a:r>
          </a:p>
        </p:txBody>
      </p:sp>
      <p:sp>
        <p:nvSpPr>
          <p:cNvPr id="3" name="TextBox 2"/>
          <p:cNvSpPr txBox="1"/>
          <p:nvPr/>
        </p:nvSpPr>
        <p:spPr>
          <a:xfrm>
            <a:off x="502920" y="1299300"/>
            <a:ext cx="11155680" cy="300082"/>
          </a:xfrm>
          <a:prstGeom prst="rect">
            <a:avLst/>
          </a:prstGeom>
          <a:noFill/>
        </p:spPr>
        <p:txBody>
          <a:bodyPr wrap="square">
            <a:spAutoFit/>
          </a:bodyPr>
          <a:lstStyle/>
          <a:p>
            <a:r>
              <a:rPr lang="en-US" sz="1350" i="1" dirty="0">
                <a:solidFill>
                  <a:srgbClr val="898781"/>
                </a:solidFill>
                <a:latin typeface="Calibri"/>
              </a:rPr>
              <a:t>One authorization round: what crosses the optical link, what crosses the network, and what Auth decides.</a:t>
            </a:r>
          </a:p>
        </p:txBody>
      </p:sp>
      <p:sp>
        <p:nvSpPr>
          <p:cNvPr id="4" name="TextBox 3"/>
          <p:cNvSpPr txBox="1"/>
          <p:nvPr/>
        </p:nvSpPr>
        <p:spPr>
          <a:xfrm>
            <a:off x="685800" y="1600200"/>
            <a:ext cx="10789920" cy="3452227"/>
          </a:xfrm>
          <a:prstGeom prst="rect">
            <a:avLst/>
          </a:prstGeom>
          <a:noFill/>
        </p:spPr>
        <p:txBody>
          <a:bodyPr wrap="square">
            <a:spAutoFit/>
          </a:bodyPr>
          <a:lstStyle/>
          <a:p>
            <a:pPr marL="228600" indent="-228600">
              <a:spcAft>
                <a:spcPts val="300"/>
              </a:spcAft>
            </a:pPr>
            <a:r>
              <a:rPr lang="en-US" sz="1700" dirty="0">
                <a:solidFill>
                  <a:srgbClr val="0B0B0B"/>
                </a:solidFill>
                <a:latin typeface="Calibri"/>
              </a:rPr>
              <a:t>①  Beacon → Device (optical, one-way)</a:t>
            </a:r>
          </a:p>
          <a:p>
            <a:pPr marL="685800" lvl="1" indent="-228600">
              <a:spcAft>
                <a:spcPts val="1300"/>
              </a:spcAft>
            </a:pPr>
            <a:r>
              <a:rPr lang="en-US" sz="1500" dirty="0">
                <a:solidFill>
                  <a:srgbClr val="52514E"/>
                </a:solidFill>
                <a:latin typeface="Calibri"/>
              </a:rPr>
              <a:t>Sender broadcasts signed beacon B = { room_id, nonce N, timestamp t, MAC_k(·) } over the LED at fixed interval.</a:t>
            </a:r>
          </a:p>
          <a:p>
            <a:pPr marL="228600" indent="-228600">
              <a:spcAft>
                <a:spcPts val="300"/>
              </a:spcAft>
            </a:pPr>
            <a:r>
              <a:rPr lang="en-US" sz="1700" dirty="0">
                <a:solidFill>
                  <a:srgbClr val="0B0B0B"/>
                </a:solidFill>
                <a:latin typeface="Calibri"/>
              </a:rPr>
              <a:t>②  Device → Auth (network)</a:t>
            </a:r>
          </a:p>
          <a:p>
            <a:pPr marL="685800" lvl="1" indent="-228600">
              <a:spcAft>
                <a:spcPts val="1300"/>
              </a:spcAft>
            </a:pPr>
            <a:r>
              <a:rPr lang="en-US" sz="1500" dirty="0">
                <a:solidFill>
                  <a:srgbClr val="52514E"/>
                </a:solidFill>
                <a:latin typeface="Calibri"/>
              </a:rPr>
              <a:t>Device forwards the beacon it observed plus its own identity; it cannot forge N because it never held k.</a:t>
            </a:r>
          </a:p>
          <a:p>
            <a:pPr marL="228600" indent="-228600">
              <a:spcAft>
                <a:spcPts val="300"/>
              </a:spcAft>
            </a:pPr>
            <a:r>
              <a:rPr lang="en-US" sz="1700" dirty="0">
                <a:solidFill>
                  <a:srgbClr val="0B0B0B"/>
                </a:solidFill>
                <a:latin typeface="Calibri"/>
              </a:rPr>
              <a:t>③  Auth validates freshness and origin</a:t>
            </a:r>
          </a:p>
          <a:p>
            <a:pPr marL="685800" lvl="1" indent="-228600">
              <a:spcAft>
                <a:spcPts val="1300"/>
              </a:spcAft>
            </a:pPr>
            <a:r>
              <a:rPr lang="en-US" sz="1500" dirty="0">
                <a:solidFill>
                  <a:srgbClr val="52514E"/>
                </a:solidFill>
                <a:latin typeface="Calibri"/>
              </a:rPr>
              <a:t>Checks MAC under the sender's rotating key, then checks t is inside the acceptance window W and N is unseen.</a:t>
            </a:r>
          </a:p>
          <a:p>
            <a:pPr marL="228600" indent="-228600">
              <a:spcAft>
                <a:spcPts val="300"/>
              </a:spcAft>
            </a:pPr>
            <a:r>
              <a:rPr lang="en-US" sz="1700" dirty="0">
                <a:solidFill>
                  <a:srgbClr val="0B0B0B"/>
                </a:solidFill>
                <a:latin typeface="Calibri"/>
              </a:rPr>
              <a:t>④  Auth → Device: session credential</a:t>
            </a:r>
          </a:p>
          <a:p>
            <a:pPr marL="685800" lvl="1" indent="-228600">
              <a:spcAft>
                <a:spcPts val="1300"/>
              </a:spcAft>
            </a:pPr>
            <a:r>
              <a:rPr lang="en-US" sz="1500" dirty="0">
                <a:solidFill>
                  <a:srgbClr val="52514E"/>
                </a:solidFill>
                <a:latin typeface="Calibri"/>
              </a:rPr>
              <a:t>On success, Auth issues a short-lived SST session key scoped to room_id — physical presence becomes an access decision.</a:t>
            </a:r>
          </a:p>
          <a:p>
            <a:pPr marL="228600" indent="-228600">
              <a:spcAft>
                <a:spcPts val="300"/>
              </a:spcAft>
            </a:pPr>
            <a:r>
              <a:rPr lang="en-US" sz="1700" dirty="0">
                <a:solidFill>
                  <a:srgbClr val="0B0B0B"/>
                </a:solidFill>
                <a:latin typeface="Calibri"/>
              </a:rPr>
              <a:t>⑤  Continuous re-attestation</a:t>
            </a:r>
          </a:p>
          <a:p>
            <a:pPr marL="685800" lvl="1" indent="-228600">
              <a:spcAft>
                <a:spcPts val="1300"/>
              </a:spcAft>
            </a:pPr>
            <a:r>
              <a:rPr lang="en-US" sz="1500" dirty="0">
                <a:solidFill>
                  <a:srgbClr val="52514E"/>
                </a:solidFill>
                <a:latin typeface="Calibri"/>
              </a:rPr>
              <a:t>Device must present a fresh beacon each interval; on occlusion the credential expires rather than being revoked (see G4).</a:t>
            </a:r>
          </a:p>
        </p:txBody>
      </p:sp>
      <p:pic>
        <p:nvPicPr>
          <p:cNvPr id="7" name="Picture 6" descr="A white background with text&#10;&#10;AI-generated content may be incorrect.">
            <a:extLst>
              <a:ext uri="{FF2B5EF4-FFF2-40B4-BE49-F238E27FC236}">
                <a16:creationId xmlns:a16="http://schemas.microsoft.com/office/drawing/2014/main" id="{E815CBF9-8B4C-C24C-1249-0A42B9A5F6CF}"/>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1D78EB68-6E49-6E62-6807-621A767964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35424432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1003300"/>
            <a:ext cx="11155680" cy="822960"/>
          </a:xfrm>
          <a:prstGeom prst="rect">
            <a:avLst/>
          </a:prstGeom>
          <a:noFill/>
        </p:spPr>
        <p:txBody>
          <a:bodyPr wrap="square">
            <a:spAutoFit/>
          </a:bodyPr>
          <a:lstStyle/>
          <a:p>
            <a:r>
              <a:rPr sz="2900" b="1" dirty="0">
                <a:solidFill>
                  <a:srgbClr val="0B0B0B"/>
                </a:solidFill>
                <a:latin typeface="Calibri"/>
              </a:rPr>
              <a:t>Adversary Model</a:t>
            </a:r>
          </a:p>
        </p:txBody>
      </p:sp>
      <p:sp>
        <p:nvSpPr>
          <p:cNvPr id="3" name="TextBox 2"/>
          <p:cNvSpPr txBox="1"/>
          <p:nvPr/>
        </p:nvSpPr>
        <p:spPr>
          <a:xfrm>
            <a:off x="701040" y="1838960"/>
            <a:ext cx="10789920" cy="4572000"/>
          </a:xfrm>
          <a:prstGeom prst="rect">
            <a:avLst/>
          </a:prstGeom>
          <a:noFill/>
        </p:spPr>
        <p:txBody>
          <a:bodyPr wrap="square">
            <a:spAutoFit/>
          </a:bodyPr>
          <a:lstStyle/>
          <a:p>
            <a:pPr>
              <a:spcAft>
                <a:spcPts val="1100"/>
              </a:spcAft>
            </a:pPr>
            <a:r>
              <a:rPr sz="1700" dirty="0">
                <a:solidFill>
                  <a:srgbClr val="0B0B0B"/>
                </a:solidFill>
                <a:latin typeface="Calibri"/>
              </a:rPr>
              <a:t>●   Network control — standard Dolev-Yao adversary on RF/network links (eavesdrop, replay, delay, drop, inject)</a:t>
            </a:r>
          </a:p>
          <a:p>
            <a:pPr>
              <a:spcAft>
                <a:spcPts val="1100"/>
              </a:spcAft>
            </a:pPr>
            <a:r>
              <a:rPr sz="1700" dirty="0">
                <a:solidFill>
                  <a:srgbClr val="0B0B0B"/>
                </a:solidFill>
                <a:latin typeface="Calibri"/>
              </a:rPr>
              <a:t>●   Optical observation — passive sensors capture ciphertext, tags, nonces — never plaintext or key material</a:t>
            </a:r>
          </a:p>
          <a:p>
            <a:pPr>
              <a:spcAft>
                <a:spcPts val="1100"/>
              </a:spcAft>
            </a:pPr>
            <a:r>
              <a:rPr sz="1700" dirty="0">
                <a:solidFill>
                  <a:srgbClr val="0B0B0B"/>
                </a:solidFill>
                <a:latin typeface="Calibri"/>
              </a:rPr>
              <a:t>●   Relay — capture the optical signal, transport it, re-emit remotely; introduces latency δᵣₑₗₐᵧ</a:t>
            </a:r>
          </a:p>
          <a:p>
            <a:pPr>
              <a:spcAft>
                <a:spcPts val="1100"/>
              </a:spcAft>
            </a:pPr>
            <a:r>
              <a:rPr sz="1700" dirty="0">
                <a:solidFill>
                  <a:srgbClr val="0B0B0B"/>
                </a:solidFill>
                <a:latin typeface="Calibri"/>
              </a:rPr>
              <a:t>●   Optical injection — a rogue light source without the session key fails AES-128-GCM tag verification</a:t>
            </a:r>
          </a:p>
          <a:p>
            <a:pPr>
              <a:spcAft>
                <a:spcPts val="1100"/>
              </a:spcAft>
            </a:pPr>
            <a:r>
              <a:rPr sz="1700" dirty="0">
                <a:solidFill>
                  <a:srgbClr val="0B0B0B"/>
                </a:solidFill>
                <a:latin typeface="Calibri"/>
              </a:rPr>
              <a:t>●   Denial of service — physical obstruction, ambient-light saturation, RF jamming of the network link</a:t>
            </a:r>
          </a:p>
          <a:p>
            <a:pPr lvl="1">
              <a:spcAft>
                <a:spcPts val="700"/>
              </a:spcAft>
            </a:pPr>
            <a:r>
              <a:rPr sz="1450" dirty="0">
                <a:solidFill>
                  <a:srgbClr val="52514E"/>
                </a:solidFill>
                <a:latin typeface="Calibri"/>
              </a:rPr>
              <a:t>‒   The system fails closed by design: denial of signal → revocation, never false authorization</a:t>
            </a:r>
          </a:p>
        </p:txBody>
      </p:sp>
      <p:pic>
        <p:nvPicPr>
          <p:cNvPr id="4" name="Picture 3" descr="A white background with text&#10;&#10;AI-generated content may be incorrect.">
            <a:extLst>
              <a:ext uri="{FF2B5EF4-FFF2-40B4-BE49-F238E27FC236}">
                <a16:creationId xmlns:a16="http://schemas.microsoft.com/office/drawing/2014/main" id="{FEF72888-CE72-5ADB-6A05-EAED81B5D108}"/>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6B0403EE-BF2B-B038-5023-B1F39A4BEAD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624840" y="761523"/>
            <a:ext cx="11155680" cy="822960"/>
          </a:xfrm>
          <a:prstGeom prst="rect">
            <a:avLst/>
          </a:prstGeom>
          <a:noFill/>
        </p:spPr>
        <p:txBody>
          <a:bodyPr wrap="square">
            <a:spAutoFit/>
          </a:bodyPr>
          <a:lstStyle/>
          <a:p>
            <a:r>
              <a:rPr sz="2900" b="1" dirty="0">
                <a:solidFill>
                  <a:srgbClr val="0B0B0B"/>
                </a:solidFill>
                <a:latin typeface="Calibri"/>
              </a:rPr>
              <a:t>Security Goals G1–G4</a:t>
            </a:r>
          </a:p>
        </p:txBody>
      </p:sp>
      <p:graphicFrame>
        <p:nvGraphicFramePr>
          <p:cNvPr id="3" name="Table 2"/>
          <p:cNvGraphicFramePr>
            <a:graphicFrameLocks noGrp="1"/>
          </p:cNvGraphicFramePr>
          <p:nvPr/>
        </p:nvGraphicFramePr>
        <p:xfrm>
          <a:off x="685800" y="1828800"/>
          <a:ext cx="10881360" cy="2926080"/>
        </p:xfrm>
        <a:graphic>
          <a:graphicData uri="http://schemas.openxmlformats.org/drawingml/2006/table">
            <a:tbl>
              <a:tblPr firstRow="1" bandRow="1">
                <a:tableStyleId>{5C22544A-7EE6-4342-B048-85BDC9FD1C3A}</a:tableStyleId>
              </a:tblPr>
              <a:tblGrid>
                <a:gridCol w="10058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tblGrid>
              <a:tr h="585216">
                <a:tc>
                  <a:txBody>
                    <a:bodyPr/>
                    <a:lstStyle/>
                    <a:p>
                      <a:pPr algn="l"/>
                      <a:r>
                        <a:rPr sz="1350" b="1">
                          <a:solidFill>
                            <a:srgbClr val="FFFFFF"/>
                          </a:solidFill>
                          <a:latin typeface="Calibri"/>
                        </a:rPr>
                        <a:t>Goal</a:t>
                      </a:r>
                    </a:p>
                  </a:txBody>
                  <a:tcPr anchor="ctr">
                    <a:solidFill>
                      <a:srgbClr val="0B0B0B"/>
                    </a:solidFill>
                  </a:tcPr>
                </a:tc>
                <a:tc>
                  <a:txBody>
                    <a:bodyPr/>
                    <a:lstStyle/>
                    <a:p>
                      <a:pPr algn="ctr"/>
                      <a:r>
                        <a:rPr sz="1350" b="1">
                          <a:solidFill>
                            <a:srgbClr val="FFFFFF"/>
                          </a:solidFill>
                          <a:latin typeface="Calibri"/>
                        </a:rPr>
                        <a:t>Property</a:t>
                      </a:r>
                    </a:p>
                  </a:txBody>
                  <a:tcPr anchor="ctr">
                    <a:solidFill>
                      <a:srgbClr val="0B0B0B"/>
                    </a:solidFill>
                  </a:tcPr>
                </a:tc>
                <a:tc>
                  <a:txBody>
                    <a:bodyPr/>
                    <a:lstStyle/>
                    <a:p>
                      <a:pPr algn="ctr"/>
                      <a:r>
                        <a:rPr sz="1350" b="1">
                          <a:solidFill>
                            <a:srgbClr val="FFFFFF"/>
                          </a:solidFill>
                          <a:latin typeface="Calibri"/>
                        </a:rPr>
                        <a:t>Mechanism</a:t>
                      </a:r>
                    </a:p>
                  </a:txBody>
                  <a:tcPr anchor="ctr">
                    <a:solidFill>
                      <a:srgbClr val="0B0B0B"/>
                    </a:solidFill>
                  </a:tcPr>
                </a:tc>
                <a:tc>
                  <a:txBody>
                    <a:bodyPr/>
                    <a:lstStyle/>
                    <a:p>
                      <a:pPr algn="ctr"/>
                      <a:r>
                        <a:rPr sz="1350" b="1">
                          <a:solidFill>
                            <a:srgbClr val="FFFFFF"/>
                          </a:solidFill>
                          <a:latin typeface="Calibri"/>
                        </a:rPr>
                        <a:t>Status</a:t>
                      </a:r>
                    </a:p>
                  </a:txBody>
                  <a:tcPr anchor="ctr">
                    <a:solidFill>
                      <a:srgbClr val="0B0B0B"/>
                    </a:solidFill>
                  </a:tcPr>
                </a:tc>
                <a:extLst>
                  <a:ext uri="{0D108BD9-81ED-4DB2-BD59-A6C34878D82A}">
                    <a16:rowId xmlns:a16="http://schemas.microsoft.com/office/drawing/2014/main" val="10000"/>
                  </a:ext>
                </a:extLst>
              </a:tr>
              <a:tr h="585216">
                <a:tc>
                  <a:txBody>
                    <a:bodyPr/>
                    <a:lstStyle/>
                    <a:p>
                      <a:pPr algn="l"/>
                      <a:r>
                        <a:rPr sz="1250" b="0">
                          <a:solidFill>
                            <a:srgbClr val="0B0B0B"/>
                          </a:solidFill>
                          <a:latin typeface="Calibri"/>
                        </a:rPr>
                        <a:t>G1</a:t>
                      </a:r>
                    </a:p>
                  </a:txBody>
                  <a:tcPr anchor="ctr">
                    <a:solidFill>
                      <a:srgbClr val="FFFFFF"/>
                    </a:solidFill>
                  </a:tcPr>
                </a:tc>
                <a:tc>
                  <a:txBody>
                    <a:bodyPr/>
                    <a:lstStyle/>
                    <a:p>
                      <a:pPr algn="ctr"/>
                      <a:r>
                        <a:rPr sz="1250" b="0">
                          <a:solidFill>
                            <a:srgbClr val="0B0B0B"/>
                          </a:solidFill>
                          <a:latin typeface="Calibri"/>
                        </a:rPr>
                        <a:t>Freshness / Expiration</a:t>
                      </a:r>
                    </a:p>
                  </a:txBody>
                  <a:tcPr anchor="ctr">
                    <a:solidFill>
                      <a:srgbClr val="FFFFFF"/>
                    </a:solidFill>
                  </a:tcPr>
                </a:tc>
                <a:tc>
                  <a:txBody>
                    <a:bodyPr/>
                    <a:lstStyle/>
                    <a:p>
                      <a:pPr algn="ctr"/>
                      <a:r>
                        <a:rPr sz="1250" b="0">
                          <a:solidFill>
                            <a:srgbClr val="0B0B0B"/>
                          </a:solidFill>
                          <a:latin typeface="Calibri"/>
                        </a:rPr>
                        <a:t>Token window Δ</a:t>
                      </a:r>
                    </a:p>
                  </a:txBody>
                  <a:tcPr anchor="ctr">
                    <a:solidFill>
                      <a:srgbClr val="FFFFFF"/>
                    </a:solidFill>
                  </a:tcPr>
                </a:tc>
                <a:tc>
                  <a:txBody>
                    <a:bodyPr/>
                    <a:lstStyle/>
                    <a:p>
                      <a:pPr algn="ctr"/>
                      <a:r>
                        <a:rPr sz="1250" b="1">
                          <a:solidFill>
                            <a:srgbClr val="0CA30C"/>
                          </a:solidFill>
                          <a:latin typeface="Calibri"/>
                        </a:rPr>
                        <a:t>Achieved</a:t>
                      </a:r>
                    </a:p>
                  </a:txBody>
                  <a:tcPr anchor="ctr">
                    <a:solidFill>
                      <a:srgbClr val="FFFFFF"/>
                    </a:solidFill>
                  </a:tcPr>
                </a:tc>
                <a:extLst>
                  <a:ext uri="{0D108BD9-81ED-4DB2-BD59-A6C34878D82A}">
                    <a16:rowId xmlns:a16="http://schemas.microsoft.com/office/drawing/2014/main" val="10001"/>
                  </a:ext>
                </a:extLst>
              </a:tr>
              <a:tr h="585216">
                <a:tc>
                  <a:txBody>
                    <a:bodyPr/>
                    <a:lstStyle/>
                    <a:p>
                      <a:pPr algn="l"/>
                      <a:r>
                        <a:rPr sz="1250" b="0">
                          <a:solidFill>
                            <a:srgbClr val="0B0B0B"/>
                          </a:solidFill>
                          <a:latin typeface="Calibri"/>
                        </a:rPr>
                        <a:t>G2</a:t>
                      </a:r>
                    </a:p>
                  </a:txBody>
                  <a:tcPr anchor="ctr">
                    <a:solidFill>
                      <a:srgbClr val="F0EFEC"/>
                    </a:solidFill>
                  </a:tcPr>
                </a:tc>
                <a:tc>
                  <a:txBody>
                    <a:bodyPr/>
                    <a:lstStyle/>
                    <a:p>
                      <a:pPr algn="ctr"/>
                      <a:r>
                        <a:rPr sz="1250" b="0">
                          <a:solidFill>
                            <a:srgbClr val="0B0B0B"/>
                          </a:solidFill>
                          <a:latin typeface="Calibri"/>
                        </a:rPr>
                        <a:t>Replay Resistance</a:t>
                      </a:r>
                    </a:p>
                  </a:txBody>
                  <a:tcPr anchor="ctr">
                    <a:solidFill>
                      <a:srgbClr val="F0EFEC"/>
                    </a:solidFill>
                  </a:tcPr>
                </a:tc>
                <a:tc>
                  <a:txBody>
                    <a:bodyPr/>
                    <a:lstStyle/>
                    <a:p>
                      <a:pPr algn="ctr"/>
                      <a:r>
                        <a:rPr sz="1250" b="0">
                          <a:solidFill>
                            <a:srgbClr val="0B0B0B"/>
                          </a:solidFill>
                          <a:latin typeface="Calibri"/>
                        </a:rPr>
                        <a:t>64-entry nonce sliding window</a:t>
                      </a:r>
                    </a:p>
                  </a:txBody>
                  <a:tcPr anchor="ctr">
                    <a:solidFill>
                      <a:srgbClr val="F0EFEC"/>
                    </a:solidFill>
                  </a:tcPr>
                </a:tc>
                <a:tc>
                  <a:txBody>
                    <a:bodyPr/>
                    <a:lstStyle/>
                    <a:p>
                      <a:pPr algn="ctr"/>
                      <a:r>
                        <a:rPr sz="1250" b="1">
                          <a:solidFill>
                            <a:srgbClr val="0CA30C"/>
                          </a:solidFill>
                          <a:latin typeface="Calibri"/>
                        </a:rPr>
                        <a:t>Achieved</a:t>
                      </a:r>
                    </a:p>
                  </a:txBody>
                  <a:tcPr anchor="ctr">
                    <a:solidFill>
                      <a:srgbClr val="F0EFEC"/>
                    </a:solidFill>
                  </a:tcPr>
                </a:tc>
                <a:extLst>
                  <a:ext uri="{0D108BD9-81ED-4DB2-BD59-A6C34878D82A}">
                    <a16:rowId xmlns:a16="http://schemas.microsoft.com/office/drawing/2014/main" val="10002"/>
                  </a:ext>
                </a:extLst>
              </a:tr>
              <a:tr h="585216">
                <a:tc>
                  <a:txBody>
                    <a:bodyPr/>
                    <a:lstStyle/>
                    <a:p>
                      <a:pPr algn="l"/>
                      <a:r>
                        <a:rPr sz="1250" b="0">
                          <a:solidFill>
                            <a:srgbClr val="0B0B0B"/>
                          </a:solidFill>
                          <a:latin typeface="Calibri"/>
                        </a:rPr>
                        <a:t>G3</a:t>
                      </a:r>
                    </a:p>
                  </a:txBody>
                  <a:tcPr anchor="ctr">
                    <a:solidFill>
                      <a:srgbClr val="FFFFFF"/>
                    </a:solidFill>
                  </a:tcPr>
                </a:tc>
                <a:tc>
                  <a:txBody>
                    <a:bodyPr/>
                    <a:lstStyle/>
                    <a:p>
                      <a:pPr algn="ctr"/>
                      <a:r>
                        <a:rPr sz="1250" b="0">
                          <a:solidFill>
                            <a:srgbClr val="0B0B0B"/>
                          </a:solidFill>
                          <a:latin typeface="Calibri"/>
                        </a:rPr>
                        <a:t>Relay-Bounded Authorization</a:t>
                      </a:r>
                    </a:p>
                  </a:txBody>
                  <a:tcPr anchor="ctr">
                    <a:solidFill>
                      <a:srgbClr val="FFFFFF"/>
                    </a:solidFill>
                  </a:tcPr>
                </a:tc>
                <a:tc>
                  <a:txBody>
                    <a:bodyPr/>
                    <a:lstStyle/>
                    <a:p>
                      <a:pPr algn="ctr"/>
                      <a:r>
                        <a:rPr sz="1250" b="0">
                          <a:solidFill>
                            <a:srgbClr val="0B0B0B"/>
                          </a:solidFill>
                          <a:latin typeface="Calibri"/>
                        </a:rPr>
                        <a:t>No timing check on data path</a:t>
                      </a:r>
                    </a:p>
                  </a:txBody>
                  <a:tcPr anchor="ctr">
                    <a:solidFill>
                      <a:srgbClr val="FFFFFF"/>
                    </a:solidFill>
                  </a:tcPr>
                </a:tc>
                <a:tc>
                  <a:txBody>
                    <a:bodyPr/>
                    <a:lstStyle/>
                    <a:p>
                      <a:pPr algn="ctr"/>
                      <a:r>
                        <a:rPr sz="1250" b="1">
                          <a:solidFill>
                            <a:srgbClr val="D03B3B"/>
                          </a:solidFill>
                          <a:latin typeface="Calibri"/>
                        </a:rPr>
                        <a:t>Not achieved</a:t>
                      </a:r>
                    </a:p>
                  </a:txBody>
                  <a:tcPr anchor="ctr">
                    <a:solidFill>
                      <a:srgbClr val="FFFFFF"/>
                    </a:solidFill>
                  </a:tcPr>
                </a:tc>
                <a:extLst>
                  <a:ext uri="{0D108BD9-81ED-4DB2-BD59-A6C34878D82A}">
                    <a16:rowId xmlns:a16="http://schemas.microsoft.com/office/drawing/2014/main" val="10003"/>
                  </a:ext>
                </a:extLst>
              </a:tr>
              <a:tr h="585216">
                <a:tc>
                  <a:txBody>
                    <a:bodyPr/>
                    <a:lstStyle/>
                    <a:p>
                      <a:pPr algn="l"/>
                      <a:r>
                        <a:rPr sz="1250" b="0">
                          <a:solidFill>
                            <a:srgbClr val="0B0B0B"/>
                          </a:solidFill>
                          <a:latin typeface="Calibri"/>
                        </a:rPr>
                        <a:t>G4</a:t>
                      </a:r>
                    </a:p>
                  </a:txBody>
                  <a:tcPr anchor="ctr">
                    <a:solidFill>
                      <a:srgbClr val="F0EFEC"/>
                    </a:solidFill>
                  </a:tcPr>
                </a:tc>
                <a:tc>
                  <a:txBody>
                    <a:bodyPr/>
                    <a:lstStyle/>
                    <a:p>
                      <a:pPr algn="ctr"/>
                      <a:r>
                        <a:rPr sz="1250" b="0">
                          <a:solidFill>
                            <a:srgbClr val="0B0B0B"/>
                          </a:solidFill>
                          <a:latin typeface="Calibri"/>
                        </a:rPr>
                        <a:t>Revocation on Interruption</a:t>
                      </a:r>
                    </a:p>
                  </a:txBody>
                  <a:tcPr anchor="ctr">
                    <a:solidFill>
                      <a:srgbClr val="F0EFEC"/>
                    </a:solidFill>
                  </a:tcPr>
                </a:tc>
                <a:tc>
                  <a:txBody>
                    <a:bodyPr/>
                    <a:lstStyle/>
                    <a:p>
                      <a:pPr algn="ctr"/>
                      <a:r>
                        <a:rPr sz="1250" b="0">
                          <a:solidFill>
                            <a:srgbClr val="0B0B0B"/>
                          </a:solidFill>
                          <a:latin typeface="Calibri"/>
                        </a:rPr>
                        <a:t>Absence of signal = revocation</a:t>
                      </a:r>
                    </a:p>
                  </a:txBody>
                  <a:tcPr anchor="ctr">
                    <a:solidFill>
                      <a:srgbClr val="F0EFEC"/>
                    </a:solidFill>
                  </a:tcPr>
                </a:tc>
                <a:tc>
                  <a:txBody>
                    <a:bodyPr/>
                    <a:lstStyle/>
                    <a:p>
                      <a:pPr algn="ctr"/>
                      <a:r>
                        <a:rPr sz="1250" b="1">
                          <a:solidFill>
                            <a:srgbClr val="0CA30C"/>
                          </a:solidFill>
                          <a:latin typeface="Calibri"/>
                        </a:rPr>
                        <a:t>Achieved</a:t>
                      </a:r>
                    </a:p>
                  </a:txBody>
                  <a:tcPr anchor="ctr">
                    <a:solidFill>
                      <a:srgbClr val="F0EFEC"/>
                    </a:solidFill>
                  </a:tcPr>
                </a:tc>
                <a:extLst>
                  <a:ext uri="{0D108BD9-81ED-4DB2-BD59-A6C34878D82A}">
                    <a16:rowId xmlns:a16="http://schemas.microsoft.com/office/drawing/2014/main" val="10004"/>
                  </a:ext>
                </a:extLst>
              </a:tr>
            </a:tbl>
          </a:graphicData>
        </a:graphic>
      </p:graphicFrame>
      <p:sp>
        <p:nvSpPr>
          <p:cNvPr id="4" name="TextBox 3"/>
          <p:cNvSpPr txBox="1"/>
          <p:nvPr/>
        </p:nvSpPr>
        <p:spPr>
          <a:xfrm>
            <a:off x="502920" y="5074920"/>
            <a:ext cx="11155680" cy="548640"/>
          </a:xfrm>
          <a:prstGeom prst="rect">
            <a:avLst/>
          </a:prstGeom>
          <a:noFill/>
        </p:spPr>
        <p:txBody>
          <a:bodyPr wrap="square">
            <a:spAutoFit/>
          </a:bodyPr>
          <a:lstStyle/>
          <a:p>
            <a:pPr algn="ctr"/>
            <a:r>
              <a:rPr sz="1250" b="1" i="0">
                <a:solidFill>
                  <a:srgbClr val="898781"/>
                </a:solidFill>
                <a:latin typeface="Calibri"/>
              </a:rPr>
              <a:t>This table is the scorecard for the rest of the talk — every evaluation result maps back to one row.</a:t>
            </a:r>
          </a:p>
        </p:txBody>
      </p:sp>
      <p:pic>
        <p:nvPicPr>
          <p:cNvPr id="5" name="Picture 4" descr="A white background with text&#10;&#10;AI-generated content may be incorrect.">
            <a:extLst>
              <a:ext uri="{FF2B5EF4-FFF2-40B4-BE49-F238E27FC236}">
                <a16:creationId xmlns:a16="http://schemas.microsoft.com/office/drawing/2014/main" id="{ACE9843C-8B23-E381-BBE7-160A5A191175}"/>
              </a:ext>
            </a:extLst>
          </p:cNvPr>
          <p:cNvPicPr>
            <a:picLocks noChangeAspect="1"/>
          </p:cNvPicPr>
          <p:nvPr/>
        </p:nvPicPr>
        <p:blipFill>
          <a:blip r:embed="rId3"/>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2D808089-314D-41B4-F6A3-F0B5C86B6221}"/>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777240"/>
            <a:ext cx="11155680" cy="822960"/>
          </a:xfrm>
          <a:prstGeom prst="rect">
            <a:avLst/>
          </a:prstGeom>
          <a:noFill/>
        </p:spPr>
        <p:txBody>
          <a:bodyPr wrap="square">
            <a:spAutoFit/>
          </a:bodyPr>
          <a:lstStyle/>
          <a:p>
            <a:r>
              <a:rPr sz="2900" b="1" dirty="0">
                <a:solidFill>
                  <a:srgbClr val="0B0B0B"/>
                </a:solidFill>
                <a:latin typeface="Calibri"/>
              </a:rPr>
              <a:t>Experimental Setup &amp; Methodology</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Testbed: Pico H sender + Pico 2 H receiver, ~15cm separation, indoor ambient light, no shielding</a:t>
            </a:r>
          </a:p>
          <a:p>
            <a:pPr>
              <a:spcAft>
                <a:spcPts val="1100"/>
              </a:spcAft>
            </a:pPr>
            <a:r>
              <a:rPr sz="1700">
                <a:solidFill>
                  <a:srgbClr val="0B0B0B"/>
                </a:solidFill>
                <a:latin typeface="Calibri"/>
              </a:rPr>
              <a:t>●   IoTAuth provisioning server runs on a Raspberry Pi 4 under Linux, used only at session-key setup — not part of the runtime data path</a:t>
            </a:r>
          </a:p>
          <a:p>
            <a:pPr>
              <a:spcAft>
                <a:spcPts val="1100"/>
              </a:spcAft>
            </a:pPr>
            <a:r>
              <a:rPr sz="1700">
                <a:solidFill>
                  <a:srgbClr val="0B0B0B"/>
                </a:solidFill>
                <a:latin typeface="Calibri"/>
              </a:rPr>
              <a:t>●   Freshness, revocation-latency, and replay-boundary results were measured on the debug receiver (receiver_pico/src/main.c)</a:t>
            </a:r>
          </a:p>
          <a:p>
            <a:pPr lvl="1">
              <a:spcAft>
                <a:spcPts val="700"/>
              </a:spcAft>
            </a:pPr>
            <a:r>
              <a:rPr sz="1450">
                <a:solidFill>
                  <a:srgbClr val="52514E"/>
                </a:solidFill>
                <a:latin typeface="Calibri"/>
              </a:rPr>
              <a:t>‒   The Δ-based revocation decision itself was computed by an external monitoring script at measurement time</a:t>
            </a:r>
          </a:p>
          <a:p>
            <a:pPr lvl="1">
              <a:spcAft>
                <a:spcPts val="700"/>
              </a:spcAft>
            </a:pPr>
            <a:r>
              <a:rPr sz="1450">
                <a:solidFill>
                  <a:srgbClr val="52514E"/>
                </a:solidFill>
                <a:latin typeface="Calibri"/>
              </a:rPr>
              <a:t>‒   That decision logic has since been ported directly into the receiver firmware as well (presence_check_decay())</a:t>
            </a:r>
          </a:p>
          <a:p>
            <a:pPr>
              <a:spcAft>
                <a:spcPts val="1100"/>
              </a:spcAft>
            </a:pPr>
            <a:r>
              <a:rPr sz="1700">
                <a:solidFill>
                  <a:srgbClr val="0B0B0B"/>
                </a:solidFill>
                <a:latin typeface="Calibri"/>
              </a:rPr>
              <a:t>●   Confirmed directly on-device: 25 occlusion trials, every one at exactly 15.001s ± 0.000s — zero polling jitter, essentially exact Δ enforcement</a:t>
            </a:r>
          </a:p>
        </p:txBody>
      </p:sp>
      <p:pic>
        <p:nvPicPr>
          <p:cNvPr id="4" name="Picture 3" descr="A white background with text&#10;&#10;AI-generated content may be incorrect.">
            <a:extLst>
              <a:ext uri="{FF2B5EF4-FFF2-40B4-BE49-F238E27FC236}">
                <a16:creationId xmlns:a16="http://schemas.microsoft.com/office/drawing/2014/main" id="{F3652ED0-AD2D-3B59-64B0-F409C11E9EE5}"/>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1BA9D89B-5D8A-11D8-80B6-901B530631AF}"/>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007" y="731520"/>
            <a:ext cx="11155680" cy="822960"/>
          </a:xfrm>
          <a:prstGeom prst="rect">
            <a:avLst/>
          </a:prstGeom>
          <a:noFill/>
        </p:spPr>
        <p:txBody>
          <a:bodyPr wrap="square">
            <a:spAutoFit/>
          </a:bodyPr>
          <a:lstStyle/>
          <a:p>
            <a:r>
              <a:rPr sz="2900" b="1">
                <a:solidFill>
                  <a:srgbClr val="0B0B0B"/>
                </a:solidFill>
                <a:latin typeface="Calibri"/>
              </a:rPr>
              <a:t>G4 — Revocation Latency on Occlusion</a:t>
            </a:r>
          </a:p>
        </p:txBody>
      </p:sp>
      <p:pic>
        <p:nvPicPr>
          <p:cNvPr id="7" name="Picture 6" descr="revocation_latency.png"/>
          <p:cNvPicPr>
            <a:picLocks noChangeAspect="1"/>
          </p:cNvPicPr>
          <p:nvPr/>
        </p:nvPicPr>
        <p:blipFill>
          <a:blip r:embed="rId5"/>
          <a:stretch>
            <a:fillRect/>
          </a:stretch>
        </p:blipFill>
        <p:spPr>
          <a:xfrm>
            <a:off x="458571" y="1603862"/>
            <a:ext cx="11274552" cy="3989456"/>
          </a:xfrm>
          <a:prstGeom prst="rect">
            <a:avLst/>
          </a:prstGeom>
        </p:spPr>
      </p:pic>
      <p:sp>
        <p:nvSpPr>
          <p:cNvPr id="4" name="TextBox 3"/>
          <p:cNvSpPr txBox="1"/>
          <p:nvPr/>
        </p:nvSpPr>
        <p:spPr>
          <a:xfrm>
            <a:off x="502920" y="5806440"/>
            <a:ext cx="11155680" cy="548640"/>
          </a:xfrm>
          <a:prstGeom prst="rect">
            <a:avLst/>
          </a:prstGeom>
          <a:noFill/>
        </p:spPr>
        <p:txBody>
          <a:bodyPr wrap="square">
            <a:spAutoFit/>
          </a:bodyPr>
          <a:lstStyle/>
          <a:p>
            <a:pPr algn="ctr"/>
            <a:r>
              <a:rPr sz="1250" b="1" i="0">
                <a:solidFill>
                  <a:srgbClr val="898781"/>
                </a:solidFill>
                <a:latin typeface="Calibri"/>
              </a:rPr>
              <a:t>On-device confirmed: 15.001s ± 0.000s across 25 trials — essentially exact Δ enforcement, zero polling jitter.</a:t>
            </a:r>
          </a:p>
        </p:txBody>
      </p:sp>
      <p:pic>
        <p:nvPicPr>
          <p:cNvPr id="5" name="Picture 4" descr="A white background with text&#10;&#10;AI-generated content may be incorrect.">
            <a:extLst>
              <a:ext uri="{FF2B5EF4-FFF2-40B4-BE49-F238E27FC236}">
                <a16:creationId xmlns:a16="http://schemas.microsoft.com/office/drawing/2014/main" id="{332825AC-3A08-1461-AB8E-D7D24766CD02}"/>
              </a:ext>
            </a:extLst>
          </p:cNvPr>
          <p:cNvPicPr>
            <a:picLocks noChangeAspect="1"/>
          </p:cNvPicPr>
          <p:nvPr/>
        </p:nvPicPr>
        <p:blipFill>
          <a:blip r:embed="rId4"/>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083511F3-C65A-FB62-4807-1E3A73658A3B}"/>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007" y="731520"/>
            <a:ext cx="11155680" cy="822960"/>
          </a:xfrm>
          <a:prstGeom prst="rect">
            <a:avLst/>
          </a:prstGeom>
          <a:noFill/>
        </p:spPr>
        <p:txBody>
          <a:bodyPr wrap="square">
            <a:spAutoFit/>
          </a:bodyPr>
          <a:lstStyle/>
          <a:p>
            <a:r>
              <a:rPr sz="2900" b="1">
                <a:solidFill>
                  <a:srgbClr val="0B0B0B"/>
                </a:solidFill>
                <a:latin typeface="Calibri"/>
              </a:rPr>
              <a:t>Δ-Sensitivity to Benign Traffic</a:t>
            </a:r>
          </a:p>
        </p:txBody>
      </p:sp>
      <p:pic>
        <p:nvPicPr>
          <p:cNvPr id="3" name="Picture 2" descr="delta_sensitivity.png"/>
          <p:cNvPicPr>
            <a:picLocks noChangeAspect="1"/>
          </p:cNvPicPr>
          <p:nvPr/>
        </p:nvPicPr>
        <p:blipFill>
          <a:blip r:embed="rId3"/>
          <a:stretch>
            <a:fillRect/>
          </a:stretch>
        </p:blipFill>
        <p:spPr>
          <a:xfrm>
            <a:off x="1320647" y="1568768"/>
            <a:ext cx="9550400" cy="4297680"/>
          </a:xfrm>
          <a:prstGeom prst="rect">
            <a:avLst/>
          </a:prstGeom>
        </p:spPr>
      </p:pic>
      <p:sp>
        <p:nvSpPr>
          <p:cNvPr id="4" name="TextBox 3"/>
          <p:cNvSpPr txBox="1"/>
          <p:nvPr/>
        </p:nvSpPr>
        <p:spPr>
          <a:xfrm>
            <a:off x="502920" y="5806440"/>
            <a:ext cx="11155680" cy="548640"/>
          </a:xfrm>
          <a:prstGeom prst="rect">
            <a:avLst/>
          </a:prstGeom>
          <a:noFill/>
        </p:spPr>
        <p:txBody>
          <a:bodyPr wrap="square">
            <a:spAutoFit/>
          </a:bodyPr>
          <a:lstStyle/>
          <a:p>
            <a:pPr algn="ctr"/>
            <a:r>
              <a:rPr sz="1250" b="1" i="0">
                <a:solidFill>
                  <a:srgbClr val="898781"/>
                </a:solidFill>
                <a:latin typeface="Calibri"/>
              </a:rPr>
              <a:t>0.0% false-revoke rate at every candidate Δ tested — but this session can't rule out a smaller crossover under degraded conditions.</a:t>
            </a:r>
          </a:p>
        </p:txBody>
      </p:sp>
      <p:pic>
        <p:nvPicPr>
          <p:cNvPr id="5" name="Picture 4" descr="A white background with text&#10;&#10;AI-generated content may be incorrect.">
            <a:extLst>
              <a:ext uri="{FF2B5EF4-FFF2-40B4-BE49-F238E27FC236}">
                <a16:creationId xmlns:a16="http://schemas.microsoft.com/office/drawing/2014/main" id="{93847ECD-4831-ED4C-9199-636AF1A94FF4}"/>
              </a:ext>
            </a:extLst>
          </p:cNvPr>
          <p:cNvPicPr>
            <a:picLocks noChangeAspect="1"/>
          </p:cNvPicPr>
          <p:nvPr/>
        </p:nvPicPr>
        <p:blipFill>
          <a:blip r:embed="rId4"/>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9F7426EC-C6E5-1F3A-F7B8-66CBB09FC937}"/>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007" y="830179"/>
            <a:ext cx="11155680" cy="984885"/>
          </a:xfrm>
          <a:prstGeom prst="rect">
            <a:avLst/>
          </a:prstGeom>
          <a:noFill/>
        </p:spPr>
        <p:txBody>
          <a:bodyPr wrap="square">
            <a:spAutoFit/>
          </a:bodyPr>
          <a:lstStyle/>
          <a:p>
            <a:r>
              <a:rPr sz="2900" b="1" dirty="0">
                <a:solidFill>
                  <a:srgbClr val="0B0B0B"/>
                </a:solidFill>
                <a:latin typeface="Calibri"/>
              </a:rPr>
              <a:t>G2 — Replay Rejection &amp; the Window-Boundary </a:t>
            </a:r>
            <a:endParaRPr lang="en-US" sz="2900" b="1" dirty="0">
              <a:solidFill>
                <a:srgbClr val="0B0B0B"/>
              </a:solidFill>
              <a:latin typeface="Calibri"/>
            </a:endParaRPr>
          </a:p>
          <a:p>
            <a:r>
              <a:rPr sz="2900" b="1" dirty="0">
                <a:solidFill>
                  <a:srgbClr val="0B0B0B"/>
                </a:solidFill>
                <a:latin typeface="Calibri"/>
              </a:rPr>
              <a:t>Limitation</a:t>
            </a:r>
          </a:p>
        </p:txBody>
      </p:sp>
      <p:pic>
        <p:nvPicPr>
          <p:cNvPr id="3" name="Picture 2" descr="replay_boundary.png"/>
          <p:cNvPicPr>
            <a:picLocks noChangeAspect="1"/>
          </p:cNvPicPr>
          <p:nvPr/>
        </p:nvPicPr>
        <p:blipFill>
          <a:blip r:embed="rId3"/>
          <a:stretch>
            <a:fillRect/>
          </a:stretch>
        </p:blipFill>
        <p:spPr>
          <a:xfrm>
            <a:off x="723747" y="1699815"/>
            <a:ext cx="10744200" cy="4297680"/>
          </a:xfrm>
          <a:prstGeom prst="rect">
            <a:avLst/>
          </a:prstGeom>
        </p:spPr>
      </p:pic>
      <p:sp>
        <p:nvSpPr>
          <p:cNvPr id="4" name="TextBox 3"/>
          <p:cNvSpPr txBox="1"/>
          <p:nvPr/>
        </p:nvSpPr>
        <p:spPr>
          <a:xfrm>
            <a:off x="502920" y="6013324"/>
            <a:ext cx="11155680" cy="548640"/>
          </a:xfrm>
          <a:prstGeom prst="rect">
            <a:avLst/>
          </a:prstGeom>
          <a:noFill/>
        </p:spPr>
        <p:txBody>
          <a:bodyPr wrap="square">
            <a:spAutoFit/>
          </a:bodyPr>
          <a:lstStyle/>
          <a:p>
            <a:pPr algn="ctr"/>
            <a:r>
              <a:rPr sz="1250" b="1" i="0">
                <a:solidFill>
                  <a:srgbClr val="898781"/>
                </a:solidFill>
                <a:latin typeface="Calibri"/>
              </a:rPr>
              <a:t>Immediate replay rejected; re-accepted only after eviction from a shrunk 2-slot window — reproduced 25/25 across independent automated trials.</a:t>
            </a:r>
          </a:p>
        </p:txBody>
      </p:sp>
      <p:pic>
        <p:nvPicPr>
          <p:cNvPr id="5" name="Picture 4" descr="A white background with text&#10;&#10;AI-generated content may be incorrect.">
            <a:extLst>
              <a:ext uri="{FF2B5EF4-FFF2-40B4-BE49-F238E27FC236}">
                <a16:creationId xmlns:a16="http://schemas.microsoft.com/office/drawing/2014/main" id="{0AFD44F8-8F5F-6BA3-85B4-745671AD1BE7}"/>
              </a:ext>
            </a:extLst>
          </p:cNvPr>
          <p:cNvPicPr>
            <a:picLocks noChangeAspect="1"/>
          </p:cNvPicPr>
          <p:nvPr/>
        </p:nvPicPr>
        <p:blipFill>
          <a:blip r:embed="rId4"/>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0D6FB647-9E33-3425-3A75-61C3F4EE7A05}"/>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007" y="731520"/>
            <a:ext cx="11155680" cy="822960"/>
          </a:xfrm>
          <a:prstGeom prst="rect">
            <a:avLst/>
          </a:prstGeom>
          <a:noFill/>
        </p:spPr>
        <p:txBody>
          <a:bodyPr wrap="square">
            <a:spAutoFit/>
          </a:bodyPr>
          <a:lstStyle/>
          <a:p>
            <a:r>
              <a:rPr sz="2900" b="1">
                <a:solidFill>
                  <a:srgbClr val="0B0B0B"/>
                </a:solidFill>
                <a:latin typeface="Calibri"/>
              </a:rPr>
              <a:t>Communication Performance</a:t>
            </a:r>
          </a:p>
        </p:txBody>
      </p:sp>
      <p:pic>
        <p:nvPicPr>
          <p:cNvPr id="3" name="Picture 2" descr="baud_sweep.png"/>
          <p:cNvPicPr>
            <a:picLocks noChangeAspect="1"/>
          </p:cNvPicPr>
          <p:nvPr/>
        </p:nvPicPr>
        <p:blipFill>
          <a:blip r:embed="rId3"/>
          <a:stretch>
            <a:fillRect/>
          </a:stretch>
        </p:blipFill>
        <p:spPr>
          <a:xfrm>
            <a:off x="1107469" y="1417320"/>
            <a:ext cx="9976757" cy="4297680"/>
          </a:xfrm>
          <a:prstGeom prst="rect">
            <a:avLst/>
          </a:prstGeom>
        </p:spPr>
      </p:pic>
      <p:sp>
        <p:nvSpPr>
          <p:cNvPr id="4" name="TextBox 3"/>
          <p:cNvSpPr txBox="1"/>
          <p:nvPr/>
        </p:nvSpPr>
        <p:spPr>
          <a:xfrm>
            <a:off x="502920" y="5806440"/>
            <a:ext cx="11155680" cy="548640"/>
          </a:xfrm>
          <a:prstGeom prst="rect">
            <a:avLst/>
          </a:prstGeom>
          <a:noFill/>
        </p:spPr>
        <p:txBody>
          <a:bodyPr wrap="square">
            <a:spAutoFit/>
          </a:bodyPr>
          <a:lstStyle/>
          <a:p>
            <a:pPr algn="ctr"/>
            <a:r>
              <a:rPr sz="1250" b="1" i="0">
                <a:solidFill>
                  <a:srgbClr val="898781"/>
                </a:solidFill>
                <a:latin typeface="Calibri"/>
              </a:rPr>
              <a:t>Higher gain (470kΩ) beats higher bandwidth (100kΩ) at 15cm — SNR margin, not TIA bandwidth, limits close range.</a:t>
            </a:r>
          </a:p>
        </p:txBody>
      </p:sp>
      <p:pic>
        <p:nvPicPr>
          <p:cNvPr id="5" name="Picture 4" descr="A white background with text&#10;&#10;AI-generated content may be incorrect.">
            <a:extLst>
              <a:ext uri="{FF2B5EF4-FFF2-40B4-BE49-F238E27FC236}">
                <a16:creationId xmlns:a16="http://schemas.microsoft.com/office/drawing/2014/main" id="{261FC07C-93A2-0855-FB99-D948A27FD5A8}"/>
              </a:ext>
            </a:extLst>
          </p:cNvPr>
          <p:cNvPicPr>
            <a:picLocks noChangeAspect="1"/>
          </p:cNvPicPr>
          <p:nvPr/>
        </p:nvPicPr>
        <p:blipFill>
          <a:blip r:embed="rId4"/>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A1897D6F-97CB-D526-7BF3-AF37F4721B43}"/>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33400" y="777240"/>
            <a:ext cx="11155680" cy="538609"/>
          </a:xfrm>
          <a:prstGeom prst="rect">
            <a:avLst/>
          </a:prstGeom>
          <a:noFill/>
        </p:spPr>
        <p:txBody>
          <a:bodyPr wrap="square">
            <a:spAutoFit/>
          </a:bodyPr>
          <a:lstStyle/>
          <a:p>
            <a:r>
              <a:rPr lang="en-US" sz="2900" b="1" dirty="0">
                <a:solidFill>
                  <a:srgbClr val="0B0B0B"/>
                </a:solidFill>
                <a:latin typeface="Calibri"/>
              </a:rPr>
              <a:t>Formal Channel &amp; Coverage Model</a:t>
            </a:r>
          </a:p>
        </p:txBody>
      </p:sp>
      <p:sp>
        <p:nvSpPr>
          <p:cNvPr id="3" name="TextBox 2"/>
          <p:cNvSpPr txBox="1"/>
          <p:nvPr/>
        </p:nvSpPr>
        <p:spPr>
          <a:xfrm>
            <a:off x="502920" y="1299300"/>
            <a:ext cx="11155680" cy="300082"/>
          </a:xfrm>
          <a:prstGeom prst="rect">
            <a:avLst/>
          </a:prstGeom>
          <a:noFill/>
        </p:spPr>
        <p:txBody>
          <a:bodyPr wrap="square">
            <a:spAutoFit/>
          </a:bodyPr>
          <a:lstStyle/>
          <a:p>
            <a:r>
              <a:rPr lang="en-US" sz="1350" i="1" dirty="0">
                <a:solidFill>
                  <a:srgbClr val="898781"/>
                </a:solidFill>
                <a:latin typeface="Calibri"/>
              </a:rPr>
              <a:t>The authorization region is not asserted — it follows from the LED radiation pattern and the receiver FoV.</a:t>
            </a:r>
          </a:p>
        </p:txBody>
      </p:sp>
      <p:sp>
        <p:nvSpPr>
          <p:cNvPr id="4" name="TextBox 3"/>
          <p:cNvSpPr txBox="1"/>
          <p:nvPr/>
        </p:nvSpPr>
        <p:spPr>
          <a:xfrm>
            <a:off x="685800" y="1600200"/>
            <a:ext cx="10789920" cy="4755148"/>
          </a:xfrm>
          <a:prstGeom prst="rect">
            <a:avLst/>
          </a:prstGeom>
          <a:noFill/>
        </p:spPr>
        <p:txBody>
          <a:bodyPr wrap="square">
            <a:spAutoFit/>
          </a:bodyPr>
          <a:lstStyle/>
          <a:p>
            <a:pPr marL="0" indent="0">
              <a:spcBef>
                <a:spcPts val="900"/>
              </a:spcBef>
              <a:spcAft>
                <a:spcPts val="500"/>
              </a:spcAft>
              <a:buNone/>
            </a:pPr>
            <a:r>
              <a:rPr lang="en-US" sz="1800" b="1" dirty="0">
                <a:solidFill>
                  <a:srgbClr val="0B0B0B"/>
                </a:solidFill>
                <a:latin typeface="Calibri"/>
              </a:rPr>
              <a:t>Lambertian emission order, from the LED half-power semi-angle Φ½</a:t>
            </a:r>
          </a:p>
          <a:p>
            <a:pPr marL="228600" indent="0" algn="l">
              <a:spcAft>
                <a:spcPts val="500"/>
              </a:spcAft>
              <a:buNone/>
            </a:pPr>
            <a:r>
              <a:rPr lang="en-US" sz="1900" i="1" dirty="0">
                <a:solidFill>
                  <a:srgbClr val="1F3864"/>
                </a:solidFill>
                <a:latin typeface="Cambria Math"/>
              </a:rPr>
              <a:t>m = − ln 2 / ln( cos Φ½ )        [2]</a:t>
            </a:r>
          </a:p>
          <a:p>
            <a:pPr marL="0" indent="0">
              <a:spcBef>
                <a:spcPts val="900"/>
              </a:spcBef>
              <a:spcAft>
                <a:spcPts val="500"/>
              </a:spcAft>
              <a:buNone/>
            </a:pPr>
            <a:r>
              <a:rPr lang="en-US" sz="1800" b="1" dirty="0">
                <a:solidFill>
                  <a:srgbClr val="0B0B0B"/>
                </a:solidFill>
                <a:latin typeface="Calibri"/>
              </a:rPr>
              <a:t>Line-of-sight DC channel gain [2], [3]</a:t>
            </a:r>
          </a:p>
          <a:p>
            <a:pPr marL="228600" indent="0" algn="l">
              <a:spcAft>
                <a:spcPts val="500"/>
              </a:spcAft>
              <a:buNone/>
            </a:pPr>
            <a:r>
              <a:rPr lang="en-US" sz="1900" i="1" dirty="0">
                <a:solidFill>
                  <a:srgbClr val="1F3864"/>
                </a:solidFill>
                <a:latin typeface="Cambria Math"/>
              </a:rPr>
              <a:t>H(0) = [ (m+1)·Aᵣ / 2πd² ] · cosᵐ(φ) · Tₛ(ψ) · g(ψ) · cos(ψ),   0 ≤ ψ ≤ Ψᴄ    (0 otherwise)</a:t>
            </a:r>
          </a:p>
          <a:p>
            <a:pPr marL="228600" indent="0">
              <a:spcAft>
                <a:spcPts val="900"/>
              </a:spcAft>
              <a:buNone/>
            </a:pPr>
            <a:r>
              <a:rPr lang="en-US" sz="1500" dirty="0">
                <a:solidFill>
                  <a:srgbClr val="52514E"/>
                </a:solidFill>
                <a:latin typeface="Calibri"/>
              </a:rPr>
              <a:t>d = TX–RX distance · φ = irradiance angle · ψ = incidence angle · Aᵣ = detector area · Ψᴄ = receiver FoV half-angle</a:t>
            </a:r>
          </a:p>
          <a:p>
            <a:pPr marL="0" indent="0">
              <a:spcBef>
                <a:spcPts val="900"/>
              </a:spcBef>
              <a:spcAft>
                <a:spcPts val="500"/>
              </a:spcAft>
              <a:buNone/>
            </a:pPr>
            <a:r>
              <a:rPr lang="en-US" sz="1800" b="1" dirty="0">
                <a:solidFill>
                  <a:srgbClr val="0B0B0B"/>
                </a:solidFill>
                <a:latin typeface="Calibri"/>
              </a:rPr>
              <a:t>Concentrator gain and received optical power</a:t>
            </a:r>
          </a:p>
          <a:p>
            <a:pPr marL="228600" indent="0" algn="l">
              <a:spcAft>
                <a:spcPts val="500"/>
              </a:spcAft>
              <a:buNone/>
            </a:pPr>
            <a:r>
              <a:rPr lang="en-US" sz="1900" i="1" dirty="0">
                <a:solidFill>
                  <a:srgbClr val="1F3864"/>
                </a:solidFill>
                <a:latin typeface="Cambria Math"/>
              </a:rPr>
              <a:t>g(ψ) = n² / sin²(Ψᴄ)          Pᵣ = H(0) · Pₜ        [2]</a:t>
            </a:r>
          </a:p>
          <a:p>
            <a:pPr marL="0" indent="0">
              <a:spcBef>
                <a:spcPts val="900"/>
              </a:spcBef>
              <a:spcAft>
                <a:spcPts val="500"/>
              </a:spcAft>
              <a:buNone/>
            </a:pPr>
            <a:r>
              <a:rPr lang="en-US" sz="1800" b="1" dirty="0">
                <a:solidFill>
                  <a:srgbClr val="0B0B0B"/>
                </a:solidFill>
                <a:latin typeface="Calibri"/>
              </a:rPr>
              <a:t>Authorization region — the volume G1 actually protects</a:t>
            </a:r>
          </a:p>
          <a:p>
            <a:pPr marL="228600" indent="0" algn="l">
              <a:spcAft>
                <a:spcPts val="500"/>
              </a:spcAft>
              <a:buNone/>
            </a:pPr>
            <a:r>
              <a:rPr lang="en-US" sz="1900" i="1" dirty="0">
                <a:solidFill>
                  <a:srgbClr val="1F3864"/>
                </a:solidFill>
                <a:latin typeface="Cambria Math"/>
              </a:rPr>
              <a:t>Authorized(x) ⇔ Pᵣ(x) ≥ Pₘᵢₙ  ∧  ψ(x) ≤ Ψᴄ        V ≈ (2π/3)·R³·(1 − cos θ)</a:t>
            </a:r>
          </a:p>
          <a:p>
            <a:pPr marL="228600" indent="0">
              <a:spcAft>
                <a:spcPts val="900"/>
              </a:spcAft>
              <a:buNone/>
            </a:pPr>
            <a:r>
              <a:rPr lang="en-US" sz="1500" dirty="0">
                <a:solidFill>
                  <a:srgbClr val="52514E"/>
                </a:solidFill>
                <a:latin typeface="Calibri"/>
              </a:rPr>
              <a:t>R and θ are physical constants of the deployment — not yet independently measured on this bench. The model describes the shape of the authorized region; characterizing its exact size is future work.</a:t>
            </a:r>
          </a:p>
          <a:p>
            <a:pPr marL="0" indent="0">
              <a:spcBef>
                <a:spcPts val="1100"/>
              </a:spcBef>
              <a:buNone/>
            </a:pPr>
            <a:r>
              <a:rPr lang="en-US" sz="1500" b="1" i="1" dirty="0">
                <a:solidFill>
                  <a:srgbClr val="1F3864"/>
                </a:solidFill>
                <a:latin typeface="Calibri"/>
              </a:rPr>
              <a:t>Provenance: </a:t>
            </a:r>
            <a:r>
              <a:rPr lang="en-US" sz="1500" i="1" dirty="0">
                <a:solidFill>
                  <a:srgbClr val="52514E"/>
                </a:solidFill>
                <a:latin typeface="Calibri"/>
              </a:rPr>
              <a:t>the channel and coverage equations above are standard results from [2], [3]; the volume expression is elementary solid geometry. The authorization predicate and the G3 condition (next slide) are this work’s formulation.</a:t>
            </a:r>
          </a:p>
        </p:txBody>
      </p:sp>
      <p:pic>
        <p:nvPicPr>
          <p:cNvPr id="7" name="Picture 6" descr="A white background with text&#10;&#10;AI-generated content may be incorrect.">
            <a:extLst>
              <a:ext uri="{FF2B5EF4-FFF2-40B4-BE49-F238E27FC236}">
                <a16:creationId xmlns:a16="http://schemas.microsoft.com/office/drawing/2014/main" id="{E815CBF9-8B4C-C24C-1249-0A42B9A5F6CF}"/>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1D78EB68-6E49-6E62-6807-621A767964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42540098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33400" y="777240"/>
            <a:ext cx="11155680" cy="538609"/>
          </a:xfrm>
          <a:prstGeom prst="rect">
            <a:avLst/>
          </a:prstGeom>
          <a:noFill/>
        </p:spPr>
        <p:txBody>
          <a:bodyPr wrap="square">
            <a:spAutoFit/>
          </a:bodyPr>
          <a:lstStyle/>
          <a:p>
            <a:r>
              <a:rPr lang="en-US" sz="2900" b="1" dirty="0">
                <a:solidFill>
                  <a:srgbClr val="0B0B0B"/>
                </a:solidFill>
                <a:latin typeface="Calibri"/>
              </a:rPr>
              <a:t>Proximity Predicate &amp; the G3 Security Condition</a:t>
            </a:r>
          </a:p>
        </p:txBody>
      </p:sp>
      <p:sp>
        <p:nvSpPr>
          <p:cNvPr id="3" name="TextBox 2"/>
          <p:cNvSpPr txBox="1"/>
          <p:nvPr/>
        </p:nvSpPr>
        <p:spPr>
          <a:xfrm>
            <a:off x="502920" y="1299300"/>
            <a:ext cx="11155680" cy="300082"/>
          </a:xfrm>
          <a:prstGeom prst="rect">
            <a:avLst/>
          </a:prstGeom>
          <a:noFill/>
        </p:spPr>
        <p:txBody>
          <a:bodyPr wrap="square">
            <a:spAutoFit/>
          </a:bodyPr>
          <a:lstStyle/>
          <a:p>
            <a:r>
              <a:rPr lang="en-US" sz="1350" i="1" dirty="0">
                <a:solidFill>
                  <a:srgbClr val="898781"/>
                </a:solidFill>
                <a:latin typeface="Calibri"/>
              </a:rPr>
              <a:t>What the system actually decides — and the exact inequality on which G3 stands or falls.</a:t>
            </a:r>
          </a:p>
        </p:txBody>
      </p:sp>
      <p:sp>
        <p:nvSpPr>
          <p:cNvPr id="4" name="TextBox 3"/>
          <p:cNvSpPr txBox="1"/>
          <p:nvPr/>
        </p:nvSpPr>
        <p:spPr>
          <a:xfrm>
            <a:off x="685800" y="1600200"/>
            <a:ext cx="10789920" cy="4821833"/>
          </a:xfrm>
          <a:prstGeom prst="rect">
            <a:avLst/>
          </a:prstGeom>
          <a:noFill/>
        </p:spPr>
        <p:txBody>
          <a:bodyPr wrap="square">
            <a:spAutoFit/>
          </a:bodyPr>
          <a:lstStyle/>
          <a:p>
            <a:pPr marL="0" indent="0">
              <a:spcBef>
                <a:spcPts val="800"/>
              </a:spcBef>
              <a:spcAft>
                <a:spcPts val="400"/>
              </a:spcAft>
              <a:buNone/>
            </a:pPr>
            <a:r>
              <a:rPr lang="en-US" sz="1750" b="1" dirty="0">
                <a:solidFill>
                  <a:srgbClr val="0B0B0B"/>
                </a:solidFill>
                <a:latin typeface="Calibri"/>
              </a:rPr>
              <a:t>Classical distance bound from round-trip time [4], [5]</a:t>
            </a:r>
          </a:p>
          <a:p>
            <a:pPr marL="228600" indent="0">
              <a:spcAft>
                <a:spcPts val="300"/>
              </a:spcAft>
              <a:buNone/>
            </a:pPr>
            <a:r>
              <a:rPr lang="en-US" sz="1800" i="1" dirty="0">
                <a:solidFill>
                  <a:srgbClr val="1F3864"/>
                </a:solidFill>
                <a:latin typeface="Cambria Math"/>
              </a:rPr>
              <a:t>d ≤ c · ( t_RTT − t_proc ) / 2</a:t>
            </a:r>
          </a:p>
          <a:p>
            <a:pPr marL="228600" indent="0">
              <a:spcAft>
                <a:spcPts val="600"/>
              </a:spcAft>
              <a:buNone/>
            </a:pPr>
            <a:r>
              <a:rPr lang="en-US" sz="1500" dirty="0">
                <a:solidFill>
                  <a:srgbClr val="52514E"/>
                </a:solidFill>
                <a:latin typeface="Calibri"/>
              </a:rPr>
              <a:t>This bounds distance only when timing resolution is small relative to c. At Pico-class resolution it is not a distance bound — it is a latency bound. Stated here so the distinction is explicit.</a:t>
            </a:r>
          </a:p>
          <a:p>
            <a:pPr marL="0" indent="0">
              <a:spcBef>
                <a:spcPts val="800"/>
              </a:spcBef>
              <a:spcAft>
                <a:spcPts val="400"/>
              </a:spcAft>
              <a:buNone/>
            </a:pPr>
            <a:r>
              <a:rPr lang="en-US" sz="1750" b="1" dirty="0">
                <a:solidFill>
                  <a:srgbClr val="0B0B0B"/>
                </a:solidFill>
                <a:latin typeface="Calibri"/>
              </a:rPr>
              <a:t>Acceptance predicate as implemented</a:t>
            </a:r>
          </a:p>
          <a:p>
            <a:pPr marL="228600" indent="0">
              <a:spcAft>
                <a:spcPts val="300"/>
              </a:spcAft>
              <a:buNone/>
            </a:pPr>
            <a:r>
              <a:rPr lang="en-US" sz="1800" i="1" dirty="0">
                <a:solidFill>
                  <a:srgbClr val="1F3864"/>
                </a:solidFill>
                <a:latin typeface="Cambria Math"/>
              </a:rPr>
              <a:t>Accept ⇔ MACₖ(B) valid  ∧  | t_now − t_B | ≤ W  ∧  N ∉ Seen  ∧  RTT ≤ Δ</a:t>
            </a:r>
          </a:p>
          <a:p>
            <a:pPr marL="0" indent="0">
              <a:spcBef>
                <a:spcPts val="800"/>
              </a:spcBef>
              <a:spcAft>
                <a:spcPts val="400"/>
              </a:spcAft>
              <a:buNone/>
            </a:pPr>
            <a:r>
              <a:rPr lang="en-US" sz="1750" b="1" dirty="0">
                <a:solidFill>
                  <a:srgbClr val="0B0B0B"/>
                </a:solidFill>
                <a:latin typeface="Calibri"/>
              </a:rPr>
              <a:t>The G3 condition</a:t>
            </a:r>
          </a:p>
          <a:p>
            <a:pPr marL="228600" indent="0">
              <a:spcAft>
                <a:spcPts val="300"/>
              </a:spcAft>
              <a:buNone/>
            </a:pPr>
            <a:r>
              <a:rPr lang="en-US" sz="1800" i="1" dirty="0">
                <a:solidFill>
                  <a:srgbClr val="1F3864"/>
                </a:solidFill>
                <a:latin typeface="Cambria Math"/>
              </a:rPr>
              <a:t>G3 holds ⇔ Δ &lt; L_relay      where L_relay = min feasible relay latency</a:t>
            </a:r>
          </a:p>
          <a:p>
            <a:pPr marL="228600" indent="0">
              <a:spcAft>
                <a:spcPts val="600"/>
              </a:spcAft>
              <a:buNone/>
            </a:pPr>
            <a:r>
              <a:rPr lang="en-US" sz="1500" dirty="0">
                <a:solidFill>
                  <a:srgbClr val="52514E"/>
                </a:solidFill>
                <a:latin typeface="Calibri"/>
              </a:rPr>
              <a:t>Decode-and-forward relays report L_relay ≈ 200–500 ms [6]; any Δ below that is rejected. Amplify-and-forward relays drive L_relay toward zero, so no achievable Δ detects them [7] — the optical geometry of the previous slide, not the timing bound, is what raises their cost.</a:t>
            </a:r>
          </a:p>
          <a:p>
            <a:pPr marL="0" indent="0">
              <a:spcBef>
                <a:spcPts val="800"/>
              </a:spcBef>
              <a:spcAft>
                <a:spcPts val="400"/>
              </a:spcAft>
              <a:buNone/>
            </a:pPr>
            <a:r>
              <a:rPr lang="en-US" sz="1750" b="1" dirty="0">
                <a:solidFill>
                  <a:srgbClr val="0B0B0B"/>
                </a:solidFill>
                <a:latin typeface="Calibri"/>
              </a:rPr>
              <a:t>Why the two defenses are a pair, not a redundancy</a:t>
            </a:r>
          </a:p>
          <a:p>
            <a:pPr marL="228600" indent="0">
              <a:spcAft>
                <a:spcPts val="600"/>
              </a:spcAft>
              <a:buNone/>
            </a:pPr>
            <a:r>
              <a:rPr lang="en-US" sz="1500" dirty="0">
                <a:solidFill>
                  <a:srgbClr val="52514E"/>
                </a:solidFill>
                <a:latin typeface="Calibri"/>
              </a:rPr>
              <a:t>Timing (Δ) closes the digital-relay path; the bounded cone V closes the physical-reach path. Neither is sufficient alone.</a:t>
            </a:r>
          </a:p>
          <a:p>
            <a:pPr marL="0" indent="0">
              <a:spcBef>
                <a:spcPts val="900"/>
              </a:spcBef>
              <a:buNone/>
            </a:pPr>
            <a:r>
              <a:rPr lang="en-US" sz="1500" b="1" i="1" dirty="0">
                <a:solidFill>
                  <a:srgbClr val="1F3864"/>
                </a:solidFill>
                <a:latin typeface="Calibri"/>
              </a:rPr>
              <a:t>Provenance: </a:t>
            </a:r>
            <a:r>
              <a:rPr lang="en-US" sz="1500" i="1" dirty="0">
                <a:solidFill>
                  <a:srgbClr val="52514E"/>
                </a:solidFill>
                <a:latin typeface="Calibri"/>
              </a:rPr>
              <a:t>the RTT distance bound is due to [4], [5]; relay-latency figures are from [6], [7]. The acceptance predicate and the G3 condition are this work’s formulation.</a:t>
            </a:r>
          </a:p>
        </p:txBody>
      </p:sp>
      <p:pic>
        <p:nvPicPr>
          <p:cNvPr id="7" name="Picture 6" descr="A white background with text&#10;&#10;AI-generated content may be incorrect.">
            <a:extLst>
              <a:ext uri="{FF2B5EF4-FFF2-40B4-BE49-F238E27FC236}">
                <a16:creationId xmlns:a16="http://schemas.microsoft.com/office/drawing/2014/main" id="{E815CBF9-8B4C-C24C-1249-0A42B9A5F6CF}"/>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1D78EB68-6E49-6E62-6807-621A767964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18510310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777240"/>
            <a:ext cx="11155680" cy="822960"/>
          </a:xfrm>
          <a:prstGeom prst="rect">
            <a:avLst/>
          </a:prstGeom>
          <a:noFill/>
        </p:spPr>
        <p:txBody>
          <a:bodyPr wrap="square">
            <a:spAutoFit/>
          </a:bodyPr>
          <a:lstStyle/>
          <a:p>
            <a:r>
              <a:rPr sz="2900" b="1">
                <a:solidFill>
                  <a:srgbClr val="0B0B0B"/>
                </a:solidFill>
                <a:latin typeface="Calibri"/>
              </a:rPr>
              <a:t>G3 — A Named Limitation, Not a Discovered Gap</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G1 bounds how long a captured, later-resent frame stays useful. G2 rejects a byte-identical resend outright.</a:t>
            </a:r>
          </a:p>
          <a:p>
            <a:pPr>
              <a:spcAft>
                <a:spcPts val="1100"/>
              </a:spcAft>
            </a:pPr>
            <a:r>
              <a:rPr sz="1700">
                <a:solidFill>
                  <a:srgbClr val="0B0B0B"/>
                </a:solidFill>
                <a:latin typeface="Calibri"/>
              </a:rPr>
              <a:t>●   Neither mechanism examines WHEN a frame arrived — only whether its nonce is fresh and previously unseen</a:t>
            </a:r>
          </a:p>
          <a:p>
            <a:pPr>
              <a:spcAft>
                <a:spcPts val="1100"/>
              </a:spcAft>
            </a:pPr>
            <a:r>
              <a:rPr sz="1700">
                <a:solidFill>
                  <a:srgbClr val="0B0B0B"/>
                </a:solidFill>
                <a:latin typeface="Calibri"/>
              </a:rPr>
              <a:t>●   A live relay forwarding genuinely fresh frames in real time passes every check the receiver performs:</a:t>
            </a:r>
          </a:p>
          <a:p>
            <a:pPr lvl="1">
              <a:spcAft>
                <a:spcPts val="700"/>
              </a:spcAft>
            </a:pPr>
            <a:r>
              <a:rPr sz="1450">
                <a:solidFill>
                  <a:srgbClr val="52514E"/>
                </a:solidFill>
                <a:latin typeface="Calibri"/>
              </a:rPr>
              <a:t>‒   Nonce never seen before → G2 passes</a:t>
            </a:r>
          </a:p>
          <a:p>
            <a:pPr lvl="1">
              <a:spcAft>
                <a:spcPts val="700"/>
              </a:spcAft>
            </a:pPr>
            <a:r>
              <a:rPr sz="1450">
                <a:solidFill>
                  <a:srgbClr val="52514E"/>
                </a:solidFill>
                <a:latin typeface="Calibri"/>
              </a:rPr>
              <a:t>‒   GCM tag valid, ciphertext untouched → confidentiality/integrity passes</a:t>
            </a:r>
          </a:p>
          <a:p>
            <a:pPr lvl="1">
              <a:spcAft>
                <a:spcPts val="700"/>
              </a:spcAft>
            </a:pPr>
            <a:r>
              <a:rPr sz="1450">
                <a:solidFill>
                  <a:srgbClr val="52514E"/>
                </a:solidFill>
                <a:latin typeface="Calibri"/>
              </a:rPr>
              <a:t>‒   t_last continuously refreshed by relayed-but-fresh frames → G1 passes</a:t>
            </a:r>
          </a:p>
          <a:p>
            <a:pPr>
              <a:spcAft>
                <a:spcPts val="1100"/>
              </a:spcAft>
            </a:pPr>
            <a:r>
              <a:rPr sz="1700">
                <a:solidFill>
                  <a:srgbClr val="0B0B0B"/>
                </a:solidFill>
                <a:latin typeface="Calibri"/>
              </a:rPr>
              <a:t>●   Verified directly in the receiver implementation: the LiFi data-frame path checks only CRC and byte-exact nonce identity — no timestamp, no round-trip bound</a:t>
            </a:r>
          </a:p>
          <a:p>
            <a:pPr>
              <a:spcAft>
                <a:spcPts val="1100"/>
              </a:spcAft>
            </a:pPr>
            <a:r>
              <a:rPr sz="1700">
                <a:solidFill>
                  <a:srgbClr val="0B0B0B"/>
                </a:solidFill>
                <a:latin typeface="Calibri"/>
              </a:rPr>
              <a:t>●   What closing this gap requires: a Brands–Chaum-style distance-bounding challenge-response, binding authorization to measured round-trip time</a:t>
            </a:r>
          </a:p>
        </p:txBody>
      </p:sp>
      <p:pic>
        <p:nvPicPr>
          <p:cNvPr id="4" name="Picture 3" descr="A white background with text&#10;&#10;AI-generated content may be incorrect.">
            <a:extLst>
              <a:ext uri="{FF2B5EF4-FFF2-40B4-BE49-F238E27FC236}">
                <a16:creationId xmlns:a16="http://schemas.microsoft.com/office/drawing/2014/main" id="{0BB6CE34-40C2-0B05-8971-B7281C4F44AB}"/>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B3523F97-9585-DF87-5CEF-7FE7F49B935D}"/>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830179"/>
            <a:ext cx="11155680" cy="822960"/>
          </a:xfrm>
          <a:prstGeom prst="rect">
            <a:avLst/>
          </a:prstGeom>
          <a:noFill/>
        </p:spPr>
        <p:txBody>
          <a:bodyPr wrap="square">
            <a:spAutoFit/>
          </a:bodyPr>
          <a:lstStyle/>
          <a:p>
            <a:r>
              <a:rPr sz="2900" b="1" dirty="0">
                <a:solidFill>
                  <a:srgbClr val="0B0B0B"/>
                </a:solidFill>
                <a:latin typeface="Calibri"/>
              </a:rPr>
              <a:t>Security Validation — Recap</a:t>
            </a:r>
          </a:p>
        </p:txBody>
      </p:sp>
      <p:graphicFrame>
        <p:nvGraphicFramePr>
          <p:cNvPr id="3" name="Table 2"/>
          <p:cNvGraphicFramePr>
            <a:graphicFrameLocks noGrp="1"/>
          </p:cNvGraphicFramePr>
          <p:nvPr/>
        </p:nvGraphicFramePr>
        <p:xfrm>
          <a:off x="685800" y="1965960"/>
          <a:ext cx="10881360" cy="2926080"/>
        </p:xfrm>
        <a:graphic>
          <a:graphicData uri="http://schemas.openxmlformats.org/drawingml/2006/table">
            <a:tbl>
              <a:tblPr firstRow="1" bandRow="1">
                <a:tableStyleId>{5C22544A-7EE6-4342-B048-85BDC9FD1C3A}</a:tableStyleId>
              </a:tblPr>
              <a:tblGrid>
                <a:gridCol w="91440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5212080">
                  <a:extLst>
                    <a:ext uri="{9D8B030D-6E8A-4147-A177-3AD203B41FA5}">
                      <a16:colId xmlns:a16="http://schemas.microsoft.com/office/drawing/2014/main" val="20003"/>
                    </a:ext>
                  </a:extLst>
                </a:gridCol>
              </a:tblGrid>
              <a:tr h="585216">
                <a:tc>
                  <a:txBody>
                    <a:bodyPr/>
                    <a:lstStyle/>
                    <a:p>
                      <a:pPr algn="l"/>
                      <a:r>
                        <a:rPr sz="1350" b="1">
                          <a:solidFill>
                            <a:srgbClr val="FFFFFF"/>
                          </a:solidFill>
                          <a:latin typeface="Calibri"/>
                        </a:rPr>
                        <a:t>Goal</a:t>
                      </a:r>
                    </a:p>
                  </a:txBody>
                  <a:tcPr anchor="ctr">
                    <a:solidFill>
                      <a:srgbClr val="0B0B0B"/>
                    </a:solidFill>
                  </a:tcPr>
                </a:tc>
                <a:tc>
                  <a:txBody>
                    <a:bodyPr/>
                    <a:lstStyle/>
                    <a:p>
                      <a:pPr algn="ctr"/>
                      <a:r>
                        <a:rPr sz="1350" b="1">
                          <a:solidFill>
                            <a:srgbClr val="FFFFFF"/>
                          </a:solidFill>
                          <a:latin typeface="Calibri"/>
                        </a:rPr>
                        <a:t>Property</a:t>
                      </a:r>
                    </a:p>
                  </a:txBody>
                  <a:tcPr anchor="ctr">
                    <a:solidFill>
                      <a:srgbClr val="0B0B0B"/>
                    </a:solidFill>
                  </a:tcPr>
                </a:tc>
                <a:tc>
                  <a:txBody>
                    <a:bodyPr/>
                    <a:lstStyle/>
                    <a:p>
                      <a:pPr algn="ctr"/>
                      <a:r>
                        <a:rPr sz="1350" b="1">
                          <a:solidFill>
                            <a:srgbClr val="FFFFFF"/>
                          </a:solidFill>
                          <a:latin typeface="Calibri"/>
                        </a:rPr>
                        <a:t>Status</a:t>
                      </a:r>
                    </a:p>
                  </a:txBody>
                  <a:tcPr anchor="ctr">
                    <a:solidFill>
                      <a:srgbClr val="0B0B0B"/>
                    </a:solidFill>
                  </a:tcPr>
                </a:tc>
                <a:tc>
                  <a:txBody>
                    <a:bodyPr/>
                    <a:lstStyle/>
                    <a:p>
                      <a:pPr algn="ctr"/>
                      <a:r>
                        <a:rPr sz="1350" b="1">
                          <a:solidFill>
                            <a:srgbClr val="FFFFFF"/>
                          </a:solidFill>
                          <a:latin typeface="Calibri"/>
                        </a:rPr>
                        <a:t>Evidence</a:t>
                      </a:r>
                    </a:p>
                  </a:txBody>
                  <a:tcPr anchor="ctr">
                    <a:solidFill>
                      <a:srgbClr val="0B0B0B"/>
                    </a:solidFill>
                  </a:tcPr>
                </a:tc>
                <a:extLst>
                  <a:ext uri="{0D108BD9-81ED-4DB2-BD59-A6C34878D82A}">
                    <a16:rowId xmlns:a16="http://schemas.microsoft.com/office/drawing/2014/main" val="10000"/>
                  </a:ext>
                </a:extLst>
              </a:tr>
              <a:tr h="585216">
                <a:tc>
                  <a:txBody>
                    <a:bodyPr/>
                    <a:lstStyle/>
                    <a:p>
                      <a:pPr algn="l"/>
                      <a:r>
                        <a:rPr sz="1250" b="0">
                          <a:solidFill>
                            <a:srgbClr val="0B0B0B"/>
                          </a:solidFill>
                          <a:latin typeface="Calibri"/>
                        </a:rPr>
                        <a:t>G1</a:t>
                      </a:r>
                    </a:p>
                  </a:txBody>
                  <a:tcPr anchor="ctr">
                    <a:solidFill>
                      <a:srgbClr val="FFFFFF"/>
                    </a:solidFill>
                  </a:tcPr>
                </a:tc>
                <a:tc>
                  <a:txBody>
                    <a:bodyPr/>
                    <a:lstStyle/>
                    <a:p>
                      <a:pPr algn="ctr"/>
                      <a:r>
                        <a:rPr sz="1250" b="0">
                          <a:solidFill>
                            <a:srgbClr val="0B0B0B"/>
                          </a:solidFill>
                          <a:latin typeface="Calibri"/>
                        </a:rPr>
                        <a:t>Freshness / Expiration</a:t>
                      </a:r>
                    </a:p>
                  </a:txBody>
                  <a:tcPr anchor="ctr">
                    <a:solidFill>
                      <a:srgbClr val="FFFFFF"/>
                    </a:solidFill>
                  </a:tcPr>
                </a:tc>
                <a:tc>
                  <a:txBody>
                    <a:bodyPr/>
                    <a:lstStyle/>
                    <a:p>
                      <a:pPr algn="ctr"/>
                      <a:r>
                        <a:rPr sz="1250" b="1">
                          <a:solidFill>
                            <a:srgbClr val="0CA30C"/>
                          </a:solidFill>
                          <a:latin typeface="Calibri"/>
                        </a:rPr>
                        <a:t>Achieved</a:t>
                      </a:r>
                    </a:p>
                  </a:txBody>
                  <a:tcPr anchor="ctr">
                    <a:solidFill>
                      <a:srgbClr val="FFFFFF"/>
                    </a:solidFill>
                  </a:tcPr>
                </a:tc>
                <a:tc>
                  <a:txBody>
                    <a:bodyPr/>
                    <a:lstStyle/>
                    <a:p>
                      <a:pPr algn="ctr"/>
                      <a:r>
                        <a:rPr sz="1250" b="0">
                          <a:solidFill>
                            <a:srgbClr val="0B0B0B"/>
                          </a:solidFill>
                          <a:latin typeface="Calibri"/>
                        </a:rPr>
                        <a:t>15.11s ± 0.06s intrinsic ≈ Δ + 0.11s</a:t>
                      </a:r>
                    </a:p>
                  </a:txBody>
                  <a:tcPr anchor="ctr">
                    <a:solidFill>
                      <a:srgbClr val="FFFFFF"/>
                    </a:solidFill>
                  </a:tcPr>
                </a:tc>
                <a:extLst>
                  <a:ext uri="{0D108BD9-81ED-4DB2-BD59-A6C34878D82A}">
                    <a16:rowId xmlns:a16="http://schemas.microsoft.com/office/drawing/2014/main" val="10001"/>
                  </a:ext>
                </a:extLst>
              </a:tr>
              <a:tr h="585216">
                <a:tc>
                  <a:txBody>
                    <a:bodyPr/>
                    <a:lstStyle/>
                    <a:p>
                      <a:pPr algn="l"/>
                      <a:r>
                        <a:rPr sz="1250" b="0">
                          <a:solidFill>
                            <a:srgbClr val="0B0B0B"/>
                          </a:solidFill>
                          <a:latin typeface="Calibri"/>
                        </a:rPr>
                        <a:t>G2</a:t>
                      </a:r>
                    </a:p>
                  </a:txBody>
                  <a:tcPr anchor="ctr">
                    <a:solidFill>
                      <a:srgbClr val="F0EFEC"/>
                    </a:solidFill>
                  </a:tcPr>
                </a:tc>
                <a:tc>
                  <a:txBody>
                    <a:bodyPr/>
                    <a:lstStyle/>
                    <a:p>
                      <a:pPr algn="ctr"/>
                      <a:r>
                        <a:rPr sz="1250" b="0">
                          <a:solidFill>
                            <a:srgbClr val="0B0B0B"/>
                          </a:solidFill>
                          <a:latin typeface="Calibri"/>
                        </a:rPr>
                        <a:t>Replay Resistance</a:t>
                      </a:r>
                    </a:p>
                  </a:txBody>
                  <a:tcPr anchor="ctr">
                    <a:solidFill>
                      <a:srgbClr val="F0EFEC"/>
                    </a:solidFill>
                  </a:tcPr>
                </a:tc>
                <a:tc>
                  <a:txBody>
                    <a:bodyPr/>
                    <a:lstStyle/>
                    <a:p>
                      <a:pPr algn="ctr"/>
                      <a:r>
                        <a:rPr sz="1250" b="1">
                          <a:solidFill>
                            <a:srgbClr val="0CA30C"/>
                          </a:solidFill>
                          <a:latin typeface="Calibri"/>
                        </a:rPr>
                        <a:t>Achieved</a:t>
                      </a:r>
                    </a:p>
                  </a:txBody>
                  <a:tcPr anchor="ctr">
                    <a:solidFill>
                      <a:srgbClr val="F0EFEC"/>
                    </a:solidFill>
                  </a:tcPr>
                </a:tc>
                <a:tc>
                  <a:txBody>
                    <a:bodyPr/>
                    <a:lstStyle/>
                    <a:p>
                      <a:pPr algn="ctr"/>
                      <a:r>
                        <a:rPr sz="1250" b="0">
                          <a:solidFill>
                            <a:srgbClr val="0B0B0B"/>
                          </a:solidFill>
                          <a:latin typeface="Calibri"/>
                        </a:rPr>
                        <a:t>Immediate rejection confirmed; window-bounded (documented)</a:t>
                      </a:r>
                    </a:p>
                  </a:txBody>
                  <a:tcPr anchor="ctr">
                    <a:solidFill>
                      <a:srgbClr val="F0EFEC"/>
                    </a:solidFill>
                  </a:tcPr>
                </a:tc>
                <a:extLst>
                  <a:ext uri="{0D108BD9-81ED-4DB2-BD59-A6C34878D82A}">
                    <a16:rowId xmlns:a16="http://schemas.microsoft.com/office/drawing/2014/main" val="10002"/>
                  </a:ext>
                </a:extLst>
              </a:tr>
              <a:tr h="585216">
                <a:tc>
                  <a:txBody>
                    <a:bodyPr/>
                    <a:lstStyle/>
                    <a:p>
                      <a:pPr algn="l"/>
                      <a:r>
                        <a:rPr sz="1250" b="0">
                          <a:solidFill>
                            <a:srgbClr val="0B0B0B"/>
                          </a:solidFill>
                          <a:latin typeface="Calibri"/>
                        </a:rPr>
                        <a:t>G3</a:t>
                      </a:r>
                    </a:p>
                  </a:txBody>
                  <a:tcPr anchor="ctr">
                    <a:solidFill>
                      <a:srgbClr val="FFFFFF"/>
                    </a:solidFill>
                  </a:tcPr>
                </a:tc>
                <a:tc>
                  <a:txBody>
                    <a:bodyPr/>
                    <a:lstStyle/>
                    <a:p>
                      <a:pPr algn="ctr"/>
                      <a:r>
                        <a:rPr sz="1250" b="0">
                          <a:solidFill>
                            <a:srgbClr val="0B0B0B"/>
                          </a:solidFill>
                          <a:latin typeface="Calibri"/>
                        </a:rPr>
                        <a:t>Relay-Bounded Auth</a:t>
                      </a:r>
                    </a:p>
                  </a:txBody>
                  <a:tcPr anchor="ctr">
                    <a:solidFill>
                      <a:srgbClr val="FFFFFF"/>
                    </a:solidFill>
                  </a:tcPr>
                </a:tc>
                <a:tc>
                  <a:txBody>
                    <a:bodyPr/>
                    <a:lstStyle/>
                    <a:p>
                      <a:pPr algn="ctr"/>
                      <a:r>
                        <a:rPr sz="1250" b="1">
                          <a:solidFill>
                            <a:srgbClr val="D03B3B"/>
                          </a:solidFill>
                          <a:latin typeface="Calibri"/>
                        </a:rPr>
                        <a:t>Not achieved</a:t>
                      </a:r>
                    </a:p>
                  </a:txBody>
                  <a:tcPr anchor="ctr">
                    <a:solidFill>
                      <a:srgbClr val="FFFFFF"/>
                    </a:solidFill>
                  </a:tcPr>
                </a:tc>
                <a:tc>
                  <a:txBody>
                    <a:bodyPr/>
                    <a:lstStyle/>
                    <a:p>
                      <a:pPr algn="ctr"/>
                      <a:r>
                        <a:rPr sz="1250" b="0">
                          <a:solidFill>
                            <a:srgbClr val="0B0B0B"/>
                          </a:solidFill>
                          <a:latin typeface="Calibri"/>
                        </a:rPr>
                        <a:t>Named limitation — no timing check on data path</a:t>
                      </a:r>
                    </a:p>
                  </a:txBody>
                  <a:tcPr anchor="ctr">
                    <a:solidFill>
                      <a:srgbClr val="FFFFFF"/>
                    </a:solidFill>
                  </a:tcPr>
                </a:tc>
                <a:extLst>
                  <a:ext uri="{0D108BD9-81ED-4DB2-BD59-A6C34878D82A}">
                    <a16:rowId xmlns:a16="http://schemas.microsoft.com/office/drawing/2014/main" val="10003"/>
                  </a:ext>
                </a:extLst>
              </a:tr>
              <a:tr h="585216">
                <a:tc>
                  <a:txBody>
                    <a:bodyPr/>
                    <a:lstStyle/>
                    <a:p>
                      <a:pPr algn="l"/>
                      <a:r>
                        <a:rPr sz="1250" b="0">
                          <a:solidFill>
                            <a:srgbClr val="0B0B0B"/>
                          </a:solidFill>
                          <a:latin typeface="Calibri"/>
                        </a:rPr>
                        <a:t>G4</a:t>
                      </a:r>
                    </a:p>
                  </a:txBody>
                  <a:tcPr anchor="ctr">
                    <a:solidFill>
                      <a:srgbClr val="F0EFEC"/>
                    </a:solidFill>
                  </a:tcPr>
                </a:tc>
                <a:tc>
                  <a:txBody>
                    <a:bodyPr/>
                    <a:lstStyle/>
                    <a:p>
                      <a:pPr algn="ctr"/>
                      <a:r>
                        <a:rPr sz="1250" b="0">
                          <a:solidFill>
                            <a:srgbClr val="0B0B0B"/>
                          </a:solidFill>
                          <a:latin typeface="Calibri"/>
                        </a:rPr>
                        <a:t>Revocation on Interruption</a:t>
                      </a:r>
                    </a:p>
                  </a:txBody>
                  <a:tcPr anchor="ctr">
                    <a:solidFill>
                      <a:srgbClr val="F0EFEC"/>
                    </a:solidFill>
                  </a:tcPr>
                </a:tc>
                <a:tc>
                  <a:txBody>
                    <a:bodyPr/>
                    <a:lstStyle/>
                    <a:p>
                      <a:pPr algn="ctr"/>
                      <a:r>
                        <a:rPr sz="1250" b="1">
                          <a:solidFill>
                            <a:srgbClr val="0CA30C"/>
                          </a:solidFill>
                          <a:latin typeface="Calibri"/>
                        </a:rPr>
                        <a:t>Achieved</a:t>
                      </a:r>
                    </a:p>
                  </a:txBody>
                  <a:tcPr anchor="ctr">
                    <a:solidFill>
                      <a:srgbClr val="F0EFEC"/>
                    </a:solidFill>
                  </a:tcPr>
                </a:tc>
                <a:tc>
                  <a:txBody>
                    <a:bodyPr/>
                    <a:lstStyle/>
                    <a:p>
                      <a:pPr algn="ctr"/>
                      <a:r>
                        <a:rPr sz="1250" b="0">
                          <a:solidFill>
                            <a:srgbClr val="0B0B0B"/>
                          </a:solidFill>
                          <a:latin typeface="Calibri"/>
                        </a:rPr>
                        <a:t>Follows directly from G1's measured latency</a:t>
                      </a:r>
                    </a:p>
                  </a:txBody>
                  <a:tcPr anchor="ctr">
                    <a:solidFill>
                      <a:srgbClr val="F0EFEC"/>
                    </a:solidFill>
                  </a:tcPr>
                </a:tc>
                <a:extLst>
                  <a:ext uri="{0D108BD9-81ED-4DB2-BD59-A6C34878D82A}">
                    <a16:rowId xmlns:a16="http://schemas.microsoft.com/office/drawing/2014/main" val="10004"/>
                  </a:ext>
                </a:extLst>
              </a:tr>
            </a:tbl>
          </a:graphicData>
        </a:graphic>
      </p:graphicFrame>
      <p:pic>
        <p:nvPicPr>
          <p:cNvPr id="4" name="Picture 3" descr="A white background with text&#10;&#10;AI-generated content may be incorrect.">
            <a:extLst>
              <a:ext uri="{FF2B5EF4-FFF2-40B4-BE49-F238E27FC236}">
                <a16:creationId xmlns:a16="http://schemas.microsoft.com/office/drawing/2014/main" id="{DD2BCAC9-46EE-A8E2-AB72-172C29BDD9D6}"/>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1CA9E0BF-C260-072F-3E9B-D7623A807FA9}"/>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868680"/>
            <a:ext cx="11155680" cy="822960"/>
          </a:xfrm>
          <a:prstGeom prst="rect">
            <a:avLst/>
          </a:prstGeom>
          <a:noFill/>
        </p:spPr>
        <p:txBody>
          <a:bodyPr wrap="square">
            <a:spAutoFit/>
          </a:bodyPr>
          <a:lstStyle/>
          <a:p>
            <a:r>
              <a:rPr sz="2900" b="1" dirty="0">
                <a:solidFill>
                  <a:srgbClr val="0B0B0B"/>
                </a:solidFill>
                <a:latin typeface="Calibri"/>
              </a:rPr>
              <a:t>Limitations</a:t>
            </a:r>
          </a:p>
        </p:txBody>
      </p:sp>
      <p:sp>
        <p:nvSpPr>
          <p:cNvPr id="3" name="TextBox 2"/>
          <p:cNvSpPr txBox="1"/>
          <p:nvPr/>
        </p:nvSpPr>
        <p:spPr>
          <a:xfrm>
            <a:off x="685800" y="1600200"/>
            <a:ext cx="10789920" cy="2628925"/>
          </a:xfrm>
          <a:prstGeom prst="rect">
            <a:avLst/>
          </a:prstGeom>
          <a:noFill/>
        </p:spPr>
        <p:txBody>
          <a:bodyPr wrap="square">
            <a:spAutoFit/>
          </a:bodyPr>
          <a:lstStyle/>
          <a:p>
            <a:pPr>
              <a:spcAft>
                <a:spcPts val="1100"/>
              </a:spcAft>
            </a:pPr>
            <a:r>
              <a:rPr sz="1700" dirty="0">
                <a:solidFill>
                  <a:srgbClr val="0B0B0B"/>
                </a:solidFill>
                <a:latin typeface="Calibri"/>
              </a:rPr>
              <a:t>●   Line-of-sight requirement — dust, fog, or vibration can trigger unnecessary revocation if Δ is set aggressively</a:t>
            </a:r>
          </a:p>
          <a:p>
            <a:pPr>
              <a:spcAft>
                <a:spcPts val="1100"/>
              </a:spcAft>
            </a:pPr>
            <a:r>
              <a:rPr sz="1700" dirty="0">
                <a:solidFill>
                  <a:srgbClr val="0B0B0B"/>
                </a:solidFill>
                <a:latin typeface="Calibri"/>
              </a:rPr>
              <a:t>●   No relay resistance (G3) — a live relay of genuinely fresh frames passes every current check</a:t>
            </a:r>
          </a:p>
          <a:p>
            <a:pPr>
              <a:spcAft>
                <a:spcPts val="1100"/>
              </a:spcAft>
            </a:pPr>
            <a:r>
              <a:rPr sz="1700" dirty="0">
                <a:solidFill>
                  <a:srgbClr val="0B0B0B"/>
                </a:solidFill>
                <a:latin typeface="Calibri"/>
              </a:rPr>
              <a:t>●   Single-channel reception — four LED channels transmit, but only one photodiode receives</a:t>
            </a:r>
          </a:p>
          <a:p>
            <a:pPr>
              <a:spcAft>
                <a:spcPts val="1100"/>
              </a:spcAft>
            </a:pPr>
            <a:r>
              <a:rPr sz="1700" dirty="0">
                <a:solidFill>
                  <a:srgbClr val="0B0B0B"/>
                </a:solidFill>
                <a:latin typeface="Calibri"/>
              </a:rPr>
              <a:t>●   Ambient light sensitivity — partial mitigation via programmable DAC threshold, no full adaptive control yet</a:t>
            </a:r>
          </a:p>
          <a:p>
            <a:pPr>
              <a:spcAft>
                <a:spcPts val="1100"/>
              </a:spcAft>
            </a:pPr>
            <a:r>
              <a:rPr sz="1700" dirty="0">
                <a:solidFill>
                  <a:srgbClr val="0B0B0B"/>
                </a:solidFill>
                <a:latin typeface="Calibri"/>
              </a:rPr>
              <a:t>●   No hardware key protection — RP2040/RP2350 lack a TPM or secure element; keys are extractable with physical access + debugger</a:t>
            </a:r>
          </a:p>
          <a:p>
            <a:pPr>
              <a:spcAft>
                <a:spcPts val="1100"/>
              </a:spcAft>
            </a:pPr>
            <a:r>
              <a:rPr sz="1700" dirty="0">
                <a:solidFill>
                  <a:srgbClr val="0B0B0B"/>
                </a:solidFill>
                <a:latin typeface="Calibri"/>
              </a:rPr>
              <a:t>●   Revocation-latency confirmed on-device (15.001s ± 0.000s, n=25) — the earlier externally-measured numbers held up exactly</a:t>
            </a:r>
          </a:p>
        </p:txBody>
      </p:sp>
      <p:pic>
        <p:nvPicPr>
          <p:cNvPr id="4" name="Picture 3" descr="A white background with text&#10;&#10;AI-generated content may be incorrect.">
            <a:extLst>
              <a:ext uri="{FF2B5EF4-FFF2-40B4-BE49-F238E27FC236}">
                <a16:creationId xmlns:a16="http://schemas.microsoft.com/office/drawing/2014/main" id="{05CE5B63-7FA1-CAD7-99DF-3DFC32EEDB61}"/>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0710A532-078E-1D3E-2910-ADD4D76E42F4}"/>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576072"/>
            <a:ext cx="11155680" cy="822960"/>
          </a:xfrm>
          <a:prstGeom prst="rect">
            <a:avLst/>
          </a:prstGeom>
          <a:noFill/>
        </p:spPr>
        <p:txBody>
          <a:bodyPr wrap="square">
            <a:spAutoFit/>
          </a:bodyPr>
          <a:lstStyle/>
          <a:p>
            <a:r>
              <a:rPr sz="2900" b="1" dirty="0">
                <a:solidFill>
                  <a:srgbClr val="0B0B0B"/>
                </a:solidFill>
                <a:latin typeface="Calibri"/>
              </a:rPr>
              <a:t>Future Work</a:t>
            </a:r>
          </a:p>
        </p:txBody>
      </p:sp>
      <p:sp>
        <p:nvSpPr>
          <p:cNvPr id="3" name="TextBox 2"/>
          <p:cNvSpPr txBox="1"/>
          <p:nvPr/>
        </p:nvSpPr>
        <p:spPr>
          <a:xfrm>
            <a:off x="518160" y="1143000"/>
            <a:ext cx="11155680" cy="457200"/>
          </a:xfrm>
          <a:prstGeom prst="rect">
            <a:avLst/>
          </a:prstGeom>
          <a:noFill/>
        </p:spPr>
        <p:txBody>
          <a:bodyPr wrap="square">
            <a:spAutoFit/>
          </a:bodyPr>
          <a:lstStyle/>
          <a:p>
            <a:r>
              <a:rPr sz="1350" i="1">
                <a:solidFill>
                  <a:srgbClr val="898781"/>
                </a:solidFill>
                <a:latin typeface="Calibri"/>
              </a:rPr>
              <a:t>Ordered by priority — not a wish list</a:t>
            </a:r>
          </a:p>
        </p:txBody>
      </p:sp>
      <p:sp>
        <p:nvSpPr>
          <p:cNvPr id="4" name="TextBox 3"/>
          <p:cNvSpPr txBox="1"/>
          <p:nvPr/>
        </p:nvSpPr>
        <p:spPr>
          <a:xfrm>
            <a:off x="685800" y="1508760"/>
            <a:ext cx="5120640" cy="365760"/>
          </a:xfrm>
          <a:prstGeom prst="rect">
            <a:avLst/>
          </a:prstGeom>
          <a:noFill/>
        </p:spPr>
        <p:txBody>
          <a:bodyPr wrap="none">
            <a:spAutoFit/>
          </a:bodyPr>
          <a:lstStyle/>
          <a:p>
            <a:r>
              <a:rPr sz="1250" b="1">
                <a:solidFill>
                  <a:srgbClr val="D03B3B"/>
                </a:solidFill>
                <a:latin typeface="Calibri"/>
              </a:rPr>
              <a:t>CLOSES A GAP NAMED IN THIS TALK</a:t>
            </a:r>
          </a:p>
        </p:txBody>
      </p:sp>
      <p:sp>
        <p:nvSpPr>
          <p:cNvPr id="5" name="TextBox 4"/>
          <p:cNvSpPr txBox="1"/>
          <p:nvPr/>
        </p:nvSpPr>
        <p:spPr>
          <a:xfrm>
            <a:off x="685800" y="1874519"/>
            <a:ext cx="5120640" cy="4206240"/>
          </a:xfrm>
          <a:prstGeom prst="rect">
            <a:avLst/>
          </a:prstGeom>
          <a:noFill/>
        </p:spPr>
        <p:txBody>
          <a:bodyPr wrap="square">
            <a:spAutoFit/>
          </a:bodyPr>
          <a:lstStyle/>
          <a:p>
            <a:pPr>
              <a:spcAft>
                <a:spcPts val="1100"/>
              </a:spcAft>
            </a:pPr>
            <a:r>
              <a:rPr sz="1500">
                <a:solidFill>
                  <a:srgbClr val="0B0B0B"/>
                </a:solidFill>
                <a:latin typeface="Calibri"/>
              </a:rPr>
              <a:t>●   Distance-bounding challenge-response for G3 — firmware delay-sweep + ~5,000 round-trip timing runs to characterize a detection threshold Δ and false-reject cost</a:t>
            </a:r>
          </a:p>
          <a:p>
            <a:pPr>
              <a:spcAft>
                <a:spcPts val="1100"/>
              </a:spcAft>
            </a:pPr>
            <a:r>
              <a:rPr sz="1500">
                <a:solidFill>
                  <a:srgbClr val="0B0B0B"/>
                </a:solidFill>
                <a:latin typeface="Calibri"/>
              </a:rPr>
              <a:t>●   Formal protocol verification (Tamarin / ProVerif) of G1–G4 — not yet attempted, explicitly scoped out</a:t>
            </a:r>
          </a:p>
          <a:p>
            <a:pPr>
              <a:spcAft>
                <a:spcPts val="1100"/>
              </a:spcAft>
            </a:pPr>
            <a:r>
              <a:rPr sz="1500">
                <a:solidFill>
                  <a:srgbClr val="0B0B0B"/>
                </a:solidFill>
                <a:latin typeface="Calibri"/>
              </a:rPr>
              <a:t>●   Time-bounded key validity enforcement — abs_validity/rel_validity fields exist but are not yet enforced</a:t>
            </a:r>
          </a:p>
        </p:txBody>
      </p:sp>
      <p:sp>
        <p:nvSpPr>
          <p:cNvPr id="6" name="TextBox 5"/>
          <p:cNvSpPr txBox="1"/>
          <p:nvPr/>
        </p:nvSpPr>
        <p:spPr>
          <a:xfrm>
            <a:off x="6355080" y="1508760"/>
            <a:ext cx="5120640" cy="365760"/>
          </a:xfrm>
          <a:prstGeom prst="rect">
            <a:avLst/>
          </a:prstGeom>
          <a:noFill/>
        </p:spPr>
        <p:txBody>
          <a:bodyPr wrap="none">
            <a:spAutoFit/>
          </a:bodyPr>
          <a:lstStyle/>
          <a:p>
            <a:r>
              <a:rPr sz="1250" b="1">
                <a:solidFill>
                  <a:srgbClr val="1BAF7A"/>
                </a:solidFill>
                <a:latin typeface="Calibri"/>
              </a:rPr>
              <a:t>EXTENDS THE SYSTEM</a:t>
            </a:r>
          </a:p>
        </p:txBody>
      </p:sp>
      <p:sp>
        <p:nvSpPr>
          <p:cNvPr id="7" name="TextBox 6"/>
          <p:cNvSpPr txBox="1"/>
          <p:nvPr/>
        </p:nvSpPr>
        <p:spPr>
          <a:xfrm>
            <a:off x="6355080" y="1874519"/>
            <a:ext cx="5120640" cy="4206240"/>
          </a:xfrm>
          <a:prstGeom prst="rect">
            <a:avLst/>
          </a:prstGeom>
          <a:noFill/>
        </p:spPr>
        <p:txBody>
          <a:bodyPr wrap="square">
            <a:spAutoFit/>
          </a:bodyPr>
          <a:lstStyle/>
          <a:p>
            <a:pPr>
              <a:spcAft>
                <a:spcPts val="1100"/>
              </a:spcAft>
            </a:pPr>
            <a:r>
              <a:rPr sz="1500">
                <a:solidFill>
                  <a:srgbClr val="0B0B0B"/>
                </a:solidFill>
                <a:latin typeface="Calibri"/>
              </a:rPr>
              <a:t>●   Higher data rates — 47kΩ/1pF feedback network targeting 2–4 Mbps</a:t>
            </a:r>
          </a:p>
          <a:p>
            <a:pPr>
              <a:spcAft>
                <a:spcPts val="1100"/>
              </a:spcAft>
            </a:pPr>
            <a:r>
              <a:rPr sz="1500">
                <a:solidFill>
                  <a:srgbClr val="0B0B0B"/>
                </a:solidFill>
                <a:latin typeface="Calibri"/>
              </a:rPr>
              <a:t>●   Optical concentration — collimating lenses (TX), CPC/Fresnel concentrators (RX) to extend range</a:t>
            </a:r>
          </a:p>
          <a:p>
            <a:pPr>
              <a:spcAft>
                <a:spcPts val="1100"/>
              </a:spcAft>
            </a:pPr>
            <a:r>
              <a:rPr sz="1500">
                <a:solidFill>
                  <a:srgbClr val="0B0B0B"/>
                </a:solidFill>
                <a:latin typeface="Calibri"/>
              </a:rPr>
              <a:t>●   Hardware key protection — TPM or secure element (e.g., ATECC608)</a:t>
            </a:r>
          </a:p>
          <a:p>
            <a:pPr>
              <a:spcAft>
                <a:spcPts val="1100"/>
              </a:spcAft>
            </a:pPr>
            <a:r>
              <a:rPr sz="1500">
                <a:solidFill>
                  <a:srgbClr val="0B0B0B"/>
                </a:solidFill>
                <a:latin typeface="Calibri"/>
              </a:rPr>
              <a:t>●   Robotic platform demonstration — 3pi+ integration already designed into the receiver PCB</a:t>
            </a:r>
          </a:p>
        </p:txBody>
      </p:sp>
      <p:pic>
        <p:nvPicPr>
          <p:cNvPr id="8" name="Picture 7" descr="A white background with text&#10;&#10;AI-generated content may be incorrect.">
            <a:extLst>
              <a:ext uri="{FF2B5EF4-FFF2-40B4-BE49-F238E27FC236}">
                <a16:creationId xmlns:a16="http://schemas.microsoft.com/office/drawing/2014/main" id="{A3D495D5-B599-02DB-C84E-69F0A684BEAA}"/>
              </a:ext>
            </a:extLst>
          </p:cNvPr>
          <p:cNvPicPr>
            <a:picLocks noChangeAspect="1"/>
          </p:cNvPicPr>
          <p:nvPr/>
        </p:nvPicPr>
        <p:blipFill>
          <a:blip r:embed="rId3"/>
          <a:stretch>
            <a:fillRect/>
          </a:stretch>
        </p:blipFill>
        <p:spPr>
          <a:xfrm>
            <a:off x="9545121" y="-4718"/>
            <a:ext cx="2646879" cy="1477328"/>
          </a:xfrm>
          <a:prstGeom prst="rect">
            <a:avLst/>
          </a:prstGeom>
        </p:spPr>
      </p:pic>
      <p:sp>
        <p:nvSpPr>
          <p:cNvPr id="9" name="Rectangle 8">
            <a:extLst>
              <a:ext uri="{FF2B5EF4-FFF2-40B4-BE49-F238E27FC236}">
                <a16:creationId xmlns:a16="http://schemas.microsoft.com/office/drawing/2014/main" id="{8882E955-2E26-5416-4685-F111A55F7B17}"/>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777240"/>
            <a:ext cx="11155680" cy="822960"/>
          </a:xfrm>
          <a:prstGeom prst="rect">
            <a:avLst/>
          </a:prstGeom>
          <a:noFill/>
        </p:spPr>
        <p:txBody>
          <a:bodyPr wrap="square">
            <a:spAutoFit/>
          </a:bodyPr>
          <a:lstStyle/>
          <a:p>
            <a:r>
              <a:rPr sz="2900" b="1" dirty="0">
                <a:solidFill>
                  <a:srgbClr val="0B0B0B"/>
                </a:solidFill>
                <a:latin typeface="Calibri"/>
              </a:rPr>
              <a:t>Contributions</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First system to formalize and evaluate continuous, time-bounded optical-presence authorization with automatic revocation</a:t>
            </a:r>
          </a:p>
          <a:p>
            <a:pPr>
              <a:spcAft>
                <a:spcPts val="1100"/>
              </a:spcAft>
            </a:pPr>
            <a:r>
              <a:rPr sz="1700">
                <a:solidFill>
                  <a:srgbClr val="0B0B0B"/>
                </a:solidFill>
                <a:latin typeface="Calibri"/>
              </a:rPr>
              <a:t>●   Working physical prototype: AES-128-GCM authenticated encryption at 1 Mbps over free-space optical, custom analog front-end</a:t>
            </a:r>
          </a:p>
          <a:p>
            <a:pPr>
              <a:spcAft>
                <a:spcPts val="1100"/>
              </a:spcAft>
            </a:pPr>
            <a:r>
              <a:rPr sz="1700">
                <a:solidFill>
                  <a:srgbClr val="0B0B0B"/>
                </a:solidFill>
                <a:latin typeface="Calibri"/>
              </a:rPr>
              <a:t>●   ~$82 total hardware cost — two orders of magnitude below commercial LiFi access-point pricing</a:t>
            </a:r>
          </a:p>
          <a:p>
            <a:pPr>
              <a:spcAft>
                <a:spcPts val="1100"/>
              </a:spcAft>
            </a:pPr>
            <a:r>
              <a:rPr sz="1700">
                <a:solidFill>
                  <a:srgbClr val="0B0B0B"/>
                </a:solidFill>
                <a:latin typeface="Calibri"/>
              </a:rPr>
              <a:t>●   G1 (freshness), G2 (replay resistance), and G4 (revocation on interruption) empirically demonstrated with real measured data</a:t>
            </a:r>
          </a:p>
          <a:p>
            <a:pPr>
              <a:spcAft>
                <a:spcPts val="1100"/>
              </a:spcAft>
            </a:pPr>
            <a:r>
              <a:rPr sz="1700">
                <a:solidFill>
                  <a:srgbClr val="0B0B0B"/>
                </a:solidFill>
                <a:latin typeface="Calibri"/>
              </a:rPr>
              <a:t>●   G3 (relay-bounded auth) reported as an explicit, named limitation — verified directly against the implementation, not inferred</a:t>
            </a:r>
          </a:p>
          <a:p>
            <a:pPr>
              <a:spcAft>
                <a:spcPts val="1100"/>
              </a:spcAft>
            </a:pPr>
            <a:r>
              <a:rPr sz="1700">
                <a:solidFill>
                  <a:srgbClr val="0B0B0B"/>
                </a:solidFill>
                <a:latin typeface="Calibri"/>
              </a:rPr>
              <a:t>●   Symbolic verification explicitly scoped as future work — stated openly, not left for a reviewer to find</a:t>
            </a:r>
          </a:p>
        </p:txBody>
      </p:sp>
      <p:pic>
        <p:nvPicPr>
          <p:cNvPr id="4" name="Picture 3" descr="A white background with text&#10;&#10;AI-generated content may be incorrect.">
            <a:extLst>
              <a:ext uri="{FF2B5EF4-FFF2-40B4-BE49-F238E27FC236}">
                <a16:creationId xmlns:a16="http://schemas.microsoft.com/office/drawing/2014/main" id="{33573CCD-82C7-AB83-E2BB-BD91B1851DCD}"/>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EF0B777B-1AFE-CA7B-F3D0-E4E53EC1B4A1}"/>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B2BAD-D2C0-5711-05C5-07C0B920C94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394D2C6-5293-5B5F-583F-5D11E9A594FB}"/>
              </a:ext>
            </a:extLst>
          </p:cNvPr>
          <p:cNvSpPr txBox="1"/>
          <p:nvPr/>
        </p:nvSpPr>
        <p:spPr>
          <a:xfrm>
            <a:off x="518160" y="777240"/>
            <a:ext cx="11155680" cy="538609"/>
          </a:xfrm>
          <a:prstGeom prst="rect">
            <a:avLst/>
          </a:prstGeom>
          <a:noFill/>
        </p:spPr>
        <p:txBody>
          <a:bodyPr wrap="square">
            <a:spAutoFit/>
          </a:bodyPr>
          <a:lstStyle/>
          <a:p>
            <a:r>
              <a:rPr lang="en-US" sz="2900" b="1" dirty="0">
                <a:solidFill>
                  <a:srgbClr val="0B0B0B"/>
                </a:solidFill>
                <a:latin typeface="Calibri"/>
              </a:rPr>
              <a:t>References</a:t>
            </a:r>
            <a:endParaRPr sz="2900" b="1" dirty="0">
              <a:solidFill>
                <a:srgbClr val="0B0B0B"/>
              </a:solidFill>
              <a:latin typeface="Calibri"/>
            </a:endParaRPr>
          </a:p>
        </p:txBody>
      </p:sp>
      <p:sp>
        <p:nvSpPr>
          <p:cNvPr id="3" name="TextBox 2">
            <a:extLst>
              <a:ext uri="{FF2B5EF4-FFF2-40B4-BE49-F238E27FC236}">
                <a16:creationId xmlns:a16="http://schemas.microsoft.com/office/drawing/2014/main" id="{D219ACE6-0953-AE01-1338-E8D4565EC768}"/>
              </a:ext>
            </a:extLst>
          </p:cNvPr>
          <p:cNvSpPr txBox="1"/>
          <p:nvPr/>
        </p:nvSpPr>
        <p:spPr>
          <a:xfrm>
            <a:off x="685800" y="1600200"/>
            <a:ext cx="10789920" cy="4042132"/>
          </a:xfrm>
          <a:prstGeom prst="rect">
            <a:avLst/>
          </a:prstGeom>
          <a:noFill/>
        </p:spPr>
        <p:txBody>
          <a:bodyPr wrap="square">
            <a:spAutoFit/>
          </a:bodyPr>
          <a:lstStyle/>
          <a:p>
            <a:pPr marL="342900" indent="-342900">
              <a:spcAft>
                <a:spcPts val="800"/>
              </a:spcAft>
              <a:buNone/>
            </a:pPr>
            <a:r>
              <a:rPr lang="en-US" sz="1500" dirty="0"/>
              <a:t>[1] S. Ma, H. Sheng, J. Sun, H. Li, X. Liu, C. Qiu, M. Safari, N. Al-Dhahir, and S. Li, "Feasibility conditions for mobile LiFi," </a:t>
            </a:r>
            <a:r>
              <a:rPr lang="en-US" sz="1500" i="1" dirty="0"/>
              <a:t>IEEE Trans. Wireless Commun.</a:t>
            </a:r>
            <a:r>
              <a:rPr lang="en-US" sz="1500" dirty="0"/>
              <a:t>, vol. 23, no. 7, pp. 7911–7923, Jul. 2024.</a:t>
            </a:r>
          </a:p>
          <a:p>
            <a:pPr marL="342900" indent="-342900">
              <a:spcAft>
                <a:spcPts val="800"/>
              </a:spcAft>
              <a:buNone/>
            </a:pPr>
            <a:r>
              <a:rPr lang="en-US" sz="1500" dirty="0"/>
              <a:t>[2] J. M. Kahn and J. R. Barry, "Wireless infrared communications," </a:t>
            </a:r>
            <a:r>
              <a:rPr lang="en-US" sz="1500" i="1" dirty="0"/>
              <a:t>Proc. IEEE</a:t>
            </a:r>
            <a:r>
              <a:rPr lang="en-US" sz="1500" dirty="0"/>
              <a:t>, vol. 85, no. 2, pp. 265–298, Feb. 1997.</a:t>
            </a:r>
          </a:p>
          <a:p>
            <a:pPr marL="342900" indent="-342900">
              <a:spcAft>
                <a:spcPts val="800"/>
              </a:spcAft>
              <a:buNone/>
            </a:pPr>
            <a:r>
              <a:rPr lang="en-US" sz="1500" dirty="0"/>
              <a:t>[3] T. Komine and M. Nakagawa, "Fundamental analysis for visible-light communication system using LED lights," </a:t>
            </a:r>
            <a:r>
              <a:rPr lang="en-US" sz="1500" i="1" dirty="0"/>
              <a:t>IEEE Trans. Consum. Electron.</a:t>
            </a:r>
            <a:r>
              <a:rPr lang="en-US" sz="1500" dirty="0"/>
              <a:t>, vol. 50, no. 1, pp. 100–107, Feb. 2004.</a:t>
            </a:r>
          </a:p>
          <a:p>
            <a:pPr marL="342900" indent="-342900">
              <a:spcAft>
                <a:spcPts val="800"/>
              </a:spcAft>
              <a:buNone/>
            </a:pPr>
            <a:r>
              <a:rPr lang="en-US" sz="1500" dirty="0"/>
              <a:t>[4] S. Brands and D. Chaum, "Distance-bounding protocols," in </a:t>
            </a:r>
            <a:r>
              <a:rPr lang="en-US" sz="1500" i="1" dirty="0"/>
              <a:t>Advances in Cryptology — EUROCRYPT '93</a:t>
            </a:r>
            <a:r>
              <a:rPr lang="en-US" sz="1500" dirty="0"/>
              <a:t>, LNCS 765, Springer, 1994, pp. 344–359.</a:t>
            </a:r>
          </a:p>
          <a:p>
            <a:pPr marL="342900" indent="-342900">
              <a:spcAft>
                <a:spcPts val="800"/>
              </a:spcAft>
              <a:buNone/>
            </a:pPr>
            <a:r>
              <a:rPr lang="en-US" sz="1500" dirty="0"/>
              <a:t>[5] G. P. Hancke and M. G. Kuhn, "An RFID distance bounding protocol," in </a:t>
            </a:r>
            <a:r>
              <a:rPr lang="en-US" sz="1500" i="1" dirty="0"/>
              <a:t>Proc. IEEE SecureComm</a:t>
            </a:r>
            <a:r>
              <a:rPr lang="en-US" sz="1500" dirty="0"/>
              <a:t>, 2005, pp. 67–73.</a:t>
            </a:r>
          </a:p>
          <a:p>
            <a:pPr marL="342900" indent="-342900">
              <a:spcAft>
                <a:spcPts val="800"/>
              </a:spcAft>
              <a:buNone/>
            </a:pPr>
            <a:r>
              <a:rPr lang="en-US" sz="1500" dirty="0"/>
              <a:t>[6] G. Avoine et al., "From relay attacks to distance-bounding protocols," in </a:t>
            </a:r>
            <a:r>
              <a:rPr lang="en-US" sz="1500" i="1" dirty="0"/>
              <a:t>Security of Ubiquitous Computing Systems</a:t>
            </a:r>
            <a:r>
              <a:rPr lang="en-US" sz="1500" dirty="0"/>
              <a:t>, Springer, 2021, pp. 113–130.</a:t>
            </a:r>
          </a:p>
          <a:p>
            <a:pPr marL="342900" indent="-342900">
              <a:spcAft>
                <a:spcPts val="800"/>
              </a:spcAft>
              <a:buNone/>
            </a:pPr>
            <a:r>
              <a:rPr lang="en-US" sz="1500" dirty="0"/>
              <a:t>[7] J. Clulow, G. P. Hancke, M. G. Kuhn, and T. Moore, "So near and yet so far: Distance-bounding attacks in wireless networks," in </a:t>
            </a:r>
            <a:r>
              <a:rPr lang="en-US" sz="1500" i="1" dirty="0"/>
              <a:t>ESAS</a:t>
            </a:r>
            <a:r>
              <a:rPr lang="en-US" sz="1500" dirty="0"/>
              <a:t>, LNCS 4357, Springer, 2006, pp. 83–97.</a:t>
            </a:r>
          </a:p>
          <a:p>
            <a:pPr marL="342900" indent="-342900">
              <a:spcAft>
                <a:spcPts val="800"/>
              </a:spcAft>
              <a:buNone/>
            </a:pPr>
            <a:r>
              <a:rPr lang="en-US" sz="1500" dirty="0"/>
              <a:t>[8] S. Drimer and S. J. Murdoch, "Keep your enemies close: Distance bounding against smartcard relay attacks," in </a:t>
            </a:r>
            <a:r>
              <a:rPr lang="en-US" sz="1500" i="1" dirty="0"/>
              <a:t>Proc. USENIX Security</a:t>
            </a:r>
            <a:r>
              <a:rPr lang="en-US" sz="1500" dirty="0"/>
              <a:t>, 2007.</a:t>
            </a:r>
          </a:p>
        </p:txBody>
      </p:sp>
      <p:pic>
        <p:nvPicPr>
          <p:cNvPr id="4" name="Picture 3" descr="A white background with text&#10;&#10;AI-generated content may be incorrect.">
            <a:extLst>
              <a:ext uri="{FF2B5EF4-FFF2-40B4-BE49-F238E27FC236}">
                <a16:creationId xmlns:a16="http://schemas.microsoft.com/office/drawing/2014/main" id="{279B05C4-60D0-B79F-B086-1DC2F55CCB95}"/>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E08100D8-1DB8-EBD4-3B4A-2C6F179A9AFB}"/>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6361038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560320"/>
            <a:ext cx="10332720" cy="1097280"/>
          </a:xfrm>
          <a:prstGeom prst="rect">
            <a:avLst/>
          </a:prstGeom>
          <a:noFill/>
        </p:spPr>
        <p:txBody>
          <a:bodyPr wrap="none">
            <a:spAutoFit/>
          </a:bodyPr>
          <a:lstStyle/>
          <a:p>
            <a:r>
              <a:rPr sz="4000" b="1">
                <a:solidFill>
                  <a:srgbClr val="FFFFFF"/>
                </a:solidFill>
                <a:latin typeface="Calibri"/>
              </a:rPr>
              <a:t>Thank you — Questions</a:t>
            </a:r>
          </a:p>
        </p:txBody>
      </p:sp>
      <p:sp>
        <p:nvSpPr>
          <p:cNvPr id="4" name="TextBox 3"/>
          <p:cNvSpPr txBox="1"/>
          <p:nvPr/>
        </p:nvSpPr>
        <p:spPr>
          <a:xfrm>
            <a:off x="914400" y="3429000"/>
            <a:ext cx="10332720" cy="1371600"/>
          </a:xfrm>
          <a:prstGeom prst="rect">
            <a:avLst/>
          </a:prstGeom>
          <a:noFill/>
        </p:spPr>
        <p:txBody>
          <a:bodyPr wrap="square">
            <a:spAutoFit/>
          </a:bodyPr>
          <a:lstStyle/>
          <a:p>
            <a:r>
              <a:rPr sz="1500">
                <a:solidFill>
                  <a:srgbClr val="C3C2B7"/>
                </a:solidFill>
                <a:latin typeface="Calibri"/>
              </a:rPr>
              <a:t>Jose Felix · KIM Labs, Arizona State University</a:t>
            </a:r>
          </a:p>
          <a:p>
            <a:r>
              <a:rPr sz="1300">
                <a:solidFill>
                  <a:srgbClr val="898781"/>
                </a:solidFill>
                <a:latin typeface="Calibri"/>
              </a:rPr>
              <a:t>github.com/asu-kim/lifi-auth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743200"/>
            <a:ext cx="10332720" cy="1097280"/>
          </a:xfrm>
          <a:prstGeom prst="rect">
            <a:avLst/>
          </a:prstGeom>
          <a:noFill/>
        </p:spPr>
        <p:txBody>
          <a:bodyPr wrap="none">
            <a:spAutoFit/>
          </a:bodyPr>
          <a:lstStyle/>
          <a:p>
            <a:r>
              <a:rPr sz="4000" b="1">
                <a:solidFill>
                  <a:srgbClr val="FFFFFF"/>
                </a:solidFill>
                <a:latin typeface="Calibri"/>
              </a:rPr>
              <a:t>Backup</a:t>
            </a:r>
          </a:p>
        </p:txBody>
      </p:sp>
      <p:sp>
        <p:nvSpPr>
          <p:cNvPr id="4" name="TextBox 3"/>
          <p:cNvSpPr txBox="1"/>
          <p:nvPr/>
        </p:nvSpPr>
        <p:spPr>
          <a:xfrm>
            <a:off x="914400" y="3566160"/>
            <a:ext cx="10332720" cy="640080"/>
          </a:xfrm>
          <a:prstGeom prst="rect">
            <a:avLst/>
          </a:prstGeom>
          <a:noFill/>
        </p:spPr>
        <p:txBody>
          <a:bodyPr wrap="none">
            <a:spAutoFit/>
          </a:bodyPr>
          <a:lstStyle/>
          <a:p>
            <a:r>
              <a:rPr sz="1500" i="1">
                <a:solidFill>
                  <a:srgbClr val="C3C2B7"/>
                </a:solidFill>
                <a:latin typeface="Calibri"/>
              </a:rPr>
              <a:t>Reference material — pull up on demand during Q&amp;A</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Bill of Materials</a:t>
            </a:r>
          </a:p>
        </p:txBody>
      </p:sp>
      <p:sp>
        <p:nvSpPr>
          <p:cNvPr id="3" name="TextBox 2"/>
          <p:cNvSpPr txBox="1"/>
          <p:nvPr/>
        </p:nvSpPr>
        <p:spPr>
          <a:xfrm>
            <a:off x="502920" y="886968"/>
            <a:ext cx="11155680" cy="457200"/>
          </a:xfrm>
          <a:prstGeom prst="rect">
            <a:avLst/>
          </a:prstGeom>
          <a:noFill/>
        </p:spPr>
        <p:txBody>
          <a:bodyPr wrap="square">
            <a:spAutoFit/>
          </a:bodyPr>
          <a:lstStyle/>
          <a:p>
            <a:r>
              <a:rPr sz="1350" i="1">
                <a:solidFill>
                  <a:srgbClr val="898781"/>
                </a:solidFill>
                <a:latin typeface="Calibri"/>
              </a:rPr>
              <a:t>Verified DigiKey invoices #120241715, #121892487 — total ≈ $82</a:t>
            </a:r>
          </a:p>
        </p:txBody>
      </p:sp>
      <p:graphicFrame>
        <p:nvGraphicFramePr>
          <p:cNvPr id="4" name="Table 3"/>
          <p:cNvGraphicFramePr>
            <a:graphicFrameLocks noGrp="1"/>
          </p:cNvGraphicFramePr>
          <p:nvPr/>
        </p:nvGraphicFramePr>
        <p:xfrm>
          <a:off x="685800" y="1463040"/>
          <a:ext cx="10515600" cy="466344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333102">
                <a:tc>
                  <a:txBody>
                    <a:bodyPr/>
                    <a:lstStyle/>
                    <a:p>
                      <a:pPr algn="l"/>
                      <a:r>
                        <a:rPr sz="1350" b="1">
                          <a:solidFill>
                            <a:srgbClr val="FFFFFF"/>
                          </a:solidFill>
                          <a:latin typeface="Calibri"/>
                        </a:rPr>
                        <a:t>Component</a:t>
                      </a:r>
                    </a:p>
                  </a:txBody>
                  <a:tcPr anchor="ctr">
                    <a:solidFill>
                      <a:srgbClr val="0B0B0B"/>
                    </a:solidFill>
                  </a:tcPr>
                </a:tc>
                <a:tc>
                  <a:txBody>
                    <a:bodyPr/>
                    <a:lstStyle/>
                    <a:p>
                      <a:pPr algn="ctr"/>
                      <a:r>
                        <a:rPr sz="1350" b="1">
                          <a:solidFill>
                            <a:srgbClr val="FFFFFF"/>
                          </a:solidFill>
                          <a:latin typeface="Calibri"/>
                        </a:rPr>
                        <a:t>Part Number</a:t>
                      </a:r>
                    </a:p>
                  </a:txBody>
                  <a:tcPr anchor="ctr">
                    <a:solidFill>
                      <a:srgbClr val="0B0B0B"/>
                    </a:solidFill>
                  </a:tcPr>
                </a:tc>
                <a:tc>
                  <a:txBody>
                    <a:bodyPr/>
                    <a:lstStyle/>
                    <a:p>
                      <a:pPr algn="ctr"/>
                      <a:r>
                        <a:rPr sz="1350" b="1">
                          <a:solidFill>
                            <a:srgbClr val="FFFFFF"/>
                          </a:solidFill>
                          <a:latin typeface="Calibri"/>
                        </a:rPr>
                        <a:t>Cost</a:t>
                      </a:r>
                    </a:p>
                  </a:txBody>
                  <a:tcPr anchor="ctr">
                    <a:solidFill>
                      <a:srgbClr val="0B0B0B"/>
                    </a:solidFill>
                  </a:tcPr>
                </a:tc>
                <a:extLst>
                  <a:ext uri="{0D108BD9-81ED-4DB2-BD59-A6C34878D82A}">
                    <a16:rowId xmlns:a16="http://schemas.microsoft.com/office/drawing/2014/main" val="10000"/>
                  </a:ext>
                </a:extLst>
              </a:tr>
              <a:tr h="333102">
                <a:tc>
                  <a:txBody>
                    <a:bodyPr/>
                    <a:lstStyle/>
                    <a:p>
                      <a:pPr algn="l"/>
                      <a:r>
                        <a:rPr sz="1250" b="0">
                          <a:solidFill>
                            <a:srgbClr val="0B0B0B"/>
                          </a:solidFill>
                          <a:latin typeface="Calibri"/>
                        </a:rPr>
                        <a:t>Sender MCU</a:t>
                      </a:r>
                    </a:p>
                  </a:txBody>
                  <a:tcPr anchor="ctr">
                    <a:solidFill>
                      <a:srgbClr val="FFFFFF"/>
                    </a:solidFill>
                  </a:tcPr>
                </a:tc>
                <a:tc>
                  <a:txBody>
                    <a:bodyPr/>
                    <a:lstStyle/>
                    <a:p>
                      <a:pPr algn="ctr"/>
                      <a:r>
                        <a:rPr sz="1250" b="0">
                          <a:solidFill>
                            <a:srgbClr val="0B0B0B"/>
                          </a:solidFill>
                          <a:latin typeface="Calibri"/>
                        </a:rPr>
                        <a:t>Pico H, RP2040</a:t>
                      </a:r>
                    </a:p>
                  </a:txBody>
                  <a:tcPr anchor="ctr">
                    <a:solidFill>
                      <a:srgbClr val="FFFFFF"/>
                    </a:solidFill>
                  </a:tcPr>
                </a:tc>
                <a:tc>
                  <a:txBody>
                    <a:bodyPr/>
                    <a:lstStyle/>
                    <a:p>
                      <a:pPr algn="ctr"/>
                      <a:r>
                        <a:rPr sz="1250" b="0">
                          <a:solidFill>
                            <a:srgbClr val="0B0B0B"/>
                          </a:solidFill>
                          <a:latin typeface="Calibri"/>
                        </a:rPr>
                        <a:t>$5.00</a:t>
                      </a:r>
                    </a:p>
                  </a:txBody>
                  <a:tcPr anchor="ctr">
                    <a:solidFill>
                      <a:srgbClr val="FFFFFF"/>
                    </a:solidFill>
                  </a:tcPr>
                </a:tc>
                <a:extLst>
                  <a:ext uri="{0D108BD9-81ED-4DB2-BD59-A6C34878D82A}">
                    <a16:rowId xmlns:a16="http://schemas.microsoft.com/office/drawing/2014/main" val="10001"/>
                  </a:ext>
                </a:extLst>
              </a:tr>
              <a:tr h="333102">
                <a:tc>
                  <a:txBody>
                    <a:bodyPr/>
                    <a:lstStyle/>
                    <a:p>
                      <a:pPr algn="l"/>
                      <a:r>
                        <a:rPr sz="1250" b="0">
                          <a:solidFill>
                            <a:srgbClr val="0B0B0B"/>
                          </a:solidFill>
                          <a:latin typeface="Calibri"/>
                        </a:rPr>
                        <a:t>Gate Driver ×4</a:t>
                      </a:r>
                    </a:p>
                  </a:txBody>
                  <a:tcPr anchor="ctr">
                    <a:solidFill>
                      <a:srgbClr val="F0EFEC"/>
                    </a:solidFill>
                  </a:tcPr>
                </a:tc>
                <a:tc>
                  <a:txBody>
                    <a:bodyPr/>
                    <a:lstStyle/>
                    <a:p>
                      <a:pPr algn="ctr"/>
                      <a:r>
                        <a:rPr sz="1250" b="0">
                          <a:solidFill>
                            <a:srgbClr val="0B0B0B"/>
                          </a:solidFill>
                          <a:latin typeface="Calibri"/>
                        </a:rPr>
                        <a:t>TC4420COA</a:t>
                      </a:r>
                    </a:p>
                  </a:txBody>
                  <a:tcPr anchor="ctr">
                    <a:solidFill>
                      <a:srgbClr val="F0EFEC"/>
                    </a:solidFill>
                  </a:tcPr>
                </a:tc>
                <a:tc>
                  <a:txBody>
                    <a:bodyPr/>
                    <a:lstStyle/>
                    <a:p>
                      <a:pPr algn="ctr"/>
                      <a:r>
                        <a:rPr sz="1250" b="0">
                          <a:solidFill>
                            <a:srgbClr val="0B0B0B"/>
                          </a:solidFill>
                          <a:latin typeface="Calibri"/>
                        </a:rPr>
                        <a:t>$1.80 ea.</a:t>
                      </a:r>
                    </a:p>
                  </a:txBody>
                  <a:tcPr anchor="ctr">
                    <a:solidFill>
                      <a:srgbClr val="F0EFEC"/>
                    </a:solidFill>
                  </a:tcPr>
                </a:tc>
                <a:extLst>
                  <a:ext uri="{0D108BD9-81ED-4DB2-BD59-A6C34878D82A}">
                    <a16:rowId xmlns:a16="http://schemas.microsoft.com/office/drawing/2014/main" val="10002"/>
                  </a:ext>
                </a:extLst>
              </a:tr>
              <a:tr h="333102">
                <a:tc>
                  <a:txBody>
                    <a:bodyPr/>
                    <a:lstStyle/>
                    <a:p>
                      <a:pPr algn="l"/>
                      <a:r>
                        <a:rPr sz="1250" b="0">
                          <a:solidFill>
                            <a:srgbClr val="0B0B0B"/>
                          </a:solidFill>
                          <a:latin typeface="Calibri"/>
                        </a:rPr>
                        <a:t>MOSFET ×4</a:t>
                      </a:r>
                    </a:p>
                  </a:txBody>
                  <a:tcPr anchor="ctr">
                    <a:solidFill>
                      <a:srgbClr val="FFFFFF"/>
                    </a:solidFill>
                  </a:tcPr>
                </a:tc>
                <a:tc>
                  <a:txBody>
                    <a:bodyPr/>
                    <a:lstStyle/>
                    <a:p>
                      <a:pPr algn="ctr"/>
                      <a:r>
                        <a:rPr sz="1250" b="0">
                          <a:solidFill>
                            <a:srgbClr val="0B0B0B"/>
                          </a:solidFill>
                          <a:latin typeface="Calibri"/>
                        </a:rPr>
                        <a:t>SIR800DP-T1-GE3</a:t>
                      </a:r>
                    </a:p>
                  </a:txBody>
                  <a:tcPr anchor="ctr">
                    <a:solidFill>
                      <a:srgbClr val="FFFFFF"/>
                    </a:solidFill>
                  </a:tcPr>
                </a:tc>
                <a:tc>
                  <a:txBody>
                    <a:bodyPr/>
                    <a:lstStyle/>
                    <a:p>
                      <a:pPr algn="ctr"/>
                      <a:r>
                        <a:rPr sz="1250" b="0">
                          <a:solidFill>
                            <a:srgbClr val="0B0B0B"/>
                          </a:solidFill>
                          <a:latin typeface="Calibri"/>
                        </a:rPr>
                        <a:t>$0.88 ea.</a:t>
                      </a:r>
                    </a:p>
                  </a:txBody>
                  <a:tcPr anchor="ctr">
                    <a:solidFill>
                      <a:srgbClr val="FFFFFF"/>
                    </a:solidFill>
                  </a:tcPr>
                </a:tc>
                <a:extLst>
                  <a:ext uri="{0D108BD9-81ED-4DB2-BD59-A6C34878D82A}">
                    <a16:rowId xmlns:a16="http://schemas.microsoft.com/office/drawing/2014/main" val="10003"/>
                  </a:ext>
                </a:extLst>
              </a:tr>
              <a:tr h="333102">
                <a:tc>
                  <a:txBody>
                    <a:bodyPr/>
                    <a:lstStyle/>
                    <a:p>
                      <a:pPr algn="l"/>
                      <a:r>
                        <a:rPr sz="1250" b="0">
                          <a:solidFill>
                            <a:srgbClr val="0B0B0B"/>
                          </a:solidFill>
                          <a:latin typeface="Calibri"/>
                        </a:rPr>
                        <a:t>DC-DC Module</a:t>
                      </a:r>
                    </a:p>
                  </a:txBody>
                  <a:tcPr anchor="ctr">
                    <a:solidFill>
                      <a:srgbClr val="F0EFEC"/>
                    </a:solidFill>
                  </a:tcPr>
                </a:tc>
                <a:tc>
                  <a:txBody>
                    <a:bodyPr/>
                    <a:lstStyle/>
                    <a:p>
                      <a:pPr algn="ctr"/>
                      <a:r>
                        <a:rPr sz="1250" b="0">
                          <a:solidFill>
                            <a:srgbClr val="0B0B0B"/>
                          </a:solidFill>
                          <a:latin typeface="Calibri"/>
                        </a:rPr>
                        <a:t>PTN78000WAH (12V→5V)</a:t>
                      </a:r>
                    </a:p>
                  </a:txBody>
                  <a:tcPr anchor="ctr">
                    <a:solidFill>
                      <a:srgbClr val="F0EFEC"/>
                    </a:solidFill>
                  </a:tcPr>
                </a:tc>
                <a:tc>
                  <a:txBody>
                    <a:bodyPr/>
                    <a:lstStyle/>
                    <a:p>
                      <a:pPr algn="ctr"/>
                      <a:r>
                        <a:rPr sz="1250" b="0">
                          <a:solidFill>
                            <a:srgbClr val="0B0B0B"/>
                          </a:solidFill>
                          <a:latin typeface="Calibri"/>
                        </a:rPr>
                        <a:t>$24.58</a:t>
                      </a:r>
                    </a:p>
                  </a:txBody>
                  <a:tcPr anchor="ctr">
                    <a:solidFill>
                      <a:srgbClr val="F0EFEC"/>
                    </a:solidFill>
                  </a:tcPr>
                </a:tc>
                <a:extLst>
                  <a:ext uri="{0D108BD9-81ED-4DB2-BD59-A6C34878D82A}">
                    <a16:rowId xmlns:a16="http://schemas.microsoft.com/office/drawing/2014/main" val="10004"/>
                  </a:ext>
                </a:extLst>
              </a:tr>
              <a:tr h="333102">
                <a:tc>
                  <a:txBody>
                    <a:bodyPr/>
                    <a:lstStyle/>
                    <a:p>
                      <a:pPr algn="l"/>
                      <a:r>
                        <a:rPr sz="1250" b="0">
                          <a:solidFill>
                            <a:srgbClr val="0B0B0B"/>
                          </a:solidFill>
                          <a:latin typeface="Calibri"/>
                        </a:rPr>
                        <a:t>LED Array</a:t>
                      </a:r>
                    </a:p>
                  </a:txBody>
                  <a:tcPr anchor="ctr">
                    <a:solidFill>
                      <a:srgbClr val="FFFFFF"/>
                    </a:solidFill>
                  </a:tcPr>
                </a:tc>
                <a:tc>
                  <a:txBody>
                    <a:bodyPr/>
                    <a:lstStyle/>
                    <a:p>
                      <a:pPr algn="ctr"/>
                      <a:r>
                        <a:rPr sz="1250" b="0">
                          <a:solidFill>
                            <a:srgbClr val="0B0B0B"/>
                          </a:solidFill>
                          <a:latin typeface="Calibri"/>
                        </a:rPr>
                        <a:t>SFH 4715A-CBDB</a:t>
                      </a:r>
                    </a:p>
                  </a:txBody>
                  <a:tcPr anchor="ctr">
                    <a:solidFill>
                      <a:srgbClr val="FFFFFF"/>
                    </a:solidFill>
                  </a:tcPr>
                </a:tc>
                <a:tc>
                  <a:txBody>
                    <a:bodyPr/>
                    <a:lstStyle/>
                    <a:p>
                      <a:pPr algn="ctr"/>
                      <a:r>
                        <a:rPr sz="1250" b="0">
                          <a:solidFill>
                            <a:srgbClr val="0B0B0B"/>
                          </a:solidFill>
                          <a:latin typeface="Calibri"/>
                        </a:rPr>
                        <a:t>$2.50</a:t>
                      </a:r>
                    </a:p>
                  </a:txBody>
                  <a:tcPr anchor="ctr">
                    <a:solidFill>
                      <a:srgbClr val="FFFFFF"/>
                    </a:solidFill>
                  </a:tcPr>
                </a:tc>
                <a:extLst>
                  <a:ext uri="{0D108BD9-81ED-4DB2-BD59-A6C34878D82A}">
                    <a16:rowId xmlns:a16="http://schemas.microsoft.com/office/drawing/2014/main" val="10005"/>
                  </a:ext>
                </a:extLst>
              </a:tr>
              <a:tr h="333102">
                <a:tc>
                  <a:txBody>
                    <a:bodyPr/>
                    <a:lstStyle/>
                    <a:p>
                      <a:pPr algn="l"/>
                      <a:r>
                        <a:rPr sz="1250" b="0">
                          <a:solidFill>
                            <a:srgbClr val="0B0B0B"/>
                          </a:solidFill>
                          <a:latin typeface="Calibri"/>
                        </a:rPr>
                        <a:t>Receiver MCU</a:t>
                      </a:r>
                    </a:p>
                  </a:txBody>
                  <a:tcPr anchor="ctr">
                    <a:solidFill>
                      <a:srgbClr val="F0EFEC"/>
                    </a:solidFill>
                  </a:tcPr>
                </a:tc>
                <a:tc>
                  <a:txBody>
                    <a:bodyPr/>
                    <a:lstStyle/>
                    <a:p>
                      <a:pPr algn="ctr"/>
                      <a:r>
                        <a:rPr sz="1250" b="0">
                          <a:solidFill>
                            <a:srgbClr val="0B0B0B"/>
                          </a:solidFill>
                          <a:latin typeface="Calibri"/>
                        </a:rPr>
                        <a:t>Pico 2 H, RP2350</a:t>
                      </a:r>
                    </a:p>
                  </a:txBody>
                  <a:tcPr anchor="ctr">
                    <a:solidFill>
                      <a:srgbClr val="F0EFEC"/>
                    </a:solidFill>
                  </a:tcPr>
                </a:tc>
                <a:tc>
                  <a:txBody>
                    <a:bodyPr/>
                    <a:lstStyle/>
                    <a:p>
                      <a:pPr algn="ctr"/>
                      <a:r>
                        <a:rPr sz="1250" b="0">
                          <a:solidFill>
                            <a:srgbClr val="0B0B0B"/>
                          </a:solidFill>
                          <a:latin typeface="Calibri"/>
                        </a:rPr>
                        <a:t>$6.00</a:t>
                      </a:r>
                    </a:p>
                  </a:txBody>
                  <a:tcPr anchor="ctr">
                    <a:solidFill>
                      <a:srgbClr val="F0EFEC"/>
                    </a:solidFill>
                  </a:tcPr>
                </a:tc>
                <a:extLst>
                  <a:ext uri="{0D108BD9-81ED-4DB2-BD59-A6C34878D82A}">
                    <a16:rowId xmlns:a16="http://schemas.microsoft.com/office/drawing/2014/main" val="10006"/>
                  </a:ext>
                </a:extLst>
              </a:tr>
              <a:tr h="333102">
                <a:tc>
                  <a:txBody>
                    <a:bodyPr/>
                    <a:lstStyle/>
                    <a:p>
                      <a:pPr algn="l"/>
                      <a:r>
                        <a:rPr sz="1250" b="0">
                          <a:solidFill>
                            <a:srgbClr val="0B0B0B"/>
                          </a:solidFill>
                          <a:latin typeface="Calibri"/>
                        </a:rPr>
                        <a:t>TIA</a:t>
                      </a:r>
                    </a:p>
                  </a:txBody>
                  <a:tcPr anchor="ctr">
                    <a:solidFill>
                      <a:srgbClr val="FFFFFF"/>
                    </a:solidFill>
                  </a:tcPr>
                </a:tc>
                <a:tc>
                  <a:txBody>
                    <a:bodyPr/>
                    <a:lstStyle/>
                    <a:p>
                      <a:pPr algn="ctr"/>
                      <a:r>
                        <a:rPr sz="1250" b="0">
                          <a:solidFill>
                            <a:srgbClr val="0B0B0B"/>
                          </a:solidFill>
                          <a:latin typeface="Calibri"/>
                        </a:rPr>
                        <a:t>OPA381AIDGKT</a:t>
                      </a:r>
                    </a:p>
                  </a:txBody>
                  <a:tcPr anchor="ctr">
                    <a:solidFill>
                      <a:srgbClr val="FFFFFF"/>
                    </a:solidFill>
                  </a:tcPr>
                </a:tc>
                <a:tc>
                  <a:txBody>
                    <a:bodyPr/>
                    <a:lstStyle/>
                    <a:p>
                      <a:pPr algn="ctr"/>
                      <a:r>
                        <a:rPr sz="1250" b="0">
                          <a:solidFill>
                            <a:srgbClr val="0B0B0B"/>
                          </a:solidFill>
                          <a:latin typeface="Calibri"/>
                        </a:rPr>
                        <a:t>$2.93</a:t>
                      </a:r>
                    </a:p>
                  </a:txBody>
                  <a:tcPr anchor="ctr">
                    <a:solidFill>
                      <a:srgbClr val="FFFFFF"/>
                    </a:solidFill>
                  </a:tcPr>
                </a:tc>
                <a:extLst>
                  <a:ext uri="{0D108BD9-81ED-4DB2-BD59-A6C34878D82A}">
                    <a16:rowId xmlns:a16="http://schemas.microsoft.com/office/drawing/2014/main" val="10007"/>
                  </a:ext>
                </a:extLst>
              </a:tr>
              <a:tr h="333102">
                <a:tc>
                  <a:txBody>
                    <a:bodyPr/>
                    <a:lstStyle/>
                    <a:p>
                      <a:pPr algn="l"/>
                      <a:r>
                        <a:rPr sz="1250" b="0">
                          <a:solidFill>
                            <a:srgbClr val="0B0B0B"/>
                          </a:solidFill>
                          <a:latin typeface="Calibri"/>
                        </a:rPr>
                        <a:t>Photodiode</a:t>
                      </a:r>
                    </a:p>
                  </a:txBody>
                  <a:tcPr anchor="ctr">
                    <a:solidFill>
                      <a:srgbClr val="F0EFEC"/>
                    </a:solidFill>
                  </a:tcPr>
                </a:tc>
                <a:tc>
                  <a:txBody>
                    <a:bodyPr/>
                    <a:lstStyle/>
                    <a:p>
                      <a:pPr algn="ctr"/>
                      <a:r>
                        <a:rPr sz="1250" b="0">
                          <a:solidFill>
                            <a:srgbClr val="0B0B0B"/>
                          </a:solidFill>
                          <a:latin typeface="Calibri"/>
                        </a:rPr>
                        <a:t>SFH 2400-Z</a:t>
                      </a:r>
                    </a:p>
                  </a:txBody>
                  <a:tcPr anchor="ctr">
                    <a:solidFill>
                      <a:srgbClr val="F0EFEC"/>
                    </a:solidFill>
                  </a:tcPr>
                </a:tc>
                <a:tc>
                  <a:txBody>
                    <a:bodyPr/>
                    <a:lstStyle/>
                    <a:p>
                      <a:pPr algn="ctr"/>
                      <a:r>
                        <a:rPr sz="1250" b="0">
                          <a:solidFill>
                            <a:srgbClr val="0B0B0B"/>
                          </a:solidFill>
                          <a:latin typeface="Calibri"/>
                        </a:rPr>
                        <a:t>$0.79</a:t>
                      </a:r>
                    </a:p>
                  </a:txBody>
                  <a:tcPr anchor="ctr">
                    <a:solidFill>
                      <a:srgbClr val="F0EFEC"/>
                    </a:solidFill>
                  </a:tcPr>
                </a:tc>
                <a:extLst>
                  <a:ext uri="{0D108BD9-81ED-4DB2-BD59-A6C34878D82A}">
                    <a16:rowId xmlns:a16="http://schemas.microsoft.com/office/drawing/2014/main" val="10008"/>
                  </a:ext>
                </a:extLst>
              </a:tr>
              <a:tr h="333102">
                <a:tc>
                  <a:txBody>
                    <a:bodyPr/>
                    <a:lstStyle/>
                    <a:p>
                      <a:pPr algn="l"/>
                      <a:r>
                        <a:rPr sz="1250" b="0">
                          <a:solidFill>
                            <a:srgbClr val="0B0B0B"/>
                          </a:solidFill>
                          <a:latin typeface="Calibri"/>
                        </a:rPr>
                        <a:t>Comparator</a:t>
                      </a:r>
                    </a:p>
                  </a:txBody>
                  <a:tcPr anchor="ctr">
                    <a:solidFill>
                      <a:srgbClr val="FFFFFF"/>
                    </a:solidFill>
                  </a:tcPr>
                </a:tc>
                <a:tc>
                  <a:txBody>
                    <a:bodyPr/>
                    <a:lstStyle/>
                    <a:p>
                      <a:pPr algn="ctr"/>
                      <a:r>
                        <a:rPr sz="1250" b="0">
                          <a:solidFill>
                            <a:srgbClr val="0B0B0B"/>
                          </a:solidFill>
                          <a:latin typeface="Calibri"/>
                        </a:rPr>
                        <a:t>TLV3501AIDBVR</a:t>
                      </a:r>
                    </a:p>
                  </a:txBody>
                  <a:tcPr anchor="ctr">
                    <a:solidFill>
                      <a:srgbClr val="FFFFFF"/>
                    </a:solidFill>
                  </a:tcPr>
                </a:tc>
                <a:tc>
                  <a:txBody>
                    <a:bodyPr/>
                    <a:lstStyle/>
                    <a:p>
                      <a:pPr algn="ctr"/>
                      <a:r>
                        <a:rPr sz="1250" b="0">
                          <a:solidFill>
                            <a:srgbClr val="0B0B0B"/>
                          </a:solidFill>
                          <a:latin typeface="Calibri"/>
                        </a:rPr>
                        <a:t>$2.64</a:t>
                      </a:r>
                    </a:p>
                  </a:txBody>
                  <a:tcPr anchor="ctr">
                    <a:solidFill>
                      <a:srgbClr val="FFFFFF"/>
                    </a:solidFill>
                  </a:tcPr>
                </a:tc>
                <a:extLst>
                  <a:ext uri="{0D108BD9-81ED-4DB2-BD59-A6C34878D82A}">
                    <a16:rowId xmlns:a16="http://schemas.microsoft.com/office/drawing/2014/main" val="10009"/>
                  </a:ext>
                </a:extLst>
              </a:tr>
              <a:tr h="333102">
                <a:tc>
                  <a:txBody>
                    <a:bodyPr/>
                    <a:lstStyle/>
                    <a:p>
                      <a:pPr algn="l"/>
                      <a:r>
                        <a:rPr sz="1250" b="0">
                          <a:solidFill>
                            <a:srgbClr val="0B0B0B"/>
                          </a:solidFill>
                          <a:latin typeface="Calibri"/>
                        </a:rPr>
                        <a:t>DAC</a:t>
                      </a:r>
                    </a:p>
                  </a:txBody>
                  <a:tcPr anchor="ctr">
                    <a:solidFill>
                      <a:srgbClr val="F0EFEC"/>
                    </a:solidFill>
                  </a:tcPr>
                </a:tc>
                <a:tc>
                  <a:txBody>
                    <a:bodyPr/>
                    <a:lstStyle/>
                    <a:p>
                      <a:pPr algn="ctr"/>
                      <a:r>
                        <a:rPr sz="1250" b="0">
                          <a:solidFill>
                            <a:srgbClr val="0B0B0B"/>
                          </a:solidFill>
                          <a:latin typeface="Calibri"/>
                        </a:rPr>
                        <a:t>MCP4725A1T-E/CH</a:t>
                      </a:r>
                    </a:p>
                  </a:txBody>
                  <a:tcPr anchor="ctr">
                    <a:solidFill>
                      <a:srgbClr val="F0EFEC"/>
                    </a:solidFill>
                  </a:tcPr>
                </a:tc>
                <a:tc>
                  <a:txBody>
                    <a:bodyPr/>
                    <a:lstStyle/>
                    <a:p>
                      <a:pPr algn="ctr"/>
                      <a:r>
                        <a:rPr sz="1250" b="0">
                          <a:solidFill>
                            <a:srgbClr val="0B0B0B"/>
                          </a:solidFill>
                          <a:latin typeface="Calibri"/>
                        </a:rPr>
                        <a:t>$1.27</a:t>
                      </a:r>
                    </a:p>
                  </a:txBody>
                  <a:tcPr anchor="ctr">
                    <a:solidFill>
                      <a:srgbClr val="F0EFEC"/>
                    </a:solidFill>
                  </a:tcPr>
                </a:tc>
                <a:extLst>
                  <a:ext uri="{0D108BD9-81ED-4DB2-BD59-A6C34878D82A}">
                    <a16:rowId xmlns:a16="http://schemas.microsoft.com/office/drawing/2014/main" val="10010"/>
                  </a:ext>
                </a:extLst>
              </a:tr>
              <a:tr h="333102">
                <a:tc>
                  <a:txBody>
                    <a:bodyPr/>
                    <a:lstStyle/>
                    <a:p>
                      <a:pPr algn="l"/>
                      <a:r>
                        <a:rPr sz="1250" b="0">
                          <a:solidFill>
                            <a:srgbClr val="0B0B0B"/>
                          </a:solidFill>
                          <a:latin typeface="Calibri"/>
                        </a:rPr>
                        <a:t>LiPo Charger</a:t>
                      </a:r>
                    </a:p>
                  </a:txBody>
                  <a:tcPr anchor="ctr">
                    <a:solidFill>
                      <a:srgbClr val="FFFFFF"/>
                    </a:solidFill>
                  </a:tcPr>
                </a:tc>
                <a:tc>
                  <a:txBody>
                    <a:bodyPr/>
                    <a:lstStyle/>
                    <a:p>
                      <a:pPr algn="ctr"/>
                      <a:r>
                        <a:rPr sz="1250" b="0">
                          <a:solidFill>
                            <a:srgbClr val="0B0B0B"/>
                          </a:solidFill>
                          <a:latin typeface="Calibri"/>
                        </a:rPr>
                        <a:t>BQ24074RGTR</a:t>
                      </a:r>
                    </a:p>
                  </a:txBody>
                  <a:tcPr anchor="ctr">
                    <a:solidFill>
                      <a:srgbClr val="FFFFFF"/>
                    </a:solidFill>
                  </a:tcPr>
                </a:tc>
                <a:tc>
                  <a:txBody>
                    <a:bodyPr/>
                    <a:lstStyle/>
                    <a:p>
                      <a:pPr algn="ctr"/>
                      <a:r>
                        <a:rPr sz="1250" b="0">
                          <a:solidFill>
                            <a:srgbClr val="0B0B0B"/>
                          </a:solidFill>
                          <a:latin typeface="Calibri"/>
                        </a:rPr>
                        <a:t>$2.50</a:t>
                      </a:r>
                    </a:p>
                  </a:txBody>
                  <a:tcPr anchor="ctr">
                    <a:solidFill>
                      <a:srgbClr val="FFFFFF"/>
                    </a:solidFill>
                  </a:tcPr>
                </a:tc>
                <a:extLst>
                  <a:ext uri="{0D108BD9-81ED-4DB2-BD59-A6C34878D82A}">
                    <a16:rowId xmlns:a16="http://schemas.microsoft.com/office/drawing/2014/main" val="10011"/>
                  </a:ext>
                </a:extLst>
              </a:tr>
              <a:tr h="333102">
                <a:tc>
                  <a:txBody>
                    <a:bodyPr/>
                    <a:lstStyle/>
                    <a:p>
                      <a:pPr algn="l"/>
                      <a:r>
                        <a:rPr sz="1250" b="0">
                          <a:solidFill>
                            <a:srgbClr val="0B0B0B"/>
                          </a:solidFill>
                          <a:latin typeface="Calibri"/>
                        </a:rPr>
                        <a:t>Buck-Boost Reg.</a:t>
                      </a:r>
                    </a:p>
                  </a:txBody>
                  <a:tcPr anchor="ctr">
                    <a:solidFill>
                      <a:srgbClr val="F0EFEC"/>
                    </a:solidFill>
                  </a:tcPr>
                </a:tc>
                <a:tc>
                  <a:txBody>
                    <a:bodyPr/>
                    <a:lstStyle/>
                    <a:p>
                      <a:pPr algn="ctr"/>
                      <a:r>
                        <a:rPr sz="1250" b="0">
                          <a:solidFill>
                            <a:srgbClr val="0B0B0B"/>
                          </a:solidFill>
                          <a:latin typeface="Calibri"/>
                        </a:rPr>
                        <a:t>TPS63031DSKR</a:t>
                      </a:r>
                    </a:p>
                  </a:txBody>
                  <a:tcPr anchor="ctr">
                    <a:solidFill>
                      <a:srgbClr val="F0EFEC"/>
                    </a:solidFill>
                  </a:tcPr>
                </a:tc>
                <a:tc>
                  <a:txBody>
                    <a:bodyPr/>
                    <a:lstStyle/>
                    <a:p>
                      <a:pPr algn="ctr"/>
                      <a:r>
                        <a:rPr sz="1250" b="0">
                          <a:solidFill>
                            <a:srgbClr val="0B0B0B"/>
                          </a:solidFill>
                          <a:latin typeface="Calibri"/>
                        </a:rPr>
                        <a:t>$2.14</a:t>
                      </a:r>
                    </a:p>
                  </a:txBody>
                  <a:tcPr anchor="ctr">
                    <a:solidFill>
                      <a:srgbClr val="F0EFEC"/>
                    </a:solidFill>
                  </a:tcPr>
                </a:tc>
                <a:extLst>
                  <a:ext uri="{0D108BD9-81ED-4DB2-BD59-A6C34878D82A}">
                    <a16:rowId xmlns:a16="http://schemas.microsoft.com/office/drawing/2014/main" val="10012"/>
                  </a:ext>
                </a:extLst>
              </a:tr>
              <a:tr h="333114">
                <a:tc>
                  <a:txBody>
                    <a:bodyPr/>
                    <a:lstStyle/>
                    <a:p>
                      <a:pPr algn="l"/>
                      <a:r>
                        <a:rPr sz="1250" b="0">
                          <a:solidFill>
                            <a:srgbClr val="0B0B0B"/>
                          </a:solidFill>
                          <a:latin typeface="Calibri"/>
                        </a:rPr>
                        <a:t>Passives, PCBs (×2)</a:t>
                      </a:r>
                    </a:p>
                  </a:txBody>
                  <a:tcPr anchor="ctr">
                    <a:solidFill>
                      <a:srgbClr val="FFFFFF"/>
                    </a:solidFill>
                  </a:tcPr>
                </a:tc>
                <a:tc>
                  <a:txBody>
                    <a:bodyPr/>
                    <a:lstStyle/>
                    <a:p>
                      <a:pPr algn="ctr"/>
                      <a:r>
                        <a:rPr sz="1250" b="0">
                          <a:solidFill>
                            <a:srgbClr val="0B0B0B"/>
                          </a:solidFill>
                          <a:latin typeface="Calibri"/>
                        </a:rPr>
                        <a:t>R/C/fuses/JST + fab</a:t>
                      </a:r>
                    </a:p>
                  </a:txBody>
                  <a:tcPr anchor="ctr">
                    <a:solidFill>
                      <a:srgbClr val="FFFFFF"/>
                    </a:solidFill>
                  </a:tcPr>
                </a:tc>
                <a:tc>
                  <a:txBody>
                    <a:bodyPr/>
                    <a:lstStyle/>
                    <a:p>
                      <a:pPr algn="ctr"/>
                      <a:r>
                        <a:rPr sz="1250" b="0">
                          <a:solidFill>
                            <a:srgbClr val="0B0B0B"/>
                          </a:solidFill>
                          <a:latin typeface="Calibri"/>
                        </a:rPr>
                        <a:t>≈ $25</a:t>
                      </a:r>
                    </a:p>
                  </a:txBody>
                  <a:tcPr anchor="ctr">
                    <a:solidFill>
                      <a:srgbClr val="FFFFFF"/>
                    </a:solidFill>
                  </a:tcPr>
                </a:tc>
                <a:extLst>
                  <a:ext uri="{0D108BD9-81ED-4DB2-BD59-A6C34878D82A}">
                    <a16:rowId xmlns:a16="http://schemas.microsoft.com/office/drawing/2014/main" val="10013"/>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Wire Frame Format</a:t>
            </a:r>
          </a:p>
        </p:txBody>
      </p:sp>
      <p:graphicFrame>
        <p:nvGraphicFramePr>
          <p:cNvPr id="3" name="Table 2"/>
          <p:cNvGraphicFramePr>
            <a:graphicFrameLocks noGrp="1"/>
          </p:cNvGraphicFramePr>
          <p:nvPr/>
        </p:nvGraphicFramePr>
        <p:xfrm>
          <a:off x="685800" y="1737360"/>
          <a:ext cx="10515600" cy="329184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6675120">
                  <a:extLst>
                    <a:ext uri="{9D8B030D-6E8A-4147-A177-3AD203B41FA5}">
                      <a16:colId xmlns:a16="http://schemas.microsoft.com/office/drawing/2014/main" val="20002"/>
                    </a:ext>
                  </a:extLst>
                </a:gridCol>
              </a:tblGrid>
              <a:tr h="411480">
                <a:tc>
                  <a:txBody>
                    <a:bodyPr/>
                    <a:lstStyle/>
                    <a:p>
                      <a:pPr algn="l"/>
                      <a:r>
                        <a:rPr sz="1350" b="1">
                          <a:solidFill>
                            <a:srgbClr val="FFFFFF"/>
                          </a:solidFill>
                          <a:latin typeface="Calibri"/>
                        </a:rPr>
                        <a:t>Field</a:t>
                      </a:r>
                    </a:p>
                  </a:txBody>
                  <a:tcPr anchor="ctr">
                    <a:solidFill>
                      <a:srgbClr val="0B0B0B"/>
                    </a:solidFill>
                  </a:tcPr>
                </a:tc>
                <a:tc>
                  <a:txBody>
                    <a:bodyPr/>
                    <a:lstStyle/>
                    <a:p>
                      <a:pPr algn="ctr"/>
                      <a:r>
                        <a:rPr sz="1350" b="1">
                          <a:solidFill>
                            <a:srgbClr val="FFFFFF"/>
                          </a:solidFill>
                          <a:latin typeface="Calibri"/>
                        </a:rPr>
                        <a:t>Size</a:t>
                      </a:r>
                    </a:p>
                  </a:txBody>
                  <a:tcPr anchor="ctr">
                    <a:solidFill>
                      <a:srgbClr val="0B0B0B"/>
                    </a:solidFill>
                  </a:tcPr>
                </a:tc>
                <a:tc>
                  <a:txBody>
                    <a:bodyPr/>
                    <a:lstStyle/>
                    <a:p>
                      <a:pPr algn="ctr"/>
                      <a:r>
                        <a:rPr sz="1350" b="1">
                          <a:solidFill>
                            <a:srgbClr val="FFFFFF"/>
                          </a:solidFill>
                          <a:latin typeface="Calibri"/>
                        </a:rPr>
                        <a:t>Notes</a:t>
                      </a:r>
                    </a:p>
                  </a:txBody>
                  <a:tcPr anchor="ctr">
                    <a:solidFill>
                      <a:srgbClr val="0B0B0B"/>
                    </a:solidFill>
                  </a:tcPr>
                </a:tc>
                <a:extLst>
                  <a:ext uri="{0D108BD9-81ED-4DB2-BD59-A6C34878D82A}">
                    <a16:rowId xmlns:a16="http://schemas.microsoft.com/office/drawing/2014/main" val="10000"/>
                  </a:ext>
                </a:extLst>
              </a:tr>
              <a:tr h="411480">
                <a:tc>
                  <a:txBody>
                    <a:bodyPr/>
                    <a:lstStyle/>
                    <a:p>
                      <a:pPr algn="l"/>
                      <a:r>
                        <a:rPr sz="1250" b="0">
                          <a:solidFill>
                            <a:srgbClr val="0B0B0B"/>
                          </a:solidFill>
                          <a:latin typeface="Calibri"/>
                        </a:rPr>
                        <a:t>Preamble</a:t>
                      </a:r>
                    </a:p>
                  </a:txBody>
                  <a:tcPr anchor="ctr">
                    <a:solidFill>
                      <a:srgbClr val="FFFFFF"/>
                    </a:solidFill>
                  </a:tcPr>
                </a:tc>
                <a:tc>
                  <a:txBody>
                    <a:bodyPr/>
                    <a:lstStyle/>
                    <a:p>
                      <a:pPr algn="ctr"/>
                      <a:r>
                        <a:rPr sz="1250" b="0">
                          <a:solidFill>
                            <a:srgbClr val="0B0B0B"/>
                          </a:solidFill>
                          <a:latin typeface="Calibri"/>
                        </a:rPr>
                        <a:t>4 B</a:t>
                      </a:r>
                    </a:p>
                  </a:txBody>
                  <a:tcPr anchor="ctr">
                    <a:solidFill>
                      <a:srgbClr val="FFFFFF"/>
                    </a:solidFill>
                  </a:tcPr>
                </a:tc>
                <a:tc>
                  <a:txBody>
                    <a:bodyPr/>
                    <a:lstStyle/>
                    <a:p>
                      <a:pPr algn="ctr"/>
                      <a:r>
                        <a:rPr sz="1250" b="0">
                          <a:solidFill>
                            <a:srgbClr val="0B0B0B"/>
                          </a:solidFill>
                          <a:latin typeface="Calibri"/>
                        </a:rPr>
                        <a:t>0xAB 0xCD 0xEF 0x12 — synchronization marker</a:t>
                      </a:r>
                    </a:p>
                  </a:txBody>
                  <a:tcPr anchor="ctr">
                    <a:solidFill>
                      <a:srgbClr val="FFFFFF"/>
                    </a:solidFill>
                  </a:tcPr>
                </a:tc>
                <a:extLst>
                  <a:ext uri="{0D108BD9-81ED-4DB2-BD59-A6C34878D82A}">
                    <a16:rowId xmlns:a16="http://schemas.microsoft.com/office/drawing/2014/main" val="10001"/>
                  </a:ext>
                </a:extLst>
              </a:tr>
              <a:tr h="411480">
                <a:tc>
                  <a:txBody>
                    <a:bodyPr/>
                    <a:lstStyle/>
                    <a:p>
                      <a:pPr algn="l"/>
                      <a:r>
                        <a:rPr sz="1250" b="0">
                          <a:solidFill>
                            <a:srgbClr val="0B0B0B"/>
                          </a:solidFill>
                          <a:latin typeface="Calibri"/>
                        </a:rPr>
                        <a:t>Type</a:t>
                      </a:r>
                    </a:p>
                  </a:txBody>
                  <a:tcPr anchor="ctr">
                    <a:solidFill>
                      <a:srgbClr val="F0EFEC"/>
                    </a:solidFill>
                  </a:tcPr>
                </a:tc>
                <a:tc>
                  <a:txBody>
                    <a:bodyPr/>
                    <a:lstStyle/>
                    <a:p>
                      <a:pPr algn="ctr"/>
                      <a:r>
                        <a:rPr sz="1250" b="0">
                          <a:solidFill>
                            <a:srgbClr val="0B0B0B"/>
                          </a:solidFill>
                          <a:latin typeface="Calibri"/>
                        </a:rPr>
                        <a:t>1 B</a:t>
                      </a:r>
                    </a:p>
                  </a:txBody>
                  <a:tcPr anchor="ctr">
                    <a:solidFill>
                      <a:srgbClr val="F0EFEC"/>
                    </a:solidFill>
                  </a:tcPr>
                </a:tc>
                <a:tc>
                  <a:txBody>
                    <a:bodyPr/>
                    <a:lstStyle/>
                    <a:p>
                      <a:pPr algn="ctr"/>
                      <a:r>
                        <a:rPr sz="1250" b="0">
                          <a:solidFill>
                            <a:srgbClr val="0B0B0B"/>
                          </a:solidFill>
                          <a:latin typeface="Calibri"/>
                        </a:rPr>
                        <a:t>Message type identifier</a:t>
                      </a:r>
                    </a:p>
                  </a:txBody>
                  <a:tcPr anchor="ctr">
                    <a:solidFill>
                      <a:srgbClr val="F0EFEC"/>
                    </a:solidFill>
                  </a:tcPr>
                </a:tc>
                <a:extLst>
                  <a:ext uri="{0D108BD9-81ED-4DB2-BD59-A6C34878D82A}">
                    <a16:rowId xmlns:a16="http://schemas.microsoft.com/office/drawing/2014/main" val="10002"/>
                  </a:ext>
                </a:extLst>
              </a:tr>
              <a:tr h="411480">
                <a:tc>
                  <a:txBody>
                    <a:bodyPr/>
                    <a:lstStyle/>
                    <a:p>
                      <a:pPr algn="l"/>
                      <a:r>
                        <a:rPr sz="1250" b="0">
                          <a:solidFill>
                            <a:srgbClr val="0B0B0B"/>
                          </a:solidFill>
                          <a:latin typeface="Calibri"/>
                        </a:rPr>
                        <a:t>Length</a:t>
                      </a:r>
                    </a:p>
                  </a:txBody>
                  <a:tcPr anchor="ctr">
                    <a:solidFill>
                      <a:srgbClr val="FFFFFF"/>
                    </a:solidFill>
                  </a:tcPr>
                </a:tc>
                <a:tc>
                  <a:txBody>
                    <a:bodyPr/>
                    <a:lstStyle/>
                    <a:p>
                      <a:pPr algn="ctr"/>
                      <a:r>
                        <a:rPr sz="1250" b="0">
                          <a:solidFill>
                            <a:srgbClr val="0B0B0B"/>
                          </a:solidFill>
                          <a:latin typeface="Calibri"/>
                        </a:rPr>
                        <a:t>2 B</a:t>
                      </a:r>
                    </a:p>
                  </a:txBody>
                  <a:tcPr anchor="ctr">
                    <a:solidFill>
                      <a:srgbClr val="FFFFFF"/>
                    </a:solidFill>
                  </a:tcPr>
                </a:tc>
                <a:tc>
                  <a:txBody>
                    <a:bodyPr/>
                    <a:lstStyle/>
                    <a:p>
                      <a:pPr algn="ctr"/>
                      <a:r>
                        <a:rPr sz="1250" b="0">
                          <a:solidFill>
                            <a:srgbClr val="0B0B0B"/>
                          </a:solidFill>
                          <a:latin typeface="Calibri"/>
                        </a:rPr>
                        <a:t>Ciphertext length N</a:t>
                      </a:r>
                    </a:p>
                  </a:txBody>
                  <a:tcPr anchor="ctr">
                    <a:solidFill>
                      <a:srgbClr val="FFFFFF"/>
                    </a:solidFill>
                  </a:tcPr>
                </a:tc>
                <a:extLst>
                  <a:ext uri="{0D108BD9-81ED-4DB2-BD59-A6C34878D82A}">
                    <a16:rowId xmlns:a16="http://schemas.microsoft.com/office/drawing/2014/main" val="10003"/>
                  </a:ext>
                </a:extLst>
              </a:tr>
              <a:tr h="411480">
                <a:tc>
                  <a:txBody>
                    <a:bodyPr/>
                    <a:lstStyle/>
                    <a:p>
                      <a:pPr algn="l"/>
                      <a:r>
                        <a:rPr sz="1250" b="0">
                          <a:solidFill>
                            <a:srgbClr val="0B0B0B"/>
                          </a:solidFill>
                          <a:latin typeface="Calibri"/>
                        </a:rPr>
                        <a:t>Nonce</a:t>
                      </a:r>
                    </a:p>
                  </a:txBody>
                  <a:tcPr anchor="ctr">
                    <a:solidFill>
                      <a:srgbClr val="F0EFEC"/>
                    </a:solidFill>
                  </a:tcPr>
                </a:tc>
                <a:tc>
                  <a:txBody>
                    <a:bodyPr/>
                    <a:lstStyle/>
                    <a:p>
                      <a:pPr algn="ctr"/>
                      <a:r>
                        <a:rPr sz="1250" b="0">
                          <a:solidFill>
                            <a:srgbClr val="0B0B0B"/>
                          </a:solidFill>
                          <a:latin typeface="Calibri"/>
                        </a:rPr>
                        <a:t>12 B</a:t>
                      </a:r>
                    </a:p>
                  </a:txBody>
                  <a:tcPr anchor="ctr">
                    <a:solidFill>
                      <a:srgbClr val="F0EFEC"/>
                    </a:solidFill>
                  </a:tcPr>
                </a:tc>
                <a:tc>
                  <a:txBody>
                    <a:bodyPr/>
                    <a:lstStyle/>
                    <a:p>
                      <a:pPr algn="ctr"/>
                      <a:r>
                        <a:rPr sz="1250" b="0">
                          <a:solidFill>
                            <a:srgbClr val="0B0B0B"/>
                          </a:solidFill>
                          <a:latin typeface="Calibri"/>
                        </a:rPr>
                        <a:t>8B random boot salt + 4B monotonic counter</a:t>
                      </a:r>
                    </a:p>
                  </a:txBody>
                  <a:tcPr anchor="ctr">
                    <a:solidFill>
                      <a:srgbClr val="F0EFEC"/>
                    </a:solidFill>
                  </a:tcPr>
                </a:tc>
                <a:extLst>
                  <a:ext uri="{0D108BD9-81ED-4DB2-BD59-A6C34878D82A}">
                    <a16:rowId xmlns:a16="http://schemas.microsoft.com/office/drawing/2014/main" val="10004"/>
                  </a:ext>
                </a:extLst>
              </a:tr>
              <a:tr h="411480">
                <a:tc>
                  <a:txBody>
                    <a:bodyPr/>
                    <a:lstStyle/>
                    <a:p>
                      <a:pPr algn="l"/>
                      <a:r>
                        <a:rPr sz="1250" b="0">
                          <a:solidFill>
                            <a:srgbClr val="0B0B0B"/>
                          </a:solidFill>
                          <a:latin typeface="Calibri"/>
                        </a:rPr>
                        <a:t>Ciphertext</a:t>
                      </a:r>
                    </a:p>
                  </a:txBody>
                  <a:tcPr anchor="ctr">
                    <a:solidFill>
                      <a:srgbClr val="FFFFFF"/>
                    </a:solidFill>
                  </a:tcPr>
                </a:tc>
                <a:tc>
                  <a:txBody>
                    <a:bodyPr/>
                    <a:lstStyle/>
                    <a:p>
                      <a:pPr algn="ctr"/>
                      <a:r>
                        <a:rPr sz="1250" b="0">
                          <a:solidFill>
                            <a:srgbClr val="0B0B0B"/>
                          </a:solidFill>
                          <a:latin typeface="Calibri"/>
                        </a:rPr>
                        <a:t>N B</a:t>
                      </a:r>
                    </a:p>
                  </a:txBody>
                  <a:tcPr anchor="ctr">
                    <a:solidFill>
                      <a:srgbClr val="FFFFFF"/>
                    </a:solidFill>
                  </a:tcPr>
                </a:tc>
                <a:tc>
                  <a:txBody>
                    <a:bodyPr/>
                    <a:lstStyle/>
                    <a:p>
                      <a:pPr algn="ctr"/>
                      <a:r>
                        <a:rPr sz="1250" b="0">
                          <a:solidFill>
                            <a:srgbClr val="0B0B0B"/>
                          </a:solidFill>
                          <a:latin typeface="Calibri"/>
                        </a:rPr>
                        <a:t>AES-128-GCM output, equal length to plaintext</a:t>
                      </a:r>
                    </a:p>
                  </a:txBody>
                  <a:tcPr anchor="ctr">
                    <a:solidFill>
                      <a:srgbClr val="FFFFFF"/>
                    </a:solidFill>
                  </a:tcPr>
                </a:tc>
                <a:extLst>
                  <a:ext uri="{0D108BD9-81ED-4DB2-BD59-A6C34878D82A}">
                    <a16:rowId xmlns:a16="http://schemas.microsoft.com/office/drawing/2014/main" val="10005"/>
                  </a:ext>
                </a:extLst>
              </a:tr>
              <a:tr h="411480">
                <a:tc>
                  <a:txBody>
                    <a:bodyPr/>
                    <a:lstStyle/>
                    <a:p>
                      <a:pPr algn="l"/>
                      <a:r>
                        <a:rPr sz="1250" b="0">
                          <a:solidFill>
                            <a:srgbClr val="0B0B0B"/>
                          </a:solidFill>
                          <a:latin typeface="Calibri"/>
                        </a:rPr>
                        <a:t>GCM Tag</a:t>
                      </a:r>
                    </a:p>
                  </a:txBody>
                  <a:tcPr anchor="ctr">
                    <a:solidFill>
                      <a:srgbClr val="F0EFEC"/>
                    </a:solidFill>
                  </a:tcPr>
                </a:tc>
                <a:tc>
                  <a:txBody>
                    <a:bodyPr/>
                    <a:lstStyle/>
                    <a:p>
                      <a:pPr algn="ctr"/>
                      <a:r>
                        <a:rPr sz="1250" b="0">
                          <a:solidFill>
                            <a:srgbClr val="0B0B0B"/>
                          </a:solidFill>
                          <a:latin typeface="Calibri"/>
                        </a:rPr>
                        <a:t>16 B</a:t>
                      </a:r>
                    </a:p>
                  </a:txBody>
                  <a:tcPr anchor="ctr">
                    <a:solidFill>
                      <a:srgbClr val="F0EFEC"/>
                    </a:solidFill>
                  </a:tcPr>
                </a:tc>
                <a:tc>
                  <a:txBody>
                    <a:bodyPr/>
                    <a:lstStyle/>
                    <a:p>
                      <a:pPr algn="ctr"/>
                      <a:r>
                        <a:rPr sz="1250" b="0">
                          <a:solidFill>
                            <a:srgbClr val="0B0B0B"/>
                          </a:solidFill>
                          <a:latin typeface="Calibri"/>
                        </a:rPr>
                        <a:t>Authentication tag — verified before any plaintext release</a:t>
                      </a:r>
                    </a:p>
                  </a:txBody>
                  <a:tcPr anchor="ctr">
                    <a:solidFill>
                      <a:srgbClr val="F0EFEC"/>
                    </a:solidFill>
                  </a:tcPr>
                </a:tc>
                <a:extLst>
                  <a:ext uri="{0D108BD9-81ED-4DB2-BD59-A6C34878D82A}">
                    <a16:rowId xmlns:a16="http://schemas.microsoft.com/office/drawing/2014/main" val="10006"/>
                  </a:ext>
                </a:extLst>
              </a:tr>
              <a:tr h="411480">
                <a:tc>
                  <a:txBody>
                    <a:bodyPr/>
                    <a:lstStyle/>
                    <a:p>
                      <a:pPr algn="l"/>
                      <a:r>
                        <a:rPr sz="1250" b="0">
                          <a:solidFill>
                            <a:srgbClr val="0B0B0B"/>
                          </a:solidFill>
                          <a:latin typeface="Calibri"/>
                        </a:rPr>
                        <a:t>CRC16</a:t>
                      </a:r>
                    </a:p>
                  </a:txBody>
                  <a:tcPr anchor="ctr">
                    <a:solidFill>
                      <a:srgbClr val="FFFFFF"/>
                    </a:solidFill>
                  </a:tcPr>
                </a:tc>
                <a:tc>
                  <a:txBody>
                    <a:bodyPr/>
                    <a:lstStyle/>
                    <a:p>
                      <a:pPr algn="ctr"/>
                      <a:r>
                        <a:rPr sz="1250" b="0">
                          <a:solidFill>
                            <a:srgbClr val="0B0B0B"/>
                          </a:solidFill>
                          <a:latin typeface="Calibri"/>
                        </a:rPr>
                        <a:t>2 B</a:t>
                      </a:r>
                    </a:p>
                  </a:txBody>
                  <a:tcPr anchor="ctr">
                    <a:solidFill>
                      <a:srgbClr val="FFFFFF"/>
                    </a:solidFill>
                  </a:tcPr>
                </a:tc>
                <a:tc>
                  <a:txBody>
                    <a:bodyPr/>
                    <a:lstStyle/>
                    <a:p>
                      <a:pPr algn="ctr"/>
                      <a:r>
                        <a:rPr sz="1250" b="0">
                          <a:solidFill>
                            <a:srgbClr val="0B0B0B"/>
                          </a:solidFill>
                          <a:latin typeface="Calibri"/>
                        </a:rPr>
                        <a:t>CRC16-CCITT, poly 0x1021, init 0xFFFF</a:t>
                      </a:r>
                    </a:p>
                  </a:txBody>
                  <a:tcPr anchor="ctr">
                    <a:solidFill>
                      <a:srgbClr val="FFFFFF"/>
                    </a:solidFill>
                  </a:tcPr>
                </a:tc>
                <a:extLst>
                  <a:ext uri="{0D108BD9-81ED-4DB2-BD59-A6C34878D82A}">
                    <a16:rowId xmlns:a16="http://schemas.microsoft.com/office/drawing/2014/main" val="10007"/>
                  </a:ext>
                </a:extLst>
              </a:tr>
            </a:tbl>
          </a:graphicData>
        </a:graphic>
      </p:graphicFrame>
      <p:sp>
        <p:nvSpPr>
          <p:cNvPr id="4" name="TextBox 3"/>
          <p:cNvSpPr txBox="1"/>
          <p:nvPr/>
        </p:nvSpPr>
        <p:spPr>
          <a:xfrm>
            <a:off x="502920" y="5349240"/>
            <a:ext cx="11155680" cy="548640"/>
          </a:xfrm>
          <a:prstGeom prst="rect">
            <a:avLst/>
          </a:prstGeom>
          <a:noFill/>
        </p:spPr>
        <p:txBody>
          <a:bodyPr wrap="square">
            <a:spAutoFit/>
          </a:bodyPr>
          <a:lstStyle/>
          <a:p>
            <a:pPr algn="ctr"/>
            <a:r>
              <a:rPr sz="1250" b="1" i="0">
                <a:solidFill>
                  <a:srgbClr val="898781"/>
                </a:solidFill>
                <a:latin typeface="Calibri"/>
              </a:rPr>
              <a:t>64-entry nonce sliding window checked against every incoming nonce BEFORE decryption is attempted.</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Why No Symbolic Verification Yet</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G1–G4 are amenable to formal verification with Tamarin or ProVerif — identified explicitly as future work</a:t>
            </a:r>
          </a:p>
          <a:p>
            <a:pPr>
              <a:spcAft>
                <a:spcPts val="1100"/>
              </a:spcAft>
            </a:pPr>
            <a:r>
              <a:rPr sz="1700">
                <a:solidFill>
                  <a:srgbClr val="0B0B0B"/>
                </a:solidFill>
                <a:latin typeface="Calibri"/>
              </a:rPr>
              <a:t>●   A full model covers SST HS1–HS3 mutual auth + the AES-GCM data channel + two independent replay windows</a:t>
            </a:r>
          </a:p>
          <a:p>
            <a:pPr>
              <a:spcAft>
                <a:spcPts val="1100"/>
              </a:spcAft>
            </a:pPr>
            <a:r>
              <a:rPr sz="1700">
                <a:solidFill>
                  <a:srgbClr val="0B0B0B"/>
                </a:solidFill>
                <a:latin typeface="Calibri"/>
              </a:rPr>
              <a:t>●   That's substantial, specialized modeling work — not something to fit alongside the empirical evaluation chapter</a:t>
            </a:r>
          </a:p>
          <a:p>
            <a:pPr>
              <a:spcAft>
                <a:spcPts val="1100"/>
              </a:spcAft>
            </a:pPr>
            <a:r>
              <a:rPr sz="1700">
                <a:solidFill>
                  <a:srgbClr val="0B0B0B"/>
                </a:solidFill>
                <a:latin typeface="Calibri"/>
              </a:rPr>
              <a:t>●   An incomplete or buggy formal model would read worse to a committee than no formal model plus an honest claim</a:t>
            </a:r>
          </a:p>
          <a:p>
            <a:pPr>
              <a:spcAft>
                <a:spcPts val="1100"/>
              </a:spcAft>
            </a:pPr>
            <a:r>
              <a:rPr sz="1700">
                <a:solidFill>
                  <a:srgbClr val="0B0B0B"/>
                </a:solidFill>
                <a:latin typeface="Calibri"/>
              </a:rPr>
              <a:t>●   Findings in this thesis are stated as empirically demonstrated, not formally proven — stated as such throughout, not implied</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TIA Feedback Component Tuning</a:t>
            </a:r>
          </a:p>
        </p:txBody>
      </p:sp>
      <p:graphicFrame>
        <p:nvGraphicFramePr>
          <p:cNvPr id="3" name="Table 2"/>
          <p:cNvGraphicFramePr>
            <a:graphicFrameLocks noGrp="1"/>
          </p:cNvGraphicFramePr>
          <p:nvPr/>
        </p:nvGraphicFramePr>
        <p:xfrm>
          <a:off x="685800" y="1920240"/>
          <a:ext cx="10698480" cy="274320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548640">
                <a:tc>
                  <a:txBody>
                    <a:bodyPr/>
                    <a:lstStyle/>
                    <a:p>
                      <a:pPr algn="l"/>
                      <a:r>
                        <a:rPr sz="1350" b="1">
                          <a:solidFill>
                            <a:srgbClr val="FFFFFF"/>
                          </a:solidFill>
                          <a:latin typeface="Calibri"/>
                        </a:rPr>
                        <a:t>R_f</a:t>
                      </a:r>
                    </a:p>
                  </a:txBody>
                  <a:tcPr anchor="ctr">
                    <a:solidFill>
                      <a:srgbClr val="0B0B0B"/>
                    </a:solidFill>
                  </a:tcPr>
                </a:tc>
                <a:tc>
                  <a:txBody>
                    <a:bodyPr/>
                    <a:lstStyle/>
                    <a:p>
                      <a:pPr algn="ctr"/>
                      <a:r>
                        <a:rPr sz="1350" b="1">
                          <a:solidFill>
                            <a:srgbClr val="FFFFFF"/>
                          </a:solidFill>
                          <a:latin typeface="Calibri"/>
                        </a:rPr>
                        <a:t>C_f</a:t>
                      </a:r>
                    </a:p>
                  </a:txBody>
                  <a:tcPr anchor="ctr">
                    <a:solidFill>
                      <a:srgbClr val="0B0B0B"/>
                    </a:solidFill>
                  </a:tcPr>
                </a:tc>
                <a:tc>
                  <a:txBody>
                    <a:bodyPr/>
                    <a:lstStyle/>
                    <a:p>
                      <a:pPr algn="ctr"/>
                      <a:r>
                        <a:rPr sz="1350" b="1">
                          <a:solidFill>
                            <a:srgbClr val="FFFFFF"/>
                          </a:solidFill>
                          <a:latin typeface="Calibri"/>
                        </a:rPr>
                        <a:t>BW (kHz)</a:t>
                      </a:r>
                    </a:p>
                  </a:txBody>
                  <a:tcPr anchor="ctr">
                    <a:solidFill>
                      <a:srgbClr val="0B0B0B"/>
                    </a:solidFill>
                  </a:tcPr>
                </a:tc>
                <a:tc>
                  <a:txBody>
                    <a:bodyPr/>
                    <a:lstStyle/>
                    <a:p>
                      <a:pPr algn="ctr"/>
                      <a:r>
                        <a:rPr sz="1350" b="1">
                          <a:solidFill>
                            <a:srgbClr val="FFFFFF"/>
                          </a:solidFill>
                          <a:latin typeface="Calibri"/>
                        </a:rPr>
                        <a:t>Max Baud (measured)</a:t>
                      </a:r>
                    </a:p>
                  </a:txBody>
                  <a:tcPr anchor="ctr">
                    <a:solidFill>
                      <a:srgbClr val="0B0B0B"/>
                    </a:solidFill>
                  </a:tcPr>
                </a:tc>
                <a:tc>
                  <a:txBody>
                    <a:bodyPr/>
                    <a:lstStyle/>
                    <a:p>
                      <a:pPr algn="ctr"/>
                      <a:r>
                        <a:rPr sz="1350" b="1">
                          <a:solidFill>
                            <a:srgbClr val="FFFFFF"/>
                          </a:solidFill>
                          <a:latin typeface="Calibri"/>
                        </a:rPr>
                        <a:t>Output Swing</a:t>
                      </a:r>
                    </a:p>
                  </a:txBody>
                  <a:tcPr anchor="ctr">
                    <a:solidFill>
                      <a:srgbClr val="0B0B0B"/>
                    </a:solidFill>
                  </a:tcPr>
                </a:tc>
                <a:extLst>
                  <a:ext uri="{0D108BD9-81ED-4DB2-BD59-A6C34878D82A}">
                    <a16:rowId xmlns:a16="http://schemas.microsoft.com/office/drawing/2014/main" val="10000"/>
                  </a:ext>
                </a:extLst>
              </a:tr>
              <a:tr h="548640">
                <a:tc>
                  <a:txBody>
                    <a:bodyPr/>
                    <a:lstStyle/>
                    <a:p>
                      <a:pPr algn="l"/>
                      <a:r>
                        <a:rPr sz="1250" b="0">
                          <a:solidFill>
                            <a:srgbClr val="0B0B0B"/>
                          </a:solidFill>
                          <a:latin typeface="Calibri"/>
                        </a:rPr>
                        <a:t>470kΩ</a:t>
                      </a:r>
                    </a:p>
                  </a:txBody>
                  <a:tcPr anchor="ctr">
                    <a:solidFill>
                      <a:srgbClr val="FFFFFF"/>
                    </a:solidFill>
                  </a:tcPr>
                </a:tc>
                <a:tc>
                  <a:txBody>
                    <a:bodyPr/>
                    <a:lstStyle/>
                    <a:p>
                      <a:pPr algn="ctr"/>
                      <a:r>
                        <a:rPr sz="1250" b="0">
                          <a:solidFill>
                            <a:srgbClr val="0B0B0B"/>
                          </a:solidFill>
                          <a:latin typeface="Calibri"/>
                        </a:rPr>
                        <a:t>5pF</a:t>
                      </a:r>
                    </a:p>
                  </a:txBody>
                  <a:tcPr anchor="ctr">
                    <a:solidFill>
                      <a:srgbClr val="FFFFFF"/>
                    </a:solidFill>
                  </a:tcPr>
                </a:tc>
                <a:tc>
                  <a:txBody>
                    <a:bodyPr/>
                    <a:lstStyle/>
                    <a:p>
                      <a:pPr algn="ctr"/>
                      <a:r>
                        <a:rPr sz="1250" b="0">
                          <a:solidFill>
                            <a:srgbClr val="0B0B0B"/>
                          </a:solidFill>
                          <a:latin typeface="Calibri"/>
                        </a:rPr>
                        <a:t>68</a:t>
                      </a:r>
                    </a:p>
                  </a:txBody>
                  <a:tcPr anchor="ctr">
                    <a:solidFill>
                      <a:srgbClr val="FFFFFF"/>
                    </a:solidFill>
                  </a:tcPr>
                </a:tc>
                <a:tc>
                  <a:txBody>
                    <a:bodyPr/>
                    <a:lstStyle/>
                    <a:p>
                      <a:pPr algn="ctr"/>
                      <a:r>
                        <a:rPr sz="1250" b="0">
                          <a:solidFill>
                            <a:srgbClr val="0B0B0B"/>
                          </a:solidFill>
                          <a:latin typeface="Calibri"/>
                        </a:rPr>
                        <a:t>300,000</a:t>
                      </a:r>
                    </a:p>
                  </a:txBody>
                  <a:tcPr anchor="ctr">
                    <a:solidFill>
                      <a:srgbClr val="FFFFFF"/>
                    </a:solidFill>
                  </a:tcPr>
                </a:tc>
                <a:tc>
                  <a:txBody>
                    <a:bodyPr/>
                    <a:lstStyle/>
                    <a:p>
                      <a:pPr algn="ctr"/>
                      <a:r>
                        <a:rPr sz="1250" b="0">
                          <a:solidFill>
                            <a:srgbClr val="0B0B0B"/>
                          </a:solidFill>
                          <a:latin typeface="Calibri"/>
                        </a:rPr>
                        <a:t>≈2.0V</a:t>
                      </a:r>
                    </a:p>
                  </a:txBody>
                  <a:tcPr anchor="ctr">
                    <a:solidFill>
                      <a:srgbClr val="FFFFFF"/>
                    </a:solidFill>
                  </a:tcPr>
                </a:tc>
                <a:extLst>
                  <a:ext uri="{0D108BD9-81ED-4DB2-BD59-A6C34878D82A}">
                    <a16:rowId xmlns:a16="http://schemas.microsoft.com/office/drawing/2014/main" val="10001"/>
                  </a:ext>
                </a:extLst>
              </a:tr>
              <a:tr h="548640">
                <a:tc>
                  <a:txBody>
                    <a:bodyPr/>
                    <a:lstStyle/>
                    <a:p>
                      <a:pPr algn="l"/>
                      <a:r>
                        <a:rPr sz="1250" b="0">
                          <a:solidFill>
                            <a:srgbClr val="0B0B0B"/>
                          </a:solidFill>
                          <a:latin typeface="Calibri"/>
                        </a:rPr>
                        <a:t>100kΩ</a:t>
                      </a:r>
                    </a:p>
                  </a:txBody>
                  <a:tcPr anchor="ctr">
                    <a:solidFill>
                      <a:srgbClr val="F0EFEC"/>
                    </a:solidFill>
                  </a:tcPr>
                </a:tc>
                <a:tc>
                  <a:txBody>
                    <a:bodyPr/>
                    <a:lstStyle/>
                    <a:p>
                      <a:pPr algn="ctr"/>
                      <a:r>
                        <a:rPr sz="1250" b="0">
                          <a:solidFill>
                            <a:srgbClr val="0B0B0B"/>
                          </a:solidFill>
                          <a:latin typeface="Calibri"/>
                        </a:rPr>
                        <a:t>5pF</a:t>
                      </a:r>
                    </a:p>
                  </a:txBody>
                  <a:tcPr anchor="ctr">
                    <a:solidFill>
                      <a:srgbClr val="F0EFEC"/>
                    </a:solidFill>
                  </a:tcPr>
                </a:tc>
                <a:tc>
                  <a:txBody>
                    <a:bodyPr/>
                    <a:lstStyle/>
                    <a:p>
                      <a:pPr algn="ctr"/>
                      <a:r>
                        <a:rPr sz="1250" b="0">
                          <a:solidFill>
                            <a:srgbClr val="0B0B0B"/>
                          </a:solidFill>
                          <a:latin typeface="Calibri"/>
                        </a:rPr>
                        <a:t>318</a:t>
                      </a:r>
                    </a:p>
                  </a:txBody>
                  <a:tcPr anchor="ctr">
                    <a:solidFill>
                      <a:srgbClr val="F0EFEC"/>
                    </a:solidFill>
                  </a:tcPr>
                </a:tc>
                <a:tc>
                  <a:txBody>
                    <a:bodyPr/>
                    <a:lstStyle/>
                    <a:p>
                      <a:pPr algn="ctr"/>
                      <a:r>
                        <a:rPr sz="1250" b="0">
                          <a:solidFill>
                            <a:srgbClr val="0B0B0B"/>
                          </a:solidFill>
                          <a:latin typeface="Calibri"/>
                        </a:rPr>
                        <a:t>250,000</a:t>
                      </a:r>
                    </a:p>
                  </a:txBody>
                  <a:tcPr anchor="ctr">
                    <a:solidFill>
                      <a:srgbClr val="F0EFEC"/>
                    </a:solidFill>
                  </a:tcPr>
                </a:tc>
                <a:tc>
                  <a:txBody>
                    <a:bodyPr/>
                    <a:lstStyle/>
                    <a:p>
                      <a:pPr algn="ctr"/>
                      <a:r>
                        <a:rPr sz="1250" b="0">
                          <a:solidFill>
                            <a:srgbClr val="0B0B0B"/>
                          </a:solidFill>
                          <a:latin typeface="Calibri"/>
                        </a:rPr>
                        <a:t>≈400mV</a:t>
                      </a:r>
                    </a:p>
                  </a:txBody>
                  <a:tcPr anchor="ctr">
                    <a:solidFill>
                      <a:srgbClr val="F0EFEC"/>
                    </a:solidFill>
                  </a:tcPr>
                </a:tc>
                <a:extLst>
                  <a:ext uri="{0D108BD9-81ED-4DB2-BD59-A6C34878D82A}">
                    <a16:rowId xmlns:a16="http://schemas.microsoft.com/office/drawing/2014/main" val="10002"/>
                  </a:ext>
                </a:extLst>
              </a:tr>
              <a:tr h="548640">
                <a:tc>
                  <a:txBody>
                    <a:bodyPr/>
                    <a:lstStyle/>
                    <a:p>
                      <a:pPr algn="l"/>
                      <a:r>
                        <a:rPr sz="1250" b="0">
                          <a:solidFill>
                            <a:srgbClr val="0B0B0B"/>
                          </a:solidFill>
                          <a:latin typeface="Calibri"/>
                        </a:rPr>
                        <a:t>100kΩ</a:t>
                      </a:r>
                    </a:p>
                  </a:txBody>
                  <a:tcPr anchor="ctr">
                    <a:solidFill>
                      <a:srgbClr val="FFFFFF"/>
                    </a:solidFill>
                  </a:tcPr>
                </a:tc>
                <a:tc>
                  <a:txBody>
                    <a:bodyPr/>
                    <a:lstStyle/>
                    <a:p>
                      <a:pPr algn="ctr"/>
                      <a:r>
                        <a:rPr sz="1250" b="0">
                          <a:solidFill>
                            <a:srgbClr val="0B0B0B"/>
                          </a:solidFill>
                          <a:latin typeface="Calibri"/>
                        </a:rPr>
                        <a:t>1pF</a:t>
                      </a:r>
                    </a:p>
                  </a:txBody>
                  <a:tcPr anchor="ctr">
                    <a:solidFill>
                      <a:srgbClr val="FFFFFF"/>
                    </a:solidFill>
                  </a:tcPr>
                </a:tc>
                <a:tc>
                  <a:txBody>
                    <a:bodyPr/>
                    <a:lstStyle/>
                    <a:p>
                      <a:pPr algn="ctr"/>
                      <a:r>
                        <a:rPr sz="1250" b="0">
                          <a:solidFill>
                            <a:srgbClr val="0B0B0B"/>
                          </a:solidFill>
                          <a:latin typeface="Calibri"/>
                        </a:rPr>
                        <a:t>1,590</a:t>
                      </a:r>
                    </a:p>
                  </a:txBody>
                  <a:tcPr anchor="ctr">
                    <a:solidFill>
                      <a:srgbClr val="FFFFFF"/>
                    </a:solidFill>
                  </a:tcPr>
                </a:tc>
                <a:tc>
                  <a:txBody>
                    <a:bodyPr/>
                    <a:lstStyle/>
                    <a:p>
                      <a:pPr algn="ctr"/>
                      <a:r>
                        <a:rPr sz="1250" b="0">
                          <a:solidFill>
                            <a:srgbClr val="0B0B0B"/>
                          </a:solidFill>
                          <a:latin typeface="Calibri"/>
                        </a:rPr>
                        <a:t>TBD (future work)</a:t>
                      </a:r>
                    </a:p>
                  </a:txBody>
                  <a:tcPr anchor="ctr">
                    <a:solidFill>
                      <a:srgbClr val="FFFFFF"/>
                    </a:solidFill>
                  </a:tcPr>
                </a:tc>
                <a:tc>
                  <a:txBody>
                    <a:bodyPr/>
                    <a:lstStyle/>
                    <a:p>
                      <a:pPr algn="ctr"/>
                      <a:r>
                        <a:rPr sz="1250" b="0">
                          <a:solidFill>
                            <a:srgbClr val="0B0B0B"/>
                          </a:solidFill>
                          <a:latin typeface="Calibri"/>
                        </a:rPr>
                        <a:t>≈400mV</a:t>
                      </a:r>
                    </a:p>
                  </a:txBody>
                  <a:tcPr anchor="ctr">
                    <a:solidFill>
                      <a:srgbClr val="FFFFFF"/>
                    </a:solidFill>
                  </a:tcPr>
                </a:tc>
                <a:extLst>
                  <a:ext uri="{0D108BD9-81ED-4DB2-BD59-A6C34878D82A}">
                    <a16:rowId xmlns:a16="http://schemas.microsoft.com/office/drawing/2014/main" val="10003"/>
                  </a:ext>
                </a:extLst>
              </a:tr>
              <a:tr h="548640">
                <a:tc>
                  <a:txBody>
                    <a:bodyPr/>
                    <a:lstStyle/>
                    <a:p>
                      <a:pPr algn="l"/>
                      <a:r>
                        <a:rPr sz="1250" b="0">
                          <a:solidFill>
                            <a:srgbClr val="0B0B0B"/>
                          </a:solidFill>
                          <a:latin typeface="Calibri"/>
                        </a:rPr>
                        <a:t>47kΩ</a:t>
                      </a:r>
                    </a:p>
                  </a:txBody>
                  <a:tcPr anchor="ctr">
                    <a:solidFill>
                      <a:srgbClr val="F0EFEC"/>
                    </a:solidFill>
                  </a:tcPr>
                </a:tc>
                <a:tc>
                  <a:txBody>
                    <a:bodyPr/>
                    <a:lstStyle/>
                    <a:p>
                      <a:pPr algn="ctr"/>
                      <a:r>
                        <a:rPr sz="1250" b="0">
                          <a:solidFill>
                            <a:srgbClr val="0B0B0B"/>
                          </a:solidFill>
                          <a:latin typeface="Calibri"/>
                        </a:rPr>
                        <a:t>1pF</a:t>
                      </a:r>
                    </a:p>
                  </a:txBody>
                  <a:tcPr anchor="ctr">
                    <a:solidFill>
                      <a:srgbClr val="F0EFEC"/>
                    </a:solidFill>
                  </a:tcPr>
                </a:tc>
                <a:tc>
                  <a:txBody>
                    <a:bodyPr/>
                    <a:lstStyle/>
                    <a:p>
                      <a:pPr algn="ctr"/>
                      <a:r>
                        <a:rPr sz="1250" b="0">
                          <a:solidFill>
                            <a:srgbClr val="0B0B0B"/>
                          </a:solidFill>
                          <a:latin typeface="Calibri"/>
                        </a:rPr>
                        <a:t>3,386</a:t>
                      </a:r>
                    </a:p>
                  </a:txBody>
                  <a:tcPr anchor="ctr">
                    <a:solidFill>
                      <a:srgbClr val="F0EFEC"/>
                    </a:solidFill>
                  </a:tcPr>
                </a:tc>
                <a:tc>
                  <a:txBody>
                    <a:bodyPr/>
                    <a:lstStyle/>
                    <a:p>
                      <a:pPr algn="ctr"/>
                      <a:r>
                        <a:rPr sz="1250" b="0">
                          <a:solidFill>
                            <a:srgbClr val="0B0B0B"/>
                          </a:solidFill>
                          <a:latin typeface="Calibri"/>
                        </a:rPr>
                        <a:t>TBD (future work)</a:t>
                      </a:r>
                    </a:p>
                  </a:txBody>
                  <a:tcPr anchor="ctr">
                    <a:solidFill>
                      <a:srgbClr val="F0EFEC"/>
                    </a:solidFill>
                  </a:tcPr>
                </a:tc>
                <a:tc>
                  <a:txBody>
                    <a:bodyPr/>
                    <a:lstStyle/>
                    <a:p>
                      <a:pPr algn="ctr"/>
                      <a:r>
                        <a:rPr sz="1250" b="0">
                          <a:solidFill>
                            <a:srgbClr val="0B0B0B"/>
                          </a:solidFill>
                          <a:latin typeface="Calibri"/>
                        </a:rPr>
                        <a:t>≈200mV</a:t>
                      </a:r>
                    </a:p>
                  </a:txBody>
                  <a:tcPr anchor="ctr">
                    <a:solidFill>
                      <a:srgbClr val="F0EFEC"/>
                    </a:solidFill>
                  </a:tcPr>
                </a:tc>
                <a:extLst>
                  <a:ext uri="{0D108BD9-81ED-4DB2-BD59-A6C34878D82A}">
                    <a16:rowId xmlns:a16="http://schemas.microsoft.com/office/drawing/2014/main" val="10004"/>
                  </a:ext>
                </a:extLst>
              </a:tr>
            </a:tbl>
          </a:graphicData>
        </a:graphic>
      </p:graphicFrame>
      <p:sp>
        <p:nvSpPr>
          <p:cNvPr id="4" name="TextBox 3"/>
          <p:cNvSpPr txBox="1"/>
          <p:nvPr/>
        </p:nvSpPr>
        <p:spPr>
          <a:xfrm>
            <a:off x="502920" y="4937760"/>
            <a:ext cx="11155680" cy="548640"/>
          </a:xfrm>
          <a:prstGeom prst="rect">
            <a:avLst/>
          </a:prstGeom>
          <a:noFill/>
        </p:spPr>
        <p:txBody>
          <a:bodyPr wrap="square">
            <a:spAutoFit/>
          </a:bodyPr>
          <a:lstStyle/>
          <a:p>
            <a:pPr algn="ctr"/>
            <a:r>
              <a:rPr sz="1250" b="1" i="0">
                <a:solidFill>
                  <a:srgbClr val="898781"/>
                </a:solidFill>
                <a:latin typeface="Calibri"/>
              </a:rPr>
              <a:t>Only the first two rows are experimentally validated; the lower-resistance rows target &gt;1Mbps and are future work.</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“Isn't Δ Basically a Relay Bound?”</a:t>
            </a:r>
          </a:p>
        </p:txBody>
      </p:sp>
      <p:sp>
        <p:nvSpPr>
          <p:cNvPr id="3" name="TextBox 2"/>
          <p:cNvSpPr txBox="1"/>
          <p:nvPr/>
        </p:nvSpPr>
        <p:spPr>
          <a:xfrm>
            <a:off x="502920" y="886968"/>
            <a:ext cx="11155680" cy="457200"/>
          </a:xfrm>
          <a:prstGeom prst="rect">
            <a:avLst/>
          </a:prstGeom>
          <a:noFill/>
        </p:spPr>
        <p:txBody>
          <a:bodyPr wrap="square">
            <a:spAutoFit/>
          </a:bodyPr>
          <a:lstStyle/>
          <a:p>
            <a:r>
              <a:rPr sz="1350" i="1">
                <a:solidFill>
                  <a:srgbClr val="898781"/>
                </a:solidFill>
                <a:latin typeface="Calibri"/>
              </a:rPr>
              <a:t>The single most likely question — answer verbatim</a:t>
            </a:r>
          </a:p>
        </p:txBody>
      </p:sp>
      <p:sp>
        <p:nvSpPr>
          <p:cNvPr id="4" name="TextBox 3"/>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No. G1's window Δ bounds how long a CAPTURED, NO-LONGER-LIVE frame remains useful.</a:t>
            </a:r>
          </a:p>
          <a:p>
            <a:pPr>
              <a:spcAft>
                <a:spcPts val="1100"/>
              </a:spcAft>
            </a:pPr>
            <a:r>
              <a:rPr sz="1700">
                <a:solidFill>
                  <a:srgbClr val="0B0B0B"/>
                </a:solidFill>
                <a:latin typeface="Calibri"/>
              </a:rPr>
              <a:t>●   A live relay never captures-and-resends stale bytes — it forwards each frame through in real time, added latency and all.</a:t>
            </a:r>
          </a:p>
          <a:p>
            <a:pPr>
              <a:spcAft>
                <a:spcPts val="1100"/>
              </a:spcAft>
            </a:pPr>
            <a:r>
              <a:rPr sz="1700">
                <a:solidFill>
                  <a:srgbClr val="0B0B0B"/>
                </a:solidFill>
                <a:latin typeface="Calibri"/>
              </a:rPr>
              <a:t>●   Every relayed frame is genuinely fresh from the receiver's point of view: new nonce, valid tag, arrives within Δ.</a:t>
            </a:r>
          </a:p>
          <a:p>
            <a:pPr>
              <a:spcAft>
                <a:spcPts val="1100"/>
              </a:spcAft>
            </a:pPr>
            <a:r>
              <a:rPr sz="1700">
                <a:solidFill>
                  <a:srgbClr val="0B0B0B"/>
                </a:solidFill>
                <a:latin typeface="Calibri"/>
              </a:rPr>
              <a:t>●   A continuously operating relay keeps t_last refreshed indefinitely — Δ never expires against it.</a:t>
            </a:r>
          </a:p>
          <a:p>
            <a:pPr>
              <a:spcAft>
                <a:spcPts val="1100"/>
              </a:spcAft>
            </a:pPr>
            <a:r>
              <a:rPr sz="1700">
                <a:solidFill>
                  <a:srgbClr val="0B0B0B"/>
                </a:solidFill>
                <a:latin typeface="Calibri"/>
              </a:rPr>
              <a:t>●   G1 and G2 answer “is this frame new and unseen?” — G3 would require answering “how long did this frame take to arrive?”, which nothing in the current implementation checks.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Three Receiver Variants, Three Auth Interaction Models</a:t>
            </a:r>
          </a:p>
        </p:txBody>
      </p:sp>
      <p:graphicFrame>
        <p:nvGraphicFramePr>
          <p:cNvPr id="3" name="Table 2"/>
          <p:cNvGraphicFramePr>
            <a:graphicFrameLocks noGrp="1"/>
          </p:cNvGraphicFramePr>
          <p:nvPr/>
        </p:nvGraphicFramePr>
        <p:xfrm>
          <a:off x="685800" y="1691640"/>
          <a:ext cx="11430000" cy="201168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7040880">
                  <a:extLst>
                    <a:ext uri="{9D8B030D-6E8A-4147-A177-3AD203B41FA5}">
                      <a16:colId xmlns:a16="http://schemas.microsoft.com/office/drawing/2014/main" val="20002"/>
                    </a:ext>
                  </a:extLst>
                </a:gridCol>
              </a:tblGrid>
              <a:tr h="502920">
                <a:tc>
                  <a:txBody>
                    <a:bodyPr/>
                    <a:lstStyle/>
                    <a:p>
                      <a:pPr algn="l"/>
                      <a:r>
                        <a:rPr sz="1350" b="1">
                          <a:solidFill>
                            <a:srgbClr val="FFFFFF"/>
                          </a:solidFill>
                          <a:latin typeface="Calibri"/>
                        </a:rPr>
                        <a:t>Binary</a:t>
                      </a:r>
                    </a:p>
                  </a:txBody>
                  <a:tcPr anchor="ctr">
                    <a:solidFill>
                      <a:srgbClr val="0B0B0B"/>
                    </a:solidFill>
                  </a:tcPr>
                </a:tc>
                <a:tc>
                  <a:txBody>
                    <a:bodyPr/>
                    <a:lstStyle/>
                    <a:p>
                      <a:pPr algn="ctr"/>
                      <a:r>
                        <a:rPr sz="1350" b="1">
                          <a:solidFill>
                            <a:srgbClr val="FFFFFF"/>
                          </a:solidFill>
                          <a:latin typeface="Calibri"/>
                        </a:rPr>
                        <a:t>Role</a:t>
                      </a:r>
                    </a:p>
                  </a:txBody>
                  <a:tcPr anchor="ctr">
                    <a:solidFill>
                      <a:srgbClr val="0B0B0B"/>
                    </a:solidFill>
                  </a:tcPr>
                </a:tc>
                <a:tc>
                  <a:txBody>
                    <a:bodyPr/>
                    <a:lstStyle/>
                    <a:p>
                      <a:pPr algn="ctr"/>
                      <a:r>
                        <a:rPr sz="1350" b="1">
                          <a:solidFill>
                            <a:srgbClr val="FFFFFF"/>
                          </a:solidFill>
                          <a:latin typeface="Calibri"/>
                        </a:rPr>
                        <a:t>Auth interaction</a:t>
                      </a:r>
                    </a:p>
                  </a:txBody>
                  <a:tcPr anchor="ctr">
                    <a:solidFill>
                      <a:srgbClr val="0B0B0B"/>
                    </a:solidFill>
                  </a:tcPr>
                </a:tc>
                <a:extLst>
                  <a:ext uri="{0D108BD9-81ED-4DB2-BD59-A6C34878D82A}">
                    <a16:rowId xmlns:a16="http://schemas.microsoft.com/office/drawing/2014/main" val="10000"/>
                  </a:ext>
                </a:extLst>
              </a:tr>
              <a:tr h="502920">
                <a:tc>
                  <a:txBody>
                    <a:bodyPr/>
                    <a:lstStyle/>
                    <a:p>
                      <a:pPr algn="l"/>
                      <a:r>
                        <a:rPr sz="1250" b="0">
                          <a:solidFill>
                            <a:srgbClr val="0B0B0B"/>
                          </a:solidFill>
                          <a:latin typeface="Calibri"/>
                        </a:rPr>
                        <a:t>keys_receiver</a:t>
                      </a:r>
                    </a:p>
                  </a:txBody>
                  <a:tcPr anchor="ctr">
                    <a:solidFill>
                      <a:srgbClr val="FFFFFF"/>
                    </a:solidFill>
                  </a:tcPr>
                </a:tc>
                <a:tc>
                  <a:txBody>
                    <a:bodyPr/>
                    <a:lstStyle/>
                    <a:p>
                      <a:pPr algn="ctr"/>
                      <a:r>
                        <a:rPr sz="1250" b="0">
                          <a:solidFill>
                            <a:srgbClr val="0B0B0B"/>
                          </a:solidFill>
                          <a:latin typeface="Calibri"/>
                        </a:rPr>
                        <a:t>“The Manager”</a:t>
                      </a:r>
                    </a:p>
                  </a:txBody>
                  <a:tcPr anchor="ctr">
                    <a:solidFill>
                      <a:srgbClr val="FFFFFF"/>
                    </a:solidFill>
                  </a:tcPr>
                </a:tc>
                <a:tc>
                  <a:txBody>
                    <a:bodyPr/>
                    <a:lstStyle/>
                    <a:p>
                      <a:pPr algn="ctr"/>
                      <a:r>
                        <a:rPr sz="1250" b="0">
                          <a:solidFill>
                            <a:srgbClr val="0B0B0B"/>
                          </a:solidFill>
                          <a:latin typeface="Calibri"/>
                        </a:rPr>
                        <a:t>Fetches a session key from Auth at startup, pushes it to the sender</a:t>
                      </a:r>
                    </a:p>
                  </a:txBody>
                  <a:tcPr anchor="ctr">
                    <a:solidFill>
                      <a:srgbClr val="FFFFFF"/>
                    </a:solidFill>
                  </a:tcPr>
                </a:tc>
                <a:extLst>
                  <a:ext uri="{0D108BD9-81ED-4DB2-BD59-A6C34878D82A}">
                    <a16:rowId xmlns:a16="http://schemas.microsoft.com/office/drawing/2014/main" val="10001"/>
                  </a:ext>
                </a:extLst>
              </a:tr>
              <a:tr h="502920">
                <a:tc>
                  <a:txBody>
                    <a:bodyPr/>
                    <a:lstStyle/>
                    <a:p>
                      <a:pPr algn="l"/>
                      <a:r>
                        <a:rPr sz="1250" b="0">
                          <a:solidFill>
                            <a:srgbClr val="0B0B0B"/>
                          </a:solidFill>
                          <a:latin typeface="Calibri"/>
                        </a:rPr>
                        <a:t>flash_receiver</a:t>
                      </a:r>
                    </a:p>
                  </a:txBody>
                  <a:tcPr anchor="ctr">
                    <a:solidFill>
                      <a:srgbClr val="F0EFEC"/>
                    </a:solidFill>
                  </a:tcPr>
                </a:tc>
                <a:tc>
                  <a:txBody>
                    <a:bodyPr/>
                    <a:lstStyle/>
                    <a:p>
                      <a:pPr algn="ctr"/>
                      <a:r>
                        <a:rPr sz="1250" b="0">
                          <a:solidFill>
                            <a:srgbClr val="0B0B0B"/>
                          </a:solidFill>
                          <a:latin typeface="Calibri"/>
                        </a:rPr>
                        <a:t>Combined session app</a:t>
                      </a:r>
                    </a:p>
                  </a:txBody>
                  <a:tcPr anchor="ctr">
                    <a:solidFill>
                      <a:srgbClr val="F0EFEC"/>
                    </a:solidFill>
                  </a:tcPr>
                </a:tc>
                <a:tc>
                  <a:txBody>
                    <a:bodyPr/>
                    <a:lstStyle/>
                    <a:p>
                      <a:pPr algn="ctr"/>
                      <a:r>
                        <a:rPr sz="1250" b="0">
                          <a:solidFill>
                            <a:srgbClr val="0B0B0B"/>
                          </a:solidFill>
                          <a:latin typeface="Calibri"/>
                        </a:rPr>
                        <a:t>Chat + file transfer + HMAC verification + key management, combined</a:t>
                      </a:r>
                    </a:p>
                  </a:txBody>
                  <a:tcPr anchor="ctr">
                    <a:solidFill>
                      <a:srgbClr val="F0EFEC"/>
                    </a:solidFill>
                  </a:tcPr>
                </a:tc>
                <a:extLst>
                  <a:ext uri="{0D108BD9-81ED-4DB2-BD59-A6C34878D82A}">
                    <a16:rowId xmlns:a16="http://schemas.microsoft.com/office/drawing/2014/main" val="10002"/>
                  </a:ext>
                </a:extLst>
              </a:tr>
              <a:tr h="502920">
                <a:tc>
                  <a:txBody>
                    <a:bodyPr/>
                    <a:lstStyle/>
                    <a:p>
                      <a:pPr algn="l"/>
                      <a:r>
                        <a:rPr sz="1250" b="0">
                          <a:solidFill>
                            <a:srgbClr val="0B0B0B"/>
                          </a:solidFill>
                          <a:latin typeface="Calibri"/>
                        </a:rPr>
                        <a:t>ask_receiver</a:t>
                      </a:r>
                    </a:p>
                  </a:txBody>
                  <a:tcPr anchor="ctr">
                    <a:solidFill>
                      <a:srgbClr val="FFFFFF"/>
                    </a:solidFill>
                  </a:tcPr>
                </a:tc>
                <a:tc>
                  <a:txBody>
                    <a:bodyPr/>
                    <a:lstStyle/>
                    <a:p>
                      <a:pPr algn="ctr"/>
                      <a:r>
                        <a:rPr sz="1250" b="0">
                          <a:solidFill>
                            <a:srgbClr val="0B0B0B"/>
                          </a:solidFill>
                          <a:latin typeface="Calibri"/>
                        </a:rPr>
                        <a:t>“The Detective”</a:t>
                      </a:r>
                    </a:p>
                  </a:txBody>
                  <a:tcPr anchor="ctr">
                    <a:solidFill>
                      <a:srgbClr val="FFFFFF"/>
                    </a:solidFill>
                  </a:tcPr>
                </a:tc>
                <a:tc>
                  <a:txBody>
                    <a:bodyPr/>
                    <a:lstStyle/>
                    <a:p>
                      <a:pPr algn="ctr"/>
                      <a:r>
                        <a:rPr sz="1250" b="0">
                          <a:solidFill>
                            <a:srgbClr val="0B0B0B"/>
                          </a:solidFill>
                          <a:latin typeface="Calibri"/>
                        </a:rPr>
                        <a:t>No keys at start — listens for an optical key-ID broadcast, then queries Auth</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4" name="TextBox 3"/>
          <p:cNvSpPr txBox="1"/>
          <p:nvPr/>
        </p:nvSpPr>
        <p:spPr>
          <a:xfrm>
            <a:off x="502920" y="3931920"/>
            <a:ext cx="11155680" cy="548640"/>
          </a:xfrm>
          <a:prstGeom prst="rect">
            <a:avLst/>
          </a:prstGeom>
          <a:noFill/>
        </p:spPr>
        <p:txBody>
          <a:bodyPr wrap="square">
            <a:spAutoFit/>
          </a:bodyPr>
          <a:lstStyle/>
          <a:p>
            <a:pPr algn="ctr"/>
            <a:r>
              <a:rPr sz="1250" b="1" i="0">
                <a:solidFill>
                  <a:srgbClr val="898781"/>
                </a:solidFill>
                <a:latin typeface="Calibri"/>
              </a:rPr>
              <a:t>ask_receiver implements the roaming/discovery model shown on the Auth-runtime slide — it is the concrete code behind that diagram, not a conceptual simplification.</a:t>
            </a:r>
          </a:p>
        </p:txBody>
      </p:sp>
      <p:sp>
        <p:nvSpPr>
          <p:cNvPr id="5" name="TextBox 4"/>
          <p:cNvSpPr txBox="1"/>
          <p:nvPr/>
        </p:nvSpPr>
        <p:spPr>
          <a:xfrm>
            <a:off x="685800" y="4617720"/>
            <a:ext cx="10789920" cy="1828800"/>
          </a:xfrm>
          <a:prstGeom prst="rect">
            <a:avLst/>
          </a:prstGeom>
          <a:noFill/>
        </p:spPr>
        <p:txBody>
          <a:bodyPr wrap="square">
            <a:spAutoFit/>
          </a:bodyPr>
          <a:lstStyle/>
          <a:p>
            <a:pPr>
              <a:spcAft>
                <a:spcPts val="1100"/>
              </a:spcAft>
            </a:pPr>
            <a:r>
              <a:rPr sz="1350">
                <a:solidFill>
                  <a:srgbClr val="0B0B0B"/>
                </a:solidFill>
                <a:latin typeface="Calibri"/>
              </a:rPr>
              <a:t>●   Message types relevant to Auth interaction: MSG_TYPE_KEY_ID_ONLY (discovery), MSG_TYPE_CHALLENGE / RESPONSE (runtime HMAC), MSG_TYPE_KEY (provisioning push)</a:t>
            </a:r>
          </a:p>
          <a:p>
            <a:pPr>
              <a:spcAft>
                <a:spcPts val="1100"/>
              </a:spcAft>
            </a:pPr>
            <a:r>
              <a:rPr sz="1350">
                <a:solidFill>
                  <a:srgbClr val="0B0B0B"/>
                </a:solidFill>
                <a:latin typeface="Calibri"/>
              </a:rPr>
              <a:t>●   All three variants share the same SST C API calls underneath: init_SST(), get_session_key(), get_session_key_by_ID()</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SST/IoTAuth Publication Lineage &amp; Team</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IoTDI '17 and FiCloud '16 — secure network architecture with Auth-mediated key distribution for IoT</a:t>
            </a:r>
          </a:p>
          <a:p>
            <a:pPr>
              <a:spcAft>
                <a:spcPts val="1100"/>
              </a:spcAft>
            </a:pPr>
            <a:r>
              <a:rPr sz="1700">
                <a:solidFill>
                  <a:srgbClr val="0B0B0B"/>
                </a:solidFill>
                <a:latin typeface="Calibri"/>
              </a:rPr>
              <a:t>●   IT Professional '17 — the “locally centralized, globally distributed” authentication/authorization architecture</a:t>
            </a:r>
          </a:p>
          <a:p>
            <a:pPr>
              <a:spcAft>
                <a:spcPts val="1100"/>
              </a:spcAft>
            </a:pPr>
            <a:r>
              <a:rPr sz="1700">
                <a:solidFill>
                  <a:srgbClr val="0B0B0B"/>
                </a:solidFill>
                <a:latin typeface="Calibri"/>
              </a:rPr>
              <a:t>●   ACM TIOT '20 — secure migration as a recovery mechanism from denial-of-service attacks or failures</a:t>
            </a:r>
          </a:p>
          <a:p>
            <a:pPr>
              <a:spcAft>
                <a:spcPts val="1100"/>
              </a:spcAft>
            </a:pPr>
            <a:r>
              <a:rPr sz="1700">
                <a:solidFill>
                  <a:srgbClr val="0B0B0B"/>
                </a:solidFill>
                <a:latin typeface="Calibri"/>
              </a:rPr>
              <a:t>●   SoftwareX '23 — the C API this project links against (sst-c-api)</a:t>
            </a:r>
          </a:p>
          <a:p>
            <a:pPr>
              <a:spcAft>
                <a:spcPts val="1100"/>
              </a:spcAft>
            </a:pPr>
            <a:r>
              <a:rPr sz="1700">
                <a:solidFill>
                  <a:srgbClr val="0B0B0B"/>
                </a:solidFill>
                <a:latin typeface="Calibri"/>
              </a:rPr>
              <a:t>●   SIGMOD '25 / Mid4CC '23 — SST applied to large-scale key-value storage and decentralized file-system access control</a:t>
            </a:r>
          </a:p>
          <a:p>
            <a:pPr>
              <a:spcAft>
                <a:spcPts val="1100"/>
              </a:spcAft>
            </a:pPr>
            <a:r>
              <a:rPr sz="1700">
                <a:solidFill>
                  <a:srgbClr val="0B0B0B"/>
                </a:solidFill>
                <a:latin typeface="Calibri"/>
              </a:rPr>
              <a:t>●   Most in-depth technical reference: a 2017 UC Berkeley Ph.D. dissertation on the underlying architecture</a:t>
            </a:r>
          </a:p>
          <a:p>
            <a:pPr>
              <a:spcAft>
                <a:spcPts val="1100"/>
              </a:spcAft>
            </a:pPr>
            <a:r>
              <a:rPr sz="1700">
                <a:solidFill>
                  <a:srgbClr val="0B0B0B"/>
                </a:solidFill>
                <a:latin typeface="Calibri"/>
              </a:rPr>
              <a:t>●   Active contributors (per the project's own repository): Hokeun Kim, Dongha Kim, Carlos Beltran Quinonez, Sunyoung Kim, Jose Felix — all ASU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6F45329-A1D1-47A0-9C99-700621DC0714}">
  <we:reference id="wa200010001" version="1.0.0.1" store="en-US" storeType="OMEX"/>
  <we:alternateReferences>
    <we:reference id="wa200010001" version="1.0.0.1" store="en-US" storeType="OMEX"/>
  </we:alternateReferences>
  <we:properties>
    <we:property name="claude.fileId" value="&quot;530aedfb-991f-457f-9772-67ffe11d33b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7601</TotalTime>
  <Words>7523</Words>
  <Application>Microsoft Office PowerPoint</Application>
  <PresentationFormat>Widescreen</PresentationFormat>
  <Paragraphs>433</Paragraphs>
  <Slides>38</Slides>
  <Notes>37</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38</vt:i4>
      </vt:variant>
    </vt:vector>
  </HeadingPairs>
  <TitlesOfParts>
    <vt:vector size="45" baseType="lpstr">
      <vt:lpstr>Aptos</vt:lpstr>
      <vt:lpstr>Aptos Display</vt:lpstr>
      <vt:lpstr>Arial</vt:lpstr>
      <vt:lpstr>Calibri</vt:lpstr>
      <vt:lpstr>Cambria Math</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Jose Felix (Student)</cp:lastModifiedBy>
  <cp:revision>5</cp:revision>
  <dcterms:created xsi:type="dcterms:W3CDTF">2013-01-27T09:14:16Z</dcterms:created>
  <dcterms:modified xsi:type="dcterms:W3CDTF">2026-08-20T18:48:21Z</dcterms:modified>
  <cp:category/>
</cp:coreProperties>
</file>