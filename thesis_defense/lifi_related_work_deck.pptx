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supplementary deck, not part of the main defense sequence. Purpose: have the literature landscape and the two closest prior-work papers ready if the committee asks 'hasn't someone already done this?' The main deck's Related Work slide (the 4-row table) stays as the on-stage summary — this deck is the backup material behind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4-row main-deck table expanded to 6 by pulling LISA and the Suduwella et al. VLC location-authentication paper out of the paper's prose into their own rows — they're the two closest analogs and deserve to be named explicitly rather than folded into 'encrypted VLC implementations'. Everything else is unchanged from the main deck's framing.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directly 'what about the Suduwella VLC/WiFi paper' or 'what about LISA' — this is the slide. Both are legitimate, closely related prior work; neither one binds authorization to continued optical reception. LISA's light channel is dead the moment provisioning finishes. Suduwella et al.'s VLC check happens once, at association — after that it's an ordinary WiFi session with no further optical dependency. The bottom row is the contrast, not a dismissal.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the wire-format question, and the vocabulary the next few slides lean on: t_last (G1/G4) is the timestamp of the last frame whose nonce and GCM tag both verified; G2's replay window operates purely on the 12-byte nonce field, before decryption is attempted at all, so a byte-identical resend is rejected essentially for free. The preamble's hunting-state behavior matters for G4 too: an occlusion doesn't produce garbled frames the receiver has to reject one at a time — it produces silence, because the detector never sees a matching preamble to begin accumulating a frame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Scoped exactly to the Pico sender / Pico 2 receiver pair, since that's the pair the presence evaluation runs against — not the Pi4/dashboard path, which additionally uses get_session_key_by_ID() for its roaming lookup (that's the main deck's 'Auth's Role Doesn't Stop After Provisioning' slide, a different device). The point worth landing: exactly four SST C API functions are used for this pair, all inside one small host binary, pico_provisioner.c. Neither microcontroller links the library at all — confirmed by grep against both firmware sources, zero hits for init_SST/get_session_key in either. That's not an oversight, it's the paper's own framing of the receiver's key path (Section: Key Delivery to Receiver): the RP2040 and RP2350 are too constrained to run a TLS client, so the host does the SST handshake and hands the microcontroller only the raw key bytes it needs, in a format its own firmware already parses. 'Refresh' isn't a distinct code path — clicking NEW KEY re-runs the identical init_SST() + get_session_key() sequence and re-pushes over the same UART frame.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for 'does it really re-check based on whether the optical link is still there' — and the honest follow-up: 'besides literally being out of line of sight, what else ends it.' Answer: nothing distinguishes them. G4 isn't a LOS sensor bolted onto the protocol — it's a direct corollary of the same freshness check G1 already needs. There's no 'revoke' RPC anywhere in the system, and no diagnostic signal for why t_last went stale. This is the same underlying issue as G3's relay caveat (a live relay looks like genuine presence for the same reason) and is consistent with the paper's Non-Goals — no localization, no causal diagnosis, just fail-closed. The next slide is the measured proof for the occlusion case specifically: 25 on-device trials, revocation firing at exactly Δ = 15.001s ± 0.000s every single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batches, same experiment, increasing rigor. Blue: as-deployed, 5s external-monitor polling, n=21 — bimodal (15.7s / 18.2s clusters), which is polling aliasing, not the mechanism misbehaving. Orange: fine-grained 0.2s polling, n=20 — collapses to 15.11s ± 0.06s, isolating the real latency from polling artifacts. Aqua: on-device, n=25 — reads the receiver's own [PRESENCE] state transitions directly, no external observation cadence at all. Every one of the 25 trials hit 15.001s exactly, because the on-device check runs every main-loop iteration and fires the instant the Δ timer crosses — this is the strongest evidence available that Δ is enforced exactly, not approximately. Right-hand panel: re-verification after unblocking is consistently ~1.3s across all three batches, bounded above by the 2.5s heartbeat interval as expected. If pressed on 'why isn't the main deck's G4 slide already framed this way' — the main deck's caption predates the on-device batch; this deck's version is the current, complete picture using the same source figure.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isn't the mechanism walkthrough (that's the main deck's 'G3 — A Named Limitation, Not a Discovered Gap' slide, delivered in the same even tone as every positive result). This is the 'why does G3 exist at all' slide — the argumentative point behind it. The single sentence to have ready verbatim: G1's expiration window bounds a captured, no-longer-live frame; it does not bound relay latency, because a continuously operating relay keeps t_last refreshed indefinitely with genuinely fresh, just-late frames. That confusion — mistaking freshness for a relay bound — is the single most likely follow-up question. Second most likely: 'so does this mean the whole thing is broken against a determined attacker?' — no; the RF-comparison argument (automatic revocation on departure, which RF cannot do without environmental modification) survives G3 fully intact. G3 only concedes one specific capability, not the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Pairs with the Adversary Model slide right after this one: that slide is what A can do, this slide is what the analysis assumes A cannot do or isn't trying to do. Worth stating plainly if asked to justify any one of these in isolation — they're standard assumptions for this class of system, not unusually generous ones. The one to actually engage with rather than wave off: assumption 5 sounds like it should cover the receiver's manual-key-paste weakness discussed earlier, and it doesn't — 'no full client compromise' is about an already-correctly-provisioned device staying uncompromised at runtime, not about whether the right key got typed in during provisioning in the first place. Those are genuinely different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the full capability list from the paper's Threat Model section, condensed to one row each. The point of showing all five together, right after the G3 deep-dive: G3 is one specific, named gap in an otherwise mostly-answered list, not evidence the threat model is loosely reasoned. If asked to assess the model itself rather than just recite it — the two bullets are the honest answer. The tension bullet is a real inconsistency I found by cross-reading the System Model section against the System Architecture section and the actual receiver_pico/src/main.c source: the former states the receiver talks TCP/TLS to the provisioning service as part of the general three-participant model, the latter (correctly) documents that the evaluated receiver has no network credentials and gets its key pasted by an operator. It's an abstraction-vs-instance gap, not a contradiction about what was built — but a sharp reader who reads the Threat Model section in isolation could reasonably ask about it without ever having read the Key Delivery to Receiver caveat. Also worth noting out loud only if pressed: Trust Assumption #5 ('no full client compromise') is about runtime compromise of an already-correctly-provisioned device, not about provisioning-time key substitution — so it doesn't actually cover the manual-key-paste weakness either. That's a second, narrower version of the same gap, not a new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table pulling together slides 6–10. Use this if someone asks for 'the whole picture' rather than walking one goal at a time. Note the color coding is deliberate, not decorative: green for clean achievement, amber for achieved-but-with-a-disclosed-boundary (G2), red for explicitly not achieved (G3) — all three colors are honest signals, not a pass/fail grade. The G2 row is easy to undersell — the boundary test used a deliberately shrunk 2-entry window to make the limitation observable quickly; the production 64-entry window means an adversary needs 64 further legitimate frames to exchange before a captured frame ages back into acceptability, which at the minimum authenticated rate 1/Δ bounds how long the threat window stays open.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Ranked by (severity to the core claim) x (likelihood of being asked), not by section order in the paper. Rows 1-6 are all explicitly enumerated in the paper already — Limitations §1-6, plus the Δ-sensitivity prose and the G2 boundary-test prose in Security Validation — so 'what's the weakest part of this' is a safe question to invite rather than dread. The one item flagged separately at the bottom (System Model vs receiver_pico) is NOT in the paper anywhere — it's a finding from this session's own cross-reading, so don't present it as if the paper already owns it; frame it as 'here's something worth double-checking,' not 'here's a known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question in the whole deck nobody had prepped for before this pass — a security-literate committee member who knows Apple/Samsung UWB precision-finding could reasonably ask 'isn't this already solved?' The honest answer isn't to argue optical beats UWB — it's to relocate the claim: UWB answers 'how far' with more maturity than this system's G3 attempt would; this thesis answers 'which physically-confined space' for free, from the physics of light, which UWB's RF signal fundamentally cannot do without environmental modification — the same RF-comparison argument used elsewhere in this deck, just against a much stronger, modern RF opponent than plain WiFi. Sourced from FiRa Consortium technical material and the IEEE 802.15.4z STS mechanism description — verified via web search this session, not from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to have on hand if asked 'is anyone doing PHY-layer VLC authentication right now' — yes, and here's a April 2025 example. It strengthens rather than threatens the gap claim: even the newest PHY-authentication work verifies one message against a reflector configuration, it doesn't enforce that a device stays authorized only while it keeps receiving.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Zhang et al. 2023 is not currently cited in the paper's bibliography — it's a newer, broader ACM Computing Surveys piece that widens the lens from VLC specifically to optical wireless comms generally (adds OCC, FSOC, LiDAR). Worth citing alongside Blinowski/Arfaoui if the paper's related-work section gets a revision pass — flagged here, not yet added to the .tex.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slide of the supplementary deck — same gap claim as the main deck's caption, but now defended against each named piece of prior work individually rather than left as a category-level assertion. Use this ordering if the Q&amp;A goes deep on 'why isn't this already solved.'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verified via Crossref (Suduwella et al. DOI), arXiv (Cetindere Vela et al.), and the ACM DOI page (Zhang et al.) — not yet added to the thesis paper's .bib/thebibliography. If the paper gets one more revision pass, these are the citations to fold 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only exists because of source-level review, not because a test failed — worth saying that plainly if it comes up. The distinction to keep sharp under questioning: the ALREADY-disclosed boundary limitation (#4) is about a nonce eventually aging out under real traffic, which is expected and harmless (the traffic that evicts it also independently keeps presence current). This is different — it's about an attacker with no key forcing that eviction on demand, which the original |Seen|·T_beacon≥Δ margin never accounted for. If asked whether this invalidates the measured 25/25 replay numbers: no — that result is about immediate replay (δ=200ms), where nothing has had time to evict anything regardless of which insertion rule is active. The rerun still needs to happen before citing this as closed, and should add a new trial that specifically exercises the old eviction path to demonstrate it's now closed.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internal inconsistency, not a new limitation — Slide 5 of this same deck already states correctly that receiver_pico has no SST client and gets its key pasted by an operator, which implies no UART; the G3 slides just never carried that fact forward into the future-work framing. Good news if asked: this doesn't weaken the G3 discussion, it sharpens it — 'not achieved, and closing it needs new hardware' is a cleaner, more defensible claim than 'not achieved, but the wiring is already there,' which was never true for the system actually being evaluated. If pressed on the 3-6ms figure specifically: that number was measured on the receiver's own frame-processing pipeline (preamble lock to CRC-validated frame), so it's still a legitimate data point — it just needs to be sold as evidence that processing jitter is tight enough to bound, not as evidence that light-speed propagation is measurable at this range.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32720" cy="1097280"/>
          </a:xfrm>
          <a:prstGeom prst="rect">
            <a:avLst/>
          </a:prstGeom>
          <a:noFill/>
        </p:spPr>
        <p:txBody>
          <a:bodyPr wrap="none">
            <a:spAutoFit/>
          </a:bodyPr>
          <a:lstStyle/>
          <a:p>
            <a:r>
              <a:rPr sz="4000" b="1">
                <a:solidFill>
                  <a:srgbClr val="FFFFFF"/>
                </a:solidFill>
                <a:latin typeface="Calibri"/>
              </a:rPr>
              <a:t>Related Work</a:t>
            </a:r>
          </a:p>
        </p:txBody>
      </p:sp>
      <p:sp>
        <p:nvSpPr>
          <p:cNvPr id="4" name="TextBox 3"/>
          <p:cNvSpPr txBox="1"/>
          <p:nvPr/>
        </p:nvSpPr>
        <p:spPr>
          <a:xfrm>
            <a:off x="914400" y="3566160"/>
            <a:ext cx="10332720" cy="640080"/>
          </a:xfrm>
          <a:prstGeom prst="rect">
            <a:avLst/>
          </a:prstGeom>
          <a:noFill/>
        </p:spPr>
        <p:txBody>
          <a:bodyPr wrap="none">
            <a:spAutoFit/>
          </a:bodyPr>
          <a:lstStyle/>
          <a:p>
            <a:r>
              <a:rPr sz="1500" i="1">
                <a:solidFill>
                  <a:srgbClr val="C3C2B7"/>
                </a:solidFill>
                <a:latin typeface="Calibri"/>
              </a:rPr>
              <a:t>LiFi/VLC security &amp; presence-based authorization — defense-prep reference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The Landscape — Six Categories, One Gap</a:t>
            </a:r>
          </a:p>
        </p:txBody>
      </p:sp>
      <p:graphicFrame>
        <p:nvGraphicFramePr>
          <p:cNvPr id="3" name="Table 2"/>
          <p:cNvGraphicFramePr>
            <a:graphicFrameLocks noGrp="1"/>
          </p:cNvGraphicFramePr>
          <p:nvPr/>
        </p:nvGraphicFramePr>
        <p:xfrm>
          <a:off x="685800" y="1554480"/>
          <a:ext cx="10881360" cy="4023360"/>
        </p:xfrm>
        <a:graphic>
          <a:graphicData uri="http://schemas.openxmlformats.org/drawingml/2006/table">
            <a:tbl>
              <a:tblPr firstRow="1" bandRow="1">
                <a:tableStyleId>{5C22544A-7EE6-4342-B048-85BDC9FD1C3A}</a:tableStyleId>
              </a:tblPr>
              <a:tblGrid>
                <a:gridCol w="3017520"/>
                <a:gridCol w="4663440"/>
                <a:gridCol w="3200400"/>
              </a:tblGrid>
              <a:tr h="574765">
                <a:tc>
                  <a:txBody>
                    <a:bodyPr wrap="square"/>
                    <a:lstStyle/>
                    <a:p>
                      <a:pPr algn="l"/>
                      <a:r>
                        <a:rPr sz="1350" b="1">
                          <a:solidFill>
                            <a:srgbClr val="FFFFFF"/>
                          </a:solidFill>
                          <a:latin typeface="Calibri"/>
                        </a:rPr>
                        <a:t>Category</a:t>
                      </a:r>
                    </a:p>
                  </a:txBody>
                  <a:tcPr anchor="ctr" marL="91440" marR="91440" marT="45720" marB="45720">
                    <a:solidFill>
                      <a:srgbClr val="0B0B0B"/>
                    </a:solidFill>
                  </a:tcPr>
                </a:tc>
                <a:tc>
                  <a:txBody>
                    <a:bodyPr wrap="square"/>
                    <a:lstStyle/>
                    <a:p>
                      <a:pPr algn="ctr"/>
                      <a:r>
                        <a:rPr sz="1350" b="1">
                          <a:solidFill>
                            <a:srgbClr val="FFFFFF"/>
                          </a:solidFill>
                          <a:latin typeface="Calibri"/>
                        </a:rPr>
                        <a:t>What it does</a:t>
                      </a:r>
                    </a:p>
                  </a:txBody>
                  <a:tcPr anchor="ctr" marL="91440" marR="91440" marT="45720" marB="45720">
                    <a:solidFill>
                      <a:srgbClr val="0B0B0B"/>
                    </a:solidFill>
                  </a:tcPr>
                </a:tc>
                <a:tc>
                  <a:txBody>
                    <a:bodyPr wrap="square"/>
                    <a:lstStyle/>
                    <a:p>
                      <a:pPr algn="ctr"/>
                      <a:r>
                        <a:rPr sz="1350" b="1">
                          <a:solidFill>
                            <a:srgbClr val="FFFFFF"/>
                          </a:solidFill>
                          <a:latin typeface="Calibri"/>
                        </a:rPr>
                        <a:t>What it doesn't do</a:t>
                      </a:r>
                    </a:p>
                  </a:txBody>
                  <a:tcPr anchor="ctr" marL="91440" marR="91440" marT="45720" marB="45720">
                    <a:solidFill>
                      <a:srgbClr val="0B0B0B"/>
                    </a:solidFill>
                  </a:tcPr>
                </a:tc>
              </a:tr>
              <a:tr h="574765">
                <a:tc>
                  <a:txBody>
                    <a:bodyPr wrap="square"/>
                    <a:lstStyle/>
                    <a:p>
                      <a:pPr algn="l"/>
                      <a:r>
                        <a:rPr sz="1150" b="0">
                          <a:solidFill>
                            <a:srgbClr val="0B0B0B"/>
                          </a:solidFill>
                          <a:latin typeface="Calibri"/>
                        </a:rPr>
                        <a:t>Info-theoretic PLS</a:t>
                      </a:r>
                    </a:p>
                  </a:txBody>
                  <a:tcPr anchor="ctr" marL="91440" marR="91440" marT="45720" marB="45720">
                    <a:solidFill>
                      <a:srgbClr val="FFFFFF"/>
                    </a:solidFill>
                  </a:tcPr>
                </a:tc>
                <a:tc>
                  <a:txBody>
                    <a:bodyPr wrap="square"/>
                    <a:lstStyle/>
                    <a:p>
                      <a:pPr algn="ctr"/>
                      <a:r>
                        <a:rPr sz="1150" b="0">
                          <a:solidFill>
                            <a:srgbClr val="0B0B0B"/>
                          </a:solidFill>
                          <a:latin typeface="Calibri"/>
                        </a:rPr>
                        <a:t>Statistical eavesdropper disadvantage (Wyner wiretap model)</a:t>
                      </a:r>
                    </a:p>
                  </a:txBody>
                  <a:tcPr anchor="ctr" marL="91440" marR="91440" marT="45720" marB="45720">
                    <a:solidFill>
                      <a:srgbClr val="FFFFFF"/>
                    </a:solidFill>
                  </a:tcPr>
                </a:tc>
                <a:tc>
                  <a:txBody>
                    <a:bodyPr wrap="square"/>
                    <a:lstStyle/>
                    <a:p>
                      <a:pPr algn="ctr"/>
                      <a:r>
                        <a:rPr sz="1150" b="0">
                          <a:solidFill>
                            <a:srgbClr val="0B0B0B"/>
                          </a:solidFill>
                          <a:latin typeface="Calibri"/>
                        </a:rPr>
                        <a:t>No real-time authorization decision</a:t>
                      </a:r>
                    </a:p>
                  </a:txBody>
                  <a:tcPr anchor="ctr" marL="91440" marR="91440" marT="45720" marB="45720">
                    <a:solidFill>
                      <a:srgbClr val="FFFFFF"/>
                    </a:solidFill>
                  </a:tcPr>
                </a:tc>
              </a:tr>
              <a:tr h="574765">
                <a:tc>
                  <a:txBody>
                    <a:bodyPr wrap="square"/>
                    <a:lstStyle/>
                    <a:p>
                      <a:pPr algn="l"/>
                      <a:r>
                        <a:rPr sz="1150" b="0">
                          <a:solidFill>
                            <a:srgbClr val="0B0B0B"/>
                          </a:solidFill>
                          <a:latin typeface="Calibri"/>
                        </a:rPr>
                        <a:t>Physical-layer key generation</a:t>
                      </a:r>
                    </a:p>
                  </a:txBody>
                  <a:tcPr anchor="ctr" marL="91440" marR="91440" marT="45720" marB="45720">
                    <a:solidFill>
                      <a:srgbClr val="F0EFEC"/>
                    </a:solidFill>
                  </a:tcPr>
                </a:tc>
                <a:tc>
                  <a:txBody>
                    <a:bodyPr wrap="square"/>
                    <a:lstStyle/>
                    <a:p>
                      <a:pPr algn="ctr"/>
                      <a:r>
                        <a:rPr sz="1150" b="0">
                          <a:solidFill>
                            <a:srgbClr val="0B0B0B"/>
                          </a:solidFill>
                          <a:latin typeface="Calibri"/>
                        </a:rPr>
                        <a:t>Bootstraps a shared secret from channel measurements</a:t>
                      </a:r>
                    </a:p>
                  </a:txBody>
                  <a:tcPr anchor="ctr" marL="91440" marR="91440" marT="45720" marB="45720">
                    <a:solidFill>
                      <a:srgbClr val="F0EFEC"/>
                    </a:solidFill>
                  </a:tcPr>
                </a:tc>
                <a:tc>
                  <a:txBody>
                    <a:bodyPr wrap="square"/>
                    <a:lstStyle/>
                    <a:p>
                      <a:pPr algn="ctr"/>
                      <a:r>
                        <a:rPr sz="1150" b="0">
                          <a:solidFill>
                            <a:srgbClr val="0B0B0B"/>
                          </a:solidFill>
                          <a:latin typeface="Calibri"/>
                        </a:rPr>
                        <a:t>Key persists after the optical link ends</a:t>
                      </a:r>
                    </a:p>
                  </a:txBody>
                  <a:tcPr anchor="ctr" marL="91440" marR="91440" marT="45720" marB="45720">
                    <a:solidFill>
                      <a:srgbClr val="F0EFEC"/>
                    </a:solidFill>
                  </a:tcPr>
                </a:tc>
              </a:tr>
              <a:tr h="574765">
                <a:tc>
                  <a:txBody>
                    <a:bodyPr wrap="square"/>
                    <a:lstStyle/>
                    <a:p>
                      <a:pPr algn="l"/>
                      <a:r>
                        <a:rPr sz="1150" b="0">
                          <a:solidFill>
                            <a:srgbClr val="0B0B0B"/>
                          </a:solidFill>
                          <a:latin typeface="Calibri"/>
                        </a:rPr>
                        <a:t>Encrypted VLC implementations</a:t>
                      </a:r>
                    </a:p>
                  </a:txBody>
                  <a:tcPr anchor="ctr" marL="91440" marR="91440" marT="45720" marB="45720">
                    <a:solidFill>
                      <a:srgbClr val="FFFFFF"/>
                    </a:solidFill>
                  </a:tcPr>
                </a:tc>
                <a:tc>
                  <a:txBody>
                    <a:bodyPr wrap="square"/>
                    <a:lstStyle/>
                    <a:p>
                      <a:pPr algn="ctr"/>
                      <a:r>
                        <a:rPr sz="1150" b="0">
                          <a:solidFill>
                            <a:srgbClr val="0B0B0B"/>
                          </a:solidFill>
                          <a:latin typeface="Calibri"/>
                        </a:rPr>
                        <a:t>Protects data in transit (RSA / chaos-synchronized links)</a:t>
                      </a:r>
                    </a:p>
                  </a:txBody>
                  <a:tcPr anchor="ctr" marL="91440" marR="91440" marT="45720" marB="45720">
                    <a:solidFill>
                      <a:srgbClr val="FFFFFF"/>
                    </a:solidFill>
                  </a:tcPr>
                </a:tc>
                <a:tc>
                  <a:txBody>
                    <a:bodyPr wrap="square"/>
                    <a:lstStyle/>
                    <a:p>
                      <a:pPr algn="ctr"/>
                      <a:r>
                        <a:rPr sz="1150" b="0">
                          <a:solidFill>
                            <a:srgbClr val="0B0B0B"/>
                          </a:solidFill>
                          <a:latin typeface="Calibri"/>
                        </a:rPr>
                        <a:t>Optical channel not used for access control</a:t>
                      </a:r>
                    </a:p>
                  </a:txBody>
                  <a:tcPr anchor="ctr" marL="91440" marR="91440" marT="45720" marB="45720">
                    <a:solidFill>
                      <a:srgbClr val="FFFFFF"/>
                    </a:solidFill>
                  </a:tcPr>
                </a:tc>
              </a:tr>
              <a:tr h="574765">
                <a:tc>
                  <a:txBody>
                    <a:bodyPr wrap="square"/>
                    <a:lstStyle/>
                    <a:p>
                      <a:pPr algn="l"/>
                      <a:r>
                        <a:rPr sz="1150" b="0">
                          <a:solidFill>
                            <a:srgbClr val="0B0B0B"/>
                          </a:solidFill>
                          <a:latin typeface="Calibri"/>
                        </a:rPr>
                        <a:t>VLC-assisted device init (LISA)</a:t>
                      </a:r>
                    </a:p>
                  </a:txBody>
                  <a:tcPr anchor="ctr" marL="91440" marR="91440" marT="45720" marB="45720">
                    <a:solidFill>
                      <a:srgbClr val="F0EFEC"/>
                    </a:solidFill>
                  </a:tcPr>
                </a:tc>
                <a:tc>
                  <a:txBody>
                    <a:bodyPr wrap="square"/>
                    <a:lstStyle/>
                    <a:p>
                      <a:pPr algn="ctr"/>
                      <a:r>
                        <a:rPr sz="1150" b="0">
                          <a:solidFill>
                            <a:srgbClr val="0B0B0B"/>
                          </a:solidFill>
                          <a:latin typeface="Calibri"/>
                        </a:rPr>
                        <a:t>Uses light as an out-of-band channel to bootstrap IoT credentials</a:t>
                      </a:r>
                    </a:p>
                  </a:txBody>
                  <a:tcPr anchor="ctr" marL="91440" marR="91440" marT="45720" marB="45720">
                    <a:solidFill>
                      <a:srgbClr val="F0EFEC"/>
                    </a:solidFill>
                  </a:tcPr>
                </a:tc>
                <a:tc>
                  <a:txBody>
                    <a:bodyPr wrap="square"/>
                    <a:lstStyle/>
                    <a:p>
                      <a:pPr algn="ctr"/>
                      <a:r>
                        <a:rPr sz="1150" b="0">
                          <a:solidFill>
                            <a:srgbClr val="0B0B0B"/>
                          </a:solidFill>
                          <a:latin typeface="Calibri"/>
                        </a:rPr>
                        <a:t>One-time ceremony; light plays no role after setup</a:t>
                      </a:r>
                    </a:p>
                  </a:txBody>
                  <a:tcPr anchor="ctr" marL="91440" marR="91440" marT="45720" marB="45720">
                    <a:solidFill>
                      <a:srgbClr val="F0EFEC"/>
                    </a:solidFill>
                  </a:tcPr>
                </a:tc>
              </a:tr>
              <a:tr h="574765">
                <a:tc>
                  <a:txBody>
                    <a:bodyPr wrap="square"/>
                    <a:lstStyle/>
                    <a:p>
                      <a:pPr algn="l"/>
                      <a:r>
                        <a:rPr sz="1150" b="0">
                          <a:solidFill>
                            <a:srgbClr val="0B0B0B"/>
                          </a:solidFill>
                          <a:latin typeface="Calibri"/>
                        </a:rPr>
                        <a:t>VLC-gated network access (Suduwella et al.)</a:t>
                      </a:r>
                    </a:p>
                  </a:txBody>
                  <a:tcPr anchor="ctr" marL="91440" marR="91440" marT="45720" marB="45720">
                    <a:solidFill>
                      <a:srgbClr val="FFFFFF"/>
                    </a:solidFill>
                  </a:tcPr>
                </a:tc>
                <a:tc>
                  <a:txBody>
                    <a:bodyPr wrap="square"/>
                    <a:lstStyle/>
                    <a:p>
                      <a:pPr algn="ctr"/>
                      <a:r>
                        <a:rPr sz="1150" b="0">
                          <a:solidFill>
                            <a:srgbClr val="0B0B0B"/>
                          </a:solidFill>
                          <a:latin typeface="Calibri"/>
                        </a:rPr>
                        <a:t>Uses VLC to prove location before granting WiFi/RADIUS access</a:t>
                      </a:r>
                    </a:p>
                  </a:txBody>
                  <a:tcPr anchor="ctr" marL="91440" marR="91440" marT="45720" marB="45720">
                    <a:solidFill>
                      <a:srgbClr val="FFFFFF"/>
                    </a:solidFill>
                  </a:tcPr>
                </a:tc>
                <a:tc>
                  <a:txBody>
                    <a:bodyPr wrap="square"/>
                    <a:lstStyle/>
                    <a:p>
                      <a:pPr algn="ctr"/>
                      <a:r>
                        <a:rPr sz="1150" b="0">
                          <a:solidFill>
                            <a:srgbClr val="0B0B0B"/>
                          </a:solidFill>
                          <a:latin typeface="Calibri"/>
                        </a:rPr>
                        <a:t>One-time check at association; not re-verified afterward</a:t>
                      </a:r>
                    </a:p>
                  </a:txBody>
                  <a:tcPr anchor="ctr" marL="91440" marR="91440" marT="45720" marB="45720">
                    <a:solidFill>
                      <a:srgbClr val="FFFFFF"/>
                    </a:solidFill>
                  </a:tcPr>
                </a:tc>
              </a:tr>
              <a:tr h="574770">
                <a:tc>
                  <a:txBody>
                    <a:bodyPr wrap="square"/>
                    <a:lstStyle/>
                    <a:p>
                      <a:pPr algn="l"/>
                      <a:r>
                        <a:rPr sz="1150" b="0">
                          <a:solidFill>
                            <a:srgbClr val="0B0B0B"/>
                          </a:solidFill>
                          <a:latin typeface="Calibri"/>
                        </a:rPr>
                        <a:t>Commercial LiFi (Signify, Oledcomm)</a:t>
                      </a:r>
                    </a:p>
                  </a:txBody>
                  <a:tcPr anchor="ctr" marL="91440" marR="91440" marT="45720" marB="45720">
                    <a:solidFill>
                      <a:srgbClr val="F0EFEC"/>
                    </a:solidFill>
                  </a:tcPr>
                </a:tc>
                <a:tc>
                  <a:txBody>
                    <a:bodyPr wrap="square"/>
                    <a:lstStyle/>
                    <a:p>
                      <a:pPr algn="ctr"/>
                      <a:r>
                        <a:rPr sz="1150" b="0">
                          <a:solidFill>
                            <a:srgbClr val="0B0B0B"/>
                          </a:solidFill>
                          <a:latin typeface="Calibri"/>
                        </a:rPr>
                        <a:t>Markets spatial confinement as a security feature</a:t>
                      </a:r>
                    </a:p>
                  </a:txBody>
                  <a:tcPr anchor="ctr" marL="91440" marR="91440" marT="45720" marB="45720">
                    <a:solidFill>
                      <a:srgbClr val="F0EFEC"/>
                    </a:solidFill>
                  </a:tcPr>
                </a:tc>
                <a:tc>
                  <a:txBody>
                    <a:bodyPr wrap="square"/>
                    <a:lstStyle/>
                    <a:p>
                      <a:pPr algn="ctr"/>
                      <a:r>
                        <a:rPr sz="1150" b="0">
                          <a:solidFill>
                            <a:srgbClr val="0B0B0B"/>
                          </a:solidFill>
                          <a:latin typeface="Calibri"/>
                        </a:rPr>
                        <a:t>One-time authentication, not continuous</a:t>
                      </a:r>
                    </a:p>
                  </a:txBody>
                  <a:tcPr anchor="ctr" marL="91440" marR="91440" marT="45720" marB="45720">
                    <a:solidFill>
                      <a:srgbClr val="F0EFEC"/>
                    </a:solidFill>
                  </a:tcPr>
                </a:tc>
              </a:tr>
            </a:tbl>
          </a:graphicData>
        </a:graphic>
      </p:graphicFrame>
      <p:sp>
        <p:nvSpPr>
          <p:cNvPr id="4" name="TextBox 3"/>
          <p:cNvSpPr txBox="1"/>
          <p:nvPr/>
        </p:nvSpPr>
        <p:spPr>
          <a:xfrm>
            <a:off x="502920" y="5806440"/>
            <a:ext cx="11155680" cy="548640"/>
          </a:xfrm>
          <a:prstGeom prst="rect">
            <a:avLst/>
          </a:prstGeom>
          <a:noFill/>
        </p:spPr>
        <p:txBody>
          <a:bodyPr wrap="square">
            <a:spAutoFit/>
          </a:bodyPr>
          <a:lstStyle/>
          <a:p>
            <a:pPr algn="ctr"/>
            <a:r>
              <a:rPr sz="1250" i="0" b="1">
                <a:solidFill>
                  <a:srgbClr val="0B0B0B"/>
                </a:solidFill>
                <a:latin typeface="Calibri"/>
              </a:rPr>
              <a:t>Every row stops at the moment authorization is granted. None re-checks or revokes based on whether the optical link is still there.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The Two Closest Prior-Work Papers</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Both use light for authorization — neither makes it continuous</a:t>
            </a:r>
          </a:p>
        </p:txBody>
      </p:sp>
      <p:graphicFrame>
        <p:nvGraphicFramePr>
          <p:cNvPr id="4" name="Table 3"/>
          <p:cNvGraphicFramePr>
            <a:graphicFrameLocks noGrp="1"/>
          </p:cNvGraphicFramePr>
          <p:nvPr/>
        </p:nvGraphicFramePr>
        <p:xfrm>
          <a:off x="685800" y="1737360"/>
          <a:ext cx="11795760" cy="3474720"/>
        </p:xfrm>
        <a:graphic>
          <a:graphicData uri="http://schemas.openxmlformats.org/drawingml/2006/table">
            <a:tbl>
              <a:tblPr firstRow="1" bandRow="1">
                <a:tableStyleId>{5C22544A-7EE6-4342-B048-85BDC9FD1C3A}</a:tableStyleId>
              </a:tblPr>
              <a:tblGrid>
                <a:gridCol w="2468880"/>
                <a:gridCol w="4023360"/>
                <a:gridCol w="2194560"/>
                <a:gridCol w="3108960"/>
              </a:tblGrid>
              <a:tr h="868680">
                <a:tc>
                  <a:txBody>
                    <a:bodyPr wrap="square"/>
                    <a:lstStyle/>
                    <a:p>
                      <a:pPr algn="l"/>
                      <a:r>
                        <a:rPr sz="1350" b="1">
                          <a:solidFill>
                            <a:srgbClr val="FFFFFF"/>
                          </a:solidFill>
                          <a:latin typeface="Calibri"/>
                        </a:rPr>
                        <a:t>Prior work</a:t>
                      </a:r>
                    </a:p>
                  </a:txBody>
                  <a:tcPr anchor="ctr" marL="91440" marR="91440" marT="45720" marB="45720">
                    <a:solidFill>
                      <a:srgbClr val="0B0B0B"/>
                    </a:solidFill>
                  </a:tcPr>
                </a:tc>
                <a:tc>
                  <a:txBody>
                    <a:bodyPr wrap="square"/>
                    <a:lstStyle/>
                    <a:p>
                      <a:pPr algn="ctr"/>
                      <a:r>
                        <a:rPr sz="1350" b="1">
                          <a:solidFill>
                            <a:srgbClr val="FFFFFF"/>
                          </a:solidFill>
                          <a:latin typeface="Calibri"/>
                        </a:rPr>
                        <a:t>What light does</a:t>
                      </a:r>
                    </a:p>
                  </a:txBody>
                  <a:tcPr anchor="ctr" marL="91440" marR="91440" marT="45720" marB="45720">
                    <a:solidFill>
                      <a:srgbClr val="0B0B0B"/>
                    </a:solidFill>
                  </a:tcPr>
                </a:tc>
                <a:tc>
                  <a:txBody>
                    <a:bodyPr wrap="square"/>
                    <a:lstStyle/>
                    <a:p>
                      <a:pPr algn="ctr"/>
                      <a:r>
                        <a:rPr sz="1350" b="1">
                          <a:solidFill>
                            <a:srgbClr val="FFFFFF"/>
                          </a:solidFill>
                          <a:latin typeface="Calibri"/>
                        </a:rPr>
                        <a:t>When it checks</a:t>
                      </a:r>
                    </a:p>
                  </a:txBody>
                  <a:tcPr anchor="ctr" marL="91440" marR="91440" marT="45720" marB="45720">
                    <a:solidFill>
                      <a:srgbClr val="0B0B0B"/>
                    </a:solidFill>
                  </a:tcPr>
                </a:tc>
                <a:tc>
                  <a:txBody>
                    <a:bodyPr wrap="square"/>
                    <a:lstStyle/>
                    <a:p>
                      <a:pPr algn="ctr"/>
                      <a:r>
                        <a:rPr sz="1350" b="1">
                          <a:solidFill>
                            <a:srgbClr val="FFFFFF"/>
                          </a:solidFill>
                          <a:latin typeface="Calibri"/>
                        </a:rPr>
                        <a:t>When authorization ends</a:t>
                      </a:r>
                    </a:p>
                  </a:txBody>
                  <a:tcPr anchor="ctr" marL="91440" marR="91440" marT="45720" marB="45720">
                    <a:solidFill>
                      <a:srgbClr val="0B0B0B"/>
                    </a:solidFill>
                  </a:tcPr>
                </a:tc>
              </a:tr>
              <a:tr h="868680">
                <a:tc>
                  <a:txBody>
                    <a:bodyPr wrap="square"/>
                    <a:lstStyle/>
                    <a:p>
                      <a:pPr algn="l"/>
                      <a:r>
                        <a:rPr sz="1100" b="0">
                          <a:solidFill>
                            <a:srgbClr val="0B0B0B"/>
                          </a:solidFill>
                          <a:latin typeface="Calibri"/>
                        </a:rPr>
                        <a:t>LISA (Perković et al., 2019)</a:t>
                      </a:r>
                    </a:p>
                  </a:txBody>
                  <a:tcPr anchor="ctr" marL="91440" marR="91440" marT="45720" marB="45720">
                    <a:solidFill>
                      <a:srgbClr val="FFFFFF"/>
                    </a:solidFill>
                  </a:tcPr>
                </a:tc>
                <a:tc>
                  <a:txBody>
                    <a:bodyPr wrap="square"/>
                    <a:lstStyle/>
                    <a:p>
                      <a:pPr algn="ctr"/>
                      <a:r>
                        <a:rPr sz="1100" b="0">
                          <a:solidFill>
                            <a:srgbClr val="0B0B0B"/>
                          </a:solidFill>
                          <a:latin typeface="Calibri"/>
                        </a:rPr>
                        <a:t>Smartphone-screen VLC bootstraps crypto credentials onto a constrained IoT device</a:t>
                      </a:r>
                    </a:p>
                  </a:txBody>
                  <a:tcPr anchor="ctr" marL="91440" marR="91440" marT="45720" marB="45720">
                    <a:solidFill>
                      <a:srgbClr val="FFFFFF"/>
                    </a:solidFill>
                  </a:tcPr>
                </a:tc>
                <a:tc>
                  <a:txBody>
                    <a:bodyPr wrap="square"/>
                    <a:lstStyle/>
                    <a:p>
                      <a:pPr algn="ctr"/>
                      <a:r>
                        <a:rPr sz="1100" b="0">
                          <a:solidFill>
                            <a:srgbClr val="0B0B0B"/>
                          </a:solidFill>
                          <a:latin typeface="Calibri"/>
                        </a:rPr>
                        <a:t>Once — light is a setup-time out-of-band channel</a:t>
                      </a:r>
                    </a:p>
                  </a:txBody>
                  <a:tcPr anchor="ctr" marL="91440" marR="91440" marT="45720" marB="45720">
                    <a:solidFill>
                      <a:srgbClr val="FFFFFF"/>
                    </a:solidFill>
                  </a:tcPr>
                </a:tc>
                <a:tc>
                  <a:txBody>
                    <a:bodyPr wrap="square"/>
                    <a:lstStyle/>
                    <a:p>
                      <a:pPr algn="ctr"/>
                      <a:r>
                        <a:rPr sz="1100" b="0">
                          <a:solidFill>
                            <a:srgbClr val="0B0B0B"/>
                          </a:solidFill>
                          <a:latin typeface="Calibri"/>
                        </a:rPr>
                        <a:t>Credential stands until administratively revoked</a:t>
                      </a:r>
                    </a:p>
                  </a:txBody>
                  <a:tcPr anchor="ctr" marL="91440" marR="91440" marT="45720" marB="45720">
                    <a:solidFill>
                      <a:srgbClr val="FFFFFF"/>
                    </a:solidFill>
                  </a:tcPr>
                </a:tc>
              </a:tr>
              <a:tr h="868680">
                <a:tc>
                  <a:txBody>
                    <a:bodyPr wrap="square"/>
                    <a:lstStyle/>
                    <a:p>
                      <a:pPr algn="l"/>
                      <a:r>
                        <a:rPr sz="1100" b="0">
                          <a:solidFill>
                            <a:srgbClr val="0B0B0B"/>
                          </a:solidFill>
                          <a:latin typeface="Calibri"/>
                        </a:rPr>
                        <a:t>Suduwella, Ranasinghe, de Zoysa (2017)</a:t>
                      </a:r>
                    </a:p>
                  </a:txBody>
                  <a:tcPr anchor="ctr" marL="91440" marR="91440" marT="45720" marB="45720">
                    <a:solidFill>
                      <a:srgbClr val="F0EFEC"/>
                    </a:solidFill>
                  </a:tcPr>
                </a:tc>
                <a:tc>
                  <a:txBody>
                    <a:bodyPr wrap="square"/>
                    <a:lstStyle/>
                    <a:p>
                      <a:pPr algn="ctr"/>
                      <a:r>
                        <a:rPr sz="1100" b="0">
                          <a:solidFill>
                            <a:srgbClr val="0B0B0B"/>
                          </a:solidFill>
                          <a:latin typeface="Calibri"/>
                        </a:rPr>
                        <a:t>VLC proves physical location; grants WiFi network access via modified RADIUS/WPA2</a:t>
                      </a:r>
                    </a:p>
                  </a:txBody>
                  <a:tcPr anchor="ctr" marL="91440" marR="91440" marT="45720" marB="45720">
                    <a:solidFill>
                      <a:srgbClr val="F0EFEC"/>
                    </a:solidFill>
                  </a:tcPr>
                </a:tc>
                <a:tc>
                  <a:txBody>
                    <a:bodyPr wrap="square"/>
                    <a:lstStyle/>
                    <a:p>
                      <a:pPr algn="ctr"/>
                      <a:r>
                        <a:rPr sz="1100" b="0">
                          <a:solidFill>
                            <a:srgbClr val="0B0B0B"/>
                          </a:solidFill>
                          <a:latin typeface="Calibri"/>
                        </a:rPr>
                        <a:t>Once — at network association</a:t>
                      </a:r>
                    </a:p>
                  </a:txBody>
                  <a:tcPr anchor="ctr" marL="91440" marR="91440" marT="45720" marB="45720">
                    <a:solidFill>
                      <a:srgbClr val="F0EFEC"/>
                    </a:solidFill>
                  </a:tcPr>
                </a:tc>
                <a:tc>
                  <a:txBody>
                    <a:bodyPr wrap="square"/>
                    <a:lstStyle/>
                    <a:p>
                      <a:pPr algn="ctr"/>
                      <a:r>
                        <a:rPr sz="1100" b="0">
                          <a:solidFill>
                            <a:srgbClr val="0B0B0B"/>
                          </a:solidFill>
                          <a:latin typeface="Calibri"/>
                        </a:rPr>
                        <a:t>Session stands until normal WiFi session end</a:t>
                      </a:r>
                    </a:p>
                  </a:txBody>
                  <a:tcPr anchor="ctr" marL="91440" marR="91440" marT="45720" marB="45720">
                    <a:solidFill>
                      <a:srgbClr val="F0EFEC"/>
                    </a:solidFill>
                  </a:tcPr>
                </a:tc>
              </a:tr>
              <a:tr h="868680">
                <a:tc>
                  <a:txBody>
                    <a:bodyPr wrap="square"/>
                    <a:lstStyle/>
                    <a:p>
                      <a:pPr algn="l"/>
                      <a:r>
                        <a:rPr sz="1100" b="0">
                          <a:solidFill>
                            <a:srgbClr val="0B0B0B"/>
                          </a:solidFill>
                          <a:latin typeface="Calibri"/>
                        </a:rPr>
                        <a:t>This thesis</a:t>
                      </a:r>
                    </a:p>
                  </a:txBody>
                  <a:tcPr anchor="ctr" marL="91440" marR="91440" marT="45720" marB="45720">
                    <a:solidFill>
                      <a:srgbClr val="EAF3E8"/>
                    </a:solidFill>
                  </a:tcPr>
                </a:tc>
                <a:tc>
                  <a:txBody>
                    <a:bodyPr wrap="square"/>
                    <a:lstStyle/>
                    <a:p>
                      <a:pPr algn="ctr"/>
                      <a:r>
                        <a:rPr sz="1100" b="0">
                          <a:solidFill>
                            <a:srgbClr val="0B0B0B"/>
                          </a:solidFill>
                          <a:latin typeface="Calibri"/>
                        </a:rPr>
                        <a:t>VLC frames are the ongoing authorization signal itself, not a one-time proof</a:t>
                      </a:r>
                    </a:p>
                  </a:txBody>
                  <a:tcPr anchor="ctr" marL="91440" marR="91440" marT="45720" marB="45720">
                    <a:solidFill>
                      <a:srgbClr val="EAF3E8"/>
                    </a:solidFill>
                  </a:tcPr>
                </a:tc>
                <a:tc>
                  <a:txBody>
                    <a:bodyPr wrap="square"/>
                    <a:lstStyle/>
                    <a:p>
                      <a:pPr algn="ctr"/>
                      <a:r>
                        <a:rPr sz="1100" b="0">
                          <a:solidFill>
                            <a:srgbClr val="0B0B0B"/>
                          </a:solidFill>
                          <a:latin typeface="Calibri"/>
                        </a:rPr>
                        <a:t>Continuously — every valid frame within Δ renews it</a:t>
                      </a:r>
                    </a:p>
                  </a:txBody>
                  <a:tcPr anchor="ctr" marL="91440" marR="91440" marT="45720" marB="45720">
                    <a:solidFill>
                      <a:srgbClr val="EAF3E8"/>
                    </a:solidFill>
                  </a:tcPr>
                </a:tc>
                <a:tc>
                  <a:txBody>
                    <a:bodyPr wrap="square"/>
                    <a:lstStyle/>
                    <a:p>
                      <a:pPr algn="ctr"/>
                      <a:r>
                        <a:rPr sz="1100" b="0">
                          <a:solidFill>
                            <a:srgbClr val="0B0B0B"/>
                          </a:solidFill>
                          <a:latin typeface="Calibri"/>
                        </a:rPr>
                        <a:t>Automatic revocation on signal loss (G4)</a:t>
                      </a:r>
                    </a:p>
                  </a:txBody>
                  <a:tcPr anchor="ctr" marL="91440" marR="91440" marT="45720" marB="45720">
                    <a:solidFill>
                      <a:srgbClr val="EAF3E8"/>
                    </a:solidFill>
                  </a:tcPr>
                </a:tc>
              </a:tr>
            </a:tbl>
          </a:graphicData>
        </a:graphic>
      </p:graphicFrame>
      <p:sp>
        <p:nvSpPr>
          <p:cNvPr id="5" name="TextBox 4"/>
          <p:cNvSpPr txBox="1"/>
          <p:nvPr/>
        </p:nvSpPr>
        <p:spPr>
          <a:xfrm>
            <a:off x="502920" y="5577840"/>
            <a:ext cx="11155680" cy="548640"/>
          </a:xfrm>
          <a:prstGeom prst="rect">
            <a:avLst/>
          </a:prstGeom>
          <a:noFill/>
        </p:spPr>
        <p:txBody>
          <a:bodyPr wrap="square">
            <a:spAutoFit/>
          </a:bodyPr>
          <a:lstStyle/>
          <a:p>
            <a:pPr algn="ctr"/>
            <a:r>
              <a:rPr sz="1250" i="0" b="1">
                <a:solidFill>
                  <a:srgbClr val="0B0B0B"/>
                </a:solidFill>
                <a:latin typeface="Calibri"/>
              </a:rPr>
              <a:t>Both prior papers answer ‘were you here at one moment?’ This thesis answers ‘are you here right now?’ — and keeps re-answering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Anatomy of a LiFi Frame — What's Actually Sent</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Vocabulary for the G1/G2/G4 mechanisms on the following slides</a:t>
            </a:r>
          </a:p>
        </p:txBody>
      </p:sp>
      <p:graphicFrame>
        <p:nvGraphicFramePr>
          <p:cNvPr id="4" name="Table 3"/>
          <p:cNvGraphicFramePr>
            <a:graphicFrameLocks noGrp="1"/>
          </p:cNvGraphicFramePr>
          <p:nvPr/>
        </p:nvGraphicFramePr>
        <p:xfrm>
          <a:off x="685800" y="1691640"/>
          <a:ext cx="10789920" cy="3566160"/>
        </p:xfrm>
        <a:graphic>
          <a:graphicData uri="http://schemas.openxmlformats.org/drawingml/2006/table">
            <a:tbl>
              <a:tblPr firstRow="1" bandRow="1">
                <a:tableStyleId>{5C22544A-7EE6-4342-B048-85BDC9FD1C3A}</a:tableStyleId>
              </a:tblPr>
              <a:tblGrid>
                <a:gridCol w="2103120"/>
                <a:gridCol w="1280160"/>
                <a:gridCol w="7406640"/>
              </a:tblGrid>
              <a:tr h="445770">
                <a:tc>
                  <a:txBody>
                    <a:bodyPr wrap="square"/>
                    <a:lstStyle/>
                    <a:p>
                      <a:pPr algn="l"/>
                      <a:r>
                        <a:rPr sz="1350" b="1">
                          <a:solidFill>
                            <a:srgbClr val="FFFFFF"/>
                          </a:solidFill>
                          <a:latin typeface="Calibri"/>
                        </a:rPr>
                        <a:t>Field</a:t>
                      </a:r>
                    </a:p>
                  </a:txBody>
                  <a:tcPr anchor="ctr" marL="91440" marR="91440" marT="45720" marB="45720">
                    <a:solidFill>
                      <a:srgbClr val="0B0B0B"/>
                    </a:solidFill>
                  </a:tcPr>
                </a:tc>
                <a:tc>
                  <a:txBody>
                    <a:bodyPr wrap="square"/>
                    <a:lstStyle/>
                    <a:p>
                      <a:pPr algn="ctr"/>
                      <a:r>
                        <a:rPr sz="1350" b="1">
                          <a:solidFill>
                            <a:srgbClr val="FFFFFF"/>
                          </a:solidFill>
                          <a:latin typeface="Calibri"/>
                        </a:rPr>
                        <a:t>Size</a:t>
                      </a:r>
                    </a:p>
                  </a:txBody>
                  <a:tcPr anchor="ctr" marL="91440" marR="91440" marT="45720" marB="45720">
                    <a:solidFill>
                      <a:srgbClr val="0B0B0B"/>
                    </a:solidFill>
                  </a:tcPr>
                </a:tc>
                <a:tc>
                  <a:txBody>
                    <a:bodyPr wrap="square"/>
                    <a:lstStyle/>
                    <a:p>
                      <a:pPr algn="ctr"/>
                      <a:r>
                        <a:rPr sz="1350" b="1">
                          <a:solidFill>
                            <a:srgbClr val="FFFFFF"/>
                          </a:solidFill>
                          <a:latin typeface="Calibri"/>
                        </a:rPr>
                        <a:t>What it's for</a:t>
                      </a:r>
                    </a:p>
                  </a:txBody>
                  <a:tcPr anchor="ctr" marL="91440" marR="91440" marT="45720" marB="45720">
                    <a:solidFill>
                      <a:srgbClr val="0B0B0B"/>
                    </a:solidFill>
                  </a:tcPr>
                </a:tc>
              </a:tr>
              <a:tr h="445770">
                <a:tc>
                  <a:txBody>
                    <a:bodyPr wrap="square"/>
                    <a:lstStyle/>
                    <a:p>
                      <a:pPr algn="l"/>
                      <a:r>
                        <a:rPr sz="1150" b="0">
                          <a:solidFill>
                            <a:srgbClr val="0B0B0B"/>
                          </a:solidFill>
                          <a:latin typeface="Calibri"/>
                        </a:rPr>
                        <a:t>Preamble</a:t>
                      </a:r>
                    </a:p>
                  </a:txBody>
                  <a:tcPr anchor="ctr" marL="91440" marR="91440" marT="45720" marB="45720">
                    <a:solidFill>
                      <a:srgbClr val="FFFFFF"/>
                    </a:solidFill>
                  </a:tcPr>
                </a:tc>
                <a:tc>
                  <a:txBody>
                    <a:bodyPr wrap="square"/>
                    <a:lstStyle/>
                    <a:p>
                      <a:pPr algn="ctr"/>
                      <a:r>
                        <a:rPr sz="1150" b="0">
                          <a:solidFill>
                            <a:srgbClr val="0B0B0B"/>
                          </a:solidFill>
                          <a:latin typeface="Calibri"/>
                        </a:rPr>
                        <a:t>4 B</a:t>
                      </a:r>
                    </a:p>
                  </a:txBody>
                  <a:tcPr anchor="ctr" marL="91440" marR="91440" marT="45720" marB="45720">
                    <a:solidFill>
                      <a:srgbClr val="FFFFFF"/>
                    </a:solidFill>
                  </a:tcPr>
                </a:tc>
                <a:tc>
                  <a:txBody>
                    <a:bodyPr wrap="square"/>
                    <a:lstStyle/>
                    <a:p>
                      <a:pPr algn="ctr"/>
                      <a:r>
                        <a:rPr sz="1150" b="0">
                          <a:solidFill>
                            <a:srgbClr val="0B0B0B"/>
                          </a:solidFill>
                          <a:latin typeface="Calibri"/>
                        </a:rPr>
                        <a:t>0xAB 0xCD 0xEF 0x12 — fixed sync marker; any byte mismatch during matching resets the receiver's detector to its hunting state</a:t>
                      </a:r>
                    </a:p>
                  </a:txBody>
                  <a:tcPr anchor="ctr" marL="91440" marR="91440" marT="45720" marB="45720">
                    <a:solidFill>
                      <a:srgbClr val="FFFFFF"/>
                    </a:solidFill>
                  </a:tcPr>
                </a:tc>
              </a:tr>
              <a:tr h="445770">
                <a:tc>
                  <a:txBody>
                    <a:bodyPr wrap="square"/>
                    <a:lstStyle/>
                    <a:p>
                      <a:pPr algn="l"/>
                      <a:r>
                        <a:rPr sz="1150" b="0">
                          <a:solidFill>
                            <a:srgbClr val="0B0B0B"/>
                          </a:solidFill>
                          <a:latin typeface="Calibri"/>
                        </a:rPr>
                        <a:t>Type</a:t>
                      </a:r>
                    </a:p>
                  </a:txBody>
                  <a:tcPr anchor="ctr" marL="91440" marR="91440" marT="45720" marB="45720">
                    <a:solidFill>
                      <a:srgbClr val="F0EFEC"/>
                    </a:solidFill>
                  </a:tcPr>
                </a:tc>
                <a:tc>
                  <a:txBody>
                    <a:bodyPr wrap="square"/>
                    <a:lstStyle/>
                    <a:p>
                      <a:pPr algn="ctr"/>
                      <a:r>
                        <a:rPr sz="1150" b="0">
                          <a:solidFill>
                            <a:srgbClr val="0B0B0B"/>
                          </a:solidFill>
                          <a:latin typeface="Calibri"/>
                        </a:rPr>
                        <a:t>1 B</a:t>
                      </a:r>
                    </a:p>
                  </a:txBody>
                  <a:tcPr anchor="ctr" marL="91440" marR="91440" marT="45720" marB="45720">
                    <a:solidFill>
                      <a:srgbClr val="F0EFEC"/>
                    </a:solidFill>
                  </a:tcPr>
                </a:tc>
                <a:tc>
                  <a:txBody>
                    <a:bodyPr wrap="square"/>
                    <a:lstStyle/>
                    <a:p>
                      <a:pPr algn="ctr"/>
                      <a:r>
                        <a:rPr sz="1150" b="0">
                          <a:solidFill>
                            <a:srgbClr val="0B0B0B"/>
                          </a:solidFill>
                          <a:latin typeface="Calibri"/>
                        </a:rPr>
                        <a:t>Message type identifier</a:t>
                      </a:r>
                    </a:p>
                  </a:txBody>
                  <a:tcPr anchor="ctr" marL="91440" marR="91440" marT="45720" marB="45720">
                    <a:solidFill>
                      <a:srgbClr val="F0EFEC"/>
                    </a:solidFill>
                  </a:tcPr>
                </a:tc>
              </a:tr>
              <a:tr h="445770">
                <a:tc>
                  <a:txBody>
                    <a:bodyPr wrap="square"/>
                    <a:lstStyle/>
                    <a:p>
                      <a:pPr algn="l"/>
                      <a:r>
                        <a:rPr sz="1150" b="0">
                          <a:solidFill>
                            <a:srgbClr val="0B0B0B"/>
                          </a:solidFill>
                          <a:latin typeface="Calibri"/>
                        </a:rPr>
                        <a:t>Length</a:t>
                      </a:r>
                    </a:p>
                  </a:txBody>
                  <a:tcPr anchor="ctr" marL="91440" marR="91440" marT="45720" marB="45720">
                    <a:solidFill>
                      <a:srgbClr val="FFFFFF"/>
                    </a:solidFill>
                  </a:tcPr>
                </a:tc>
                <a:tc>
                  <a:txBody>
                    <a:bodyPr wrap="square"/>
                    <a:lstStyle/>
                    <a:p>
                      <a:pPr algn="ctr"/>
                      <a:r>
                        <a:rPr sz="1150" b="0">
                          <a:solidFill>
                            <a:srgbClr val="0B0B0B"/>
                          </a:solidFill>
                          <a:latin typeface="Calibri"/>
                        </a:rPr>
                        <a:t>2 B</a:t>
                      </a:r>
                    </a:p>
                  </a:txBody>
                  <a:tcPr anchor="ctr" marL="91440" marR="91440" marT="45720" marB="45720">
                    <a:solidFill>
                      <a:srgbClr val="FFFFFF"/>
                    </a:solidFill>
                  </a:tcPr>
                </a:tc>
                <a:tc>
                  <a:txBody>
                    <a:bodyPr wrap="square"/>
                    <a:lstStyle/>
                    <a:p>
                      <a:pPr algn="ctr"/>
                      <a:r>
                        <a:rPr sz="1150" b="0">
                          <a:solidFill>
                            <a:srgbClr val="0B0B0B"/>
                          </a:solidFill>
                          <a:latin typeface="Calibri"/>
                        </a:rPr>
                        <a:t>Ciphertext length N, so the receiver knows where the tag/CRC begin</a:t>
                      </a:r>
                    </a:p>
                  </a:txBody>
                  <a:tcPr anchor="ctr" marL="91440" marR="91440" marT="45720" marB="45720">
                    <a:solidFill>
                      <a:srgbClr val="FFFFFF"/>
                    </a:solidFill>
                  </a:tcPr>
                </a:tc>
              </a:tr>
              <a:tr h="445770">
                <a:tc>
                  <a:txBody>
                    <a:bodyPr wrap="square"/>
                    <a:lstStyle/>
                    <a:p>
                      <a:pPr algn="l"/>
                      <a:r>
                        <a:rPr sz="1150" b="0">
                          <a:solidFill>
                            <a:srgbClr val="0B0B0B"/>
                          </a:solidFill>
                          <a:latin typeface="Calibri"/>
                        </a:rPr>
                        <a:t>Nonce</a:t>
                      </a:r>
                    </a:p>
                  </a:txBody>
                  <a:tcPr anchor="ctr" marL="91440" marR="91440" marT="45720" marB="45720">
                    <a:solidFill>
                      <a:srgbClr val="F0EFEC"/>
                    </a:solidFill>
                  </a:tcPr>
                </a:tc>
                <a:tc>
                  <a:txBody>
                    <a:bodyPr wrap="square"/>
                    <a:lstStyle/>
                    <a:p>
                      <a:pPr algn="ctr"/>
                      <a:r>
                        <a:rPr sz="1150" b="0">
                          <a:solidFill>
                            <a:srgbClr val="0B0B0B"/>
                          </a:solidFill>
                          <a:latin typeface="Calibri"/>
                        </a:rPr>
                        <a:t>12 B</a:t>
                      </a:r>
                    </a:p>
                  </a:txBody>
                  <a:tcPr anchor="ctr" marL="91440" marR="91440" marT="45720" marB="45720">
                    <a:solidFill>
                      <a:srgbClr val="F0EFEC"/>
                    </a:solidFill>
                  </a:tcPr>
                </a:tc>
                <a:tc>
                  <a:txBody>
                    <a:bodyPr wrap="square"/>
                    <a:lstStyle/>
                    <a:p>
                      <a:pPr algn="ctr"/>
                      <a:r>
                        <a:rPr sz="1150" b="0">
                          <a:solidFill>
                            <a:srgbClr val="0B0B0B"/>
                          </a:solidFill>
                          <a:latin typeface="Calibri"/>
                        </a:rPr>
                        <a:t>8 B random boot salt + 4 B monotonic counter — this is what G2's replay window checks</a:t>
                      </a:r>
                    </a:p>
                  </a:txBody>
                  <a:tcPr anchor="ctr" marL="91440" marR="91440" marT="45720" marB="45720">
                    <a:solidFill>
                      <a:srgbClr val="F0EFEC"/>
                    </a:solidFill>
                  </a:tcPr>
                </a:tc>
              </a:tr>
              <a:tr h="445770">
                <a:tc>
                  <a:txBody>
                    <a:bodyPr wrap="square"/>
                    <a:lstStyle/>
                    <a:p>
                      <a:pPr algn="l"/>
                      <a:r>
                        <a:rPr sz="1150" b="0">
                          <a:solidFill>
                            <a:srgbClr val="0B0B0B"/>
                          </a:solidFill>
                          <a:latin typeface="Calibri"/>
                        </a:rPr>
                        <a:t>Ciphertext</a:t>
                      </a:r>
                    </a:p>
                  </a:txBody>
                  <a:tcPr anchor="ctr" marL="91440" marR="91440" marT="45720" marB="45720">
                    <a:solidFill>
                      <a:srgbClr val="FFFFFF"/>
                    </a:solidFill>
                  </a:tcPr>
                </a:tc>
                <a:tc>
                  <a:txBody>
                    <a:bodyPr wrap="square"/>
                    <a:lstStyle/>
                    <a:p>
                      <a:pPr algn="ctr"/>
                      <a:r>
                        <a:rPr sz="1150" b="0">
                          <a:solidFill>
                            <a:srgbClr val="0B0B0B"/>
                          </a:solidFill>
                          <a:latin typeface="Calibri"/>
                        </a:rPr>
                        <a:t>N B</a:t>
                      </a:r>
                    </a:p>
                  </a:txBody>
                  <a:tcPr anchor="ctr" marL="91440" marR="91440" marT="45720" marB="45720">
                    <a:solidFill>
                      <a:srgbClr val="FFFFFF"/>
                    </a:solidFill>
                  </a:tcPr>
                </a:tc>
                <a:tc>
                  <a:txBody>
                    <a:bodyPr wrap="square"/>
                    <a:lstStyle/>
                    <a:p>
                      <a:pPr algn="ctr"/>
                      <a:r>
                        <a:rPr sz="1150" b="0">
                          <a:solidFill>
                            <a:srgbClr val="0B0B0B"/>
                          </a:solidFill>
                          <a:latin typeface="Calibri"/>
                        </a:rPr>
                        <a:t>AES-128-GCM output, same length as the plaintext payload</a:t>
                      </a:r>
                    </a:p>
                  </a:txBody>
                  <a:tcPr anchor="ctr" marL="91440" marR="91440" marT="45720" marB="45720">
                    <a:solidFill>
                      <a:srgbClr val="FFFFFF"/>
                    </a:solidFill>
                  </a:tcPr>
                </a:tc>
              </a:tr>
              <a:tr h="445770">
                <a:tc>
                  <a:txBody>
                    <a:bodyPr wrap="square"/>
                    <a:lstStyle/>
                    <a:p>
                      <a:pPr algn="l"/>
                      <a:r>
                        <a:rPr sz="1150" b="0">
                          <a:solidFill>
                            <a:srgbClr val="0B0B0B"/>
                          </a:solidFill>
                          <a:latin typeface="Calibri"/>
                        </a:rPr>
                        <a:t>GCM Tag</a:t>
                      </a:r>
                    </a:p>
                  </a:txBody>
                  <a:tcPr anchor="ctr" marL="91440" marR="91440" marT="45720" marB="45720">
                    <a:solidFill>
                      <a:srgbClr val="F0EFEC"/>
                    </a:solidFill>
                  </a:tcPr>
                </a:tc>
                <a:tc>
                  <a:txBody>
                    <a:bodyPr wrap="square"/>
                    <a:lstStyle/>
                    <a:p>
                      <a:pPr algn="ctr"/>
                      <a:r>
                        <a:rPr sz="1150" b="0">
                          <a:solidFill>
                            <a:srgbClr val="0B0B0B"/>
                          </a:solidFill>
                          <a:latin typeface="Calibri"/>
                        </a:rPr>
                        <a:t>16 B</a:t>
                      </a:r>
                    </a:p>
                  </a:txBody>
                  <a:tcPr anchor="ctr" marL="91440" marR="91440" marT="45720" marB="45720">
                    <a:solidFill>
                      <a:srgbClr val="F0EFEC"/>
                    </a:solidFill>
                  </a:tcPr>
                </a:tc>
                <a:tc>
                  <a:txBody>
                    <a:bodyPr wrap="square"/>
                    <a:lstStyle/>
                    <a:p>
                      <a:pPr algn="ctr"/>
                      <a:r>
                        <a:rPr sz="1150" b="0">
                          <a:solidFill>
                            <a:srgbClr val="0B0B0B"/>
                          </a:solidFill>
                          <a:latin typeface="Calibri"/>
                        </a:rPr>
                        <a:t>Authentication tag — verified before any plaintext is ever released</a:t>
                      </a:r>
                    </a:p>
                  </a:txBody>
                  <a:tcPr anchor="ctr" marL="91440" marR="91440" marT="45720" marB="45720">
                    <a:solidFill>
                      <a:srgbClr val="F0EFEC"/>
                    </a:solidFill>
                  </a:tcPr>
                </a:tc>
              </a:tr>
              <a:tr h="445770">
                <a:tc>
                  <a:txBody>
                    <a:bodyPr wrap="square"/>
                    <a:lstStyle/>
                    <a:p>
                      <a:pPr algn="l"/>
                      <a:r>
                        <a:rPr sz="1150" b="0">
                          <a:solidFill>
                            <a:srgbClr val="0B0B0B"/>
                          </a:solidFill>
                          <a:latin typeface="Calibri"/>
                        </a:rPr>
                        <a:t>CRC16</a:t>
                      </a:r>
                    </a:p>
                  </a:txBody>
                  <a:tcPr anchor="ctr" marL="91440" marR="91440" marT="45720" marB="45720">
                    <a:solidFill>
                      <a:srgbClr val="FFFFFF"/>
                    </a:solidFill>
                  </a:tcPr>
                </a:tc>
                <a:tc>
                  <a:txBody>
                    <a:bodyPr wrap="square"/>
                    <a:lstStyle/>
                    <a:p>
                      <a:pPr algn="ctr"/>
                      <a:r>
                        <a:rPr sz="1150" b="0">
                          <a:solidFill>
                            <a:srgbClr val="0B0B0B"/>
                          </a:solidFill>
                          <a:latin typeface="Calibri"/>
                        </a:rPr>
                        <a:t>2 B</a:t>
                      </a:r>
                    </a:p>
                  </a:txBody>
                  <a:tcPr anchor="ctr" marL="91440" marR="91440" marT="45720" marB="45720">
                    <a:solidFill>
                      <a:srgbClr val="FFFFFF"/>
                    </a:solidFill>
                  </a:tcPr>
                </a:tc>
                <a:tc>
                  <a:txBody>
                    <a:bodyPr wrap="square"/>
                    <a:lstStyle/>
                    <a:p>
                      <a:pPr algn="ctr"/>
                      <a:r>
                        <a:rPr sz="1150" b="0">
                          <a:solidFill>
                            <a:srgbClr val="0B0B0B"/>
                          </a:solidFill>
                          <a:latin typeface="Calibri"/>
                        </a:rPr>
                        <a:t>CRC16-CCITT, poly 0x1021, init 0xFFFF — cheap integrity check ahead of GCM</a:t>
                      </a:r>
                    </a:p>
                  </a:txBody>
                  <a:tcPr anchor="ctr" marL="91440" marR="91440" marT="45720" marB="45720">
                    <a:solidFill>
                      <a:srgbClr val="FFFFFF"/>
                    </a:solidFill>
                  </a:tcPr>
                </a:tc>
              </a:tr>
            </a:tbl>
          </a:graphicData>
        </a:graphic>
      </p:graphicFrame>
      <p:sp>
        <p:nvSpPr>
          <p:cNvPr id="5" name="TextBox 4"/>
          <p:cNvSpPr txBox="1"/>
          <p:nvPr/>
        </p:nvSpPr>
        <p:spPr>
          <a:xfrm>
            <a:off x="685800" y="5440680"/>
            <a:ext cx="10789920" cy="4572000"/>
          </a:xfrm>
          <a:prstGeom prst="rect">
            <a:avLst/>
          </a:prstGeom>
          <a:noFill/>
        </p:spPr>
        <p:txBody>
          <a:bodyPr wrap="square">
            <a:spAutoFit/>
          </a:bodyPr>
          <a:lstStyle/>
          <a:p>
            <a:pPr>
              <a:spcAft>
                <a:spcPts val="600"/>
              </a:spcAft>
            </a:pPr>
            <a:r>
              <a:rPr sz="1300">
                <a:solidFill>
                  <a:srgbClr val="0B0B0B"/>
                </a:solidFill>
                <a:latin typeface="Calibri"/>
              </a:rPr>
              <a:t>●   Built in three steps before transmission: (1) AES-128-GCM encrypt with the active session key → ciphertext + tag, (2) construct the 12 B nonce (salt ‖ counter), (3) wrap with preamble/type/length in front and tag/CRC16 behind.</a:t>
            </a:r>
          </a:p>
          <a:p>
            <a:pPr>
              <a:spcAft>
                <a:spcPts val="600"/>
              </a:spcAft>
            </a:pPr>
            <a:r>
              <a:rPr sz="1300">
                <a:solidFill>
                  <a:srgbClr val="0B0B0B"/>
                </a:solidFill>
                <a:latin typeface="Calibri"/>
              </a:rPr>
              <a:t>●   Fixed 37 B of overhead per frame (4+1+2+12+16+2), independent of payload size N.</a:t>
            </a:r>
          </a:p>
        </p:txBody>
      </p:sp>
      <p:sp>
        <p:nvSpPr>
          <p:cNvPr id="6" name="TextBox 5"/>
          <p:cNvSpPr txBox="1"/>
          <p:nvPr/>
        </p:nvSpPr>
        <p:spPr>
          <a:xfrm>
            <a:off x="502920" y="6355080"/>
            <a:ext cx="11155680" cy="548640"/>
          </a:xfrm>
          <a:prstGeom prst="rect">
            <a:avLst/>
          </a:prstGeom>
          <a:noFill/>
        </p:spPr>
        <p:txBody>
          <a:bodyPr wrap="square">
            <a:spAutoFit/>
          </a:bodyPr>
          <a:lstStyle/>
          <a:p>
            <a:pPr algn="ctr"/>
            <a:r>
              <a:rPr sz="1250" i="0" b="1">
                <a:solidFill>
                  <a:srgbClr val="0B0B0B"/>
                </a:solidFill>
                <a:latin typeface="Calibri"/>
              </a:rPr>
              <a:t>Preamble hunting → nonce replay check → GCM tag verification, strictly in that order — a duplicate nonce is rejected before decryption is ever attempted.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What Touches the SST C API — And What Doesn't</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For the Pico sender / Pico 2 receiver pair specifically: only one binary in the chain links libsst</a:t>
            </a:r>
          </a:p>
        </p:txBody>
      </p:sp>
      <p:graphicFrame>
        <p:nvGraphicFramePr>
          <p:cNvPr id="4" name="Table 3"/>
          <p:cNvGraphicFramePr>
            <a:graphicFrameLocks noGrp="1"/>
          </p:cNvGraphicFramePr>
          <p:nvPr/>
        </p:nvGraphicFramePr>
        <p:xfrm>
          <a:off x="685800" y="1691640"/>
          <a:ext cx="10972799" cy="3566160"/>
        </p:xfrm>
        <a:graphic>
          <a:graphicData uri="http://schemas.openxmlformats.org/drawingml/2006/table">
            <a:tbl>
              <a:tblPr firstRow="1" bandRow="1">
                <a:tableStyleId>{5C22544A-7EE6-4342-B048-85BDC9FD1C3A}</a:tableStyleId>
              </a:tblPr>
              <a:tblGrid>
                <a:gridCol w="2468880"/>
                <a:gridCol w="1554480"/>
                <a:gridCol w="3200400"/>
                <a:gridCol w="3749039"/>
              </a:tblGrid>
              <a:tr h="713232">
                <a:tc>
                  <a:txBody>
                    <a:bodyPr wrap="square"/>
                    <a:lstStyle/>
                    <a:p>
                      <a:pPr algn="l"/>
                      <a:r>
                        <a:rPr sz="1350" b="1">
                          <a:solidFill>
                            <a:srgbClr val="FFFFFF"/>
                          </a:solidFill>
                          <a:latin typeface="Calibri"/>
                        </a:rPr>
                        <a:t>Component</a:t>
                      </a:r>
                    </a:p>
                  </a:txBody>
                  <a:tcPr anchor="ctr" marL="91440" marR="91440" marT="45720" marB="45720">
                    <a:solidFill>
                      <a:srgbClr val="0B0B0B"/>
                    </a:solidFill>
                  </a:tcPr>
                </a:tc>
                <a:tc>
                  <a:txBody>
                    <a:bodyPr wrap="square"/>
                    <a:lstStyle/>
                    <a:p>
                      <a:pPr algn="ctr"/>
                      <a:r>
                        <a:rPr sz="1350" b="1">
                          <a:solidFill>
                            <a:srgbClr val="FFFFFF"/>
                          </a:solidFill>
                          <a:latin typeface="Calibri"/>
                        </a:rPr>
                        <a:t>Runs on</a:t>
                      </a:r>
                    </a:p>
                  </a:txBody>
                  <a:tcPr anchor="ctr" marL="91440" marR="91440" marT="45720" marB="45720">
                    <a:solidFill>
                      <a:srgbClr val="0B0B0B"/>
                    </a:solidFill>
                  </a:tcPr>
                </a:tc>
                <a:tc>
                  <a:txBody>
                    <a:bodyPr wrap="square"/>
                    <a:lstStyle/>
                    <a:p>
                      <a:pPr algn="ctr"/>
                      <a:r>
                        <a:rPr sz="1350" b="1">
                          <a:solidFill>
                            <a:srgbClr val="FFFFFF"/>
                          </a:solidFill>
                          <a:latin typeface="Calibri"/>
                        </a:rPr>
                        <a:t>SST C API calls</a:t>
                      </a:r>
                    </a:p>
                  </a:txBody>
                  <a:tcPr anchor="ctr" marL="91440" marR="91440" marT="45720" marB="45720">
                    <a:solidFill>
                      <a:srgbClr val="0B0B0B"/>
                    </a:solidFill>
                  </a:tcPr>
                </a:tc>
                <a:tc>
                  <a:txBody>
                    <a:bodyPr wrap="square"/>
                    <a:lstStyle/>
                    <a:p>
                      <a:pPr algn="ctr"/>
                      <a:r>
                        <a:rPr sz="1350" b="1">
                          <a:solidFill>
                            <a:srgbClr val="FFFFFF"/>
                          </a:solidFill>
                          <a:latin typeface="Calibri"/>
                        </a:rPr>
                        <a:t>Role</a:t>
                      </a:r>
                    </a:p>
                  </a:txBody>
                  <a:tcPr anchor="ctr" marL="91440" marR="91440" marT="45720" marB="45720">
                    <a:solidFill>
                      <a:srgbClr val="0B0B0B"/>
                    </a:solidFill>
                  </a:tcPr>
                </a:tc>
              </a:tr>
              <a:tr h="713232">
                <a:tc>
                  <a:txBody>
                    <a:bodyPr wrap="square"/>
                    <a:lstStyle/>
                    <a:p>
                      <a:pPr algn="l"/>
                      <a:r>
                        <a:rPr sz="1050" b="0">
                          <a:solidFill>
                            <a:srgbClr val="0B0B0B"/>
                          </a:solidFill>
                          <a:latin typeface="Calibri"/>
                        </a:rPr>
                        <a:t>app.py (dashboard)</a:t>
                      </a:r>
                    </a:p>
                  </a:txBody>
                  <a:tcPr anchor="ctr" marL="91440" marR="91440" marT="45720" marB="45720">
                    <a:solidFill>
                      <a:srgbClr val="FFFFFF"/>
                    </a:solidFill>
                  </a:tcPr>
                </a:tc>
                <a:tc>
                  <a:txBody>
                    <a:bodyPr wrap="square"/>
                    <a:lstStyle/>
                    <a:p>
                      <a:pPr algn="ctr"/>
                      <a:r>
                        <a:rPr sz="1050" b="0">
                          <a:solidFill>
                            <a:srgbClr val="0B0B0B"/>
                          </a:solidFill>
                          <a:latin typeface="Calibri"/>
                        </a:rPr>
                        <a:t>Python, laptop</a:t>
                      </a:r>
                    </a:p>
                  </a:txBody>
                  <a:tcPr anchor="ctr" marL="91440" marR="91440" marT="45720" marB="45720">
                    <a:solidFill>
                      <a:srgbClr val="FFFFFF"/>
                    </a:solidFill>
                  </a:tcPr>
                </a:tc>
                <a:tc>
                  <a:txBody>
                    <a:bodyPr wrap="square"/>
                    <a:lstStyle/>
                    <a:p>
                      <a:pPr algn="ctr"/>
                      <a:r>
                        <a:rPr sz="1050" b="0">
                          <a:solidFill>
                            <a:srgbClr val="0B0B0B"/>
                          </a:solidFill>
                          <a:latin typeface="Calibri"/>
                        </a:rPr>
                        <a:t>None</a:t>
                      </a:r>
                    </a:p>
                  </a:txBody>
                  <a:tcPr anchor="ctr" marL="91440" marR="91440" marT="45720" marB="45720">
                    <a:solidFill>
                      <a:srgbClr val="FFFFFF"/>
                    </a:solidFill>
                  </a:tcPr>
                </a:tc>
                <a:tc>
                  <a:txBody>
                    <a:bodyPr wrap="square"/>
                    <a:lstStyle/>
                    <a:p>
                      <a:pPr algn="ctr"/>
                      <a:r>
                        <a:rPr sz="1050" b="0">
                          <a:solidFill>
                            <a:srgbClr val="0B0B0B"/>
                          </a:solidFill>
                          <a:latin typeface="Calibri"/>
                        </a:rPr>
                        <a:t>‘NEW KEY’ button → subprocess.run([pico_provisioner, rx_config, port]) — orchestrates, never calls SST itself</a:t>
                      </a:r>
                    </a:p>
                  </a:txBody>
                  <a:tcPr anchor="ctr" marL="91440" marR="91440" marT="45720" marB="45720">
                    <a:solidFill>
                      <a:srgbClr val="FFFFFF"/>
                    </a:solidFill>
                  </a:tcPr>
                </a:tc>
              </a:tr>
              <a:tr h="713232">
                <a:tc>
                  <a:txBody>
                    <a:bodyPr wrap="square"/>
                    <a:lstStyle/>
                    <a:p>
                      <a:pPr algn="l"/>
                      <a:r>
                        <a:rPr sz="1050" b="0">
                          <a:solidFill>
                            <a:srgbClr val="0B0B0B"/>
                          </a:solidFill>
                          <a:latin typeface="Calibri"/>
                        </a:rPr>
                        <a:t>pico_provisioner.c (host)</a:t>
                      </a:r>
                    </a:p>
                  </a:txBody>
                  <a:tcPr anchor="ctr" marL="91440" marR="91440" marT="45720" marB="45720">
                    <a:solidFill>
                      <a:srgbClr val="EAF3E8"/>
                    </a:solidFill>
                  </a:tcPr>
                </a:tc>
                <a:tc>
                  <a:txBody>
                    <a:bodyPr wrap="square"/>
                    <a:lstStyle/>
                    <a:p>
                      <a:pPr algn="ctr"/>
                      <a:r>
                        <a:rPr sz="1050" b="0">
                          <a:solidFill>
                            <a:srgbClr val="0B0B0B"/>
                          </a:solidFill>
                          <a:latin typeface="Calibri"/>
                        </a:rPr>
                        <a:t>C, laptop</a:t>
                      </a:r>
                    </a:p>
                  </a:txBody>
                  <a:tcPr anchor="ctr" marL="91440" marR="91440" marT="45720" marB="45720">
                    <a:solidFill>
                      <a:srgbClr val="EAF3E8"/>
                    </a:solidFill>
                  </a:tcPr>
                </a:tc>
                <a:tc>
                  <a:txBody>
                    <a:bodyPr wrap="square"/>
                    <a:lstStyle/>
                    <a:p>
                      <a:pPr algn="ctr"/>
                      <a:r>
                        <a:rPr sz="1050" b="0">
                          <a:solidFill>
                            <a:srgbClr val="0B0B0B"/>
                          </a:solidFill>
                          <a:latin typeface="Calibri"/>
                        </a:rPr>
                        <a:t>init_SST · get_session_key · free_session_key_list_t · free_SST_ctx_t</a:t>
                      </a:r>
                    </a:p>
                  </a:txBody>
                  <a:tcPr anchor="ctr" marL="91440" marR="91440" marT="45720" marB="45720">
                    <a:solidFill>
                      <a:srgbClr val="EAF3E8"/>
                    </a:solidFill>
                  </a:tcPr>
                </a:tc>
                <a:tc>
                  <a:txBody>
                    <a:bodyPr wrap="square"/>
                    <a:lstStyle/>
                    <a:p>
                      <a:pPr algn="ctr"/>
                      <a:r>
                        <a:rPr sz="1050" b="0">
                          <a:solidFill>
                            <a:srgbClr val="0B0B0B"/>
                          </a:solidFill>
                          <a:latin typeface="Calibri"/>
                        </a:rPr>
                        <a:t>The only SST C API caller in this whole chain — authenticates to Auth, fetches the session key, then exits</a:t>
                      </a:r>
                    </a:p>
                  </a:txBody>
                  <a:tcPr anchor="ctr" marL="91440" marR="91440" marT="45720" marB="45720">
                    <a:solidFill>
                      <a:srgbClr val="EAF3E8"/>
                    </a:solidFill>
                  </a:tcPr>
                </a:tc>
              </a:tr>
              <a:tr h="713232">
                <a:tc>
                  <a:txBody>
                    <a:bodyPr wrap="square"/>
                    <a:lstStyle/>
                    <a:p>
                      <a:pPr algn="l"/>
                      <a:r>
                        <a:rPr sz="1050" b="0">
                          <a:solidFill>
                            <a:srgbClr val="0B0B0B"/>
                          </a:solidFill>
                          <a:latin typeface="Calibri"/>
                        </a:rPr>
                        <a:t>lifi_session_sender.c (Pico)</a:t>
                      </a:r>
                    </a:p>
                  </a:txBody>
                  <a:tcPr anchor="ctr" marL="91440" marR="91440" marT="45720" marB="45720">
                    <a:solidFill>
                      <a:srgbClr val="FFFFFF"/>
                    </a:solidFill>
                  </a:tcPr>
                </a:tc>
                <a:tc>
                  <a:txBody>
                    <a:bodyPr wrap="square"/>
                    <a:lstStyle/>
                    <a:p>
                      <a:pPr algn="ctr"/>
                      <a:r>
                        <a:rPr sz="1050" b="0">
                          <a:solidFill>
                            <a:srgbClr val="0B0B0B"/>
                          </a:solidFill>
                          <a:latin typeface="Calibri"/>
                        </a:rPr>
                        <a:t>C, RP2040 firmware</a:t>
                      </a:r>
                    </a:p>
                  </a:txBody>
                  <a:tcPr anchor="ctr" marL="91440" marR="91440" marT="45720" marB="45720">
                    <a:solidFill>
                      <a:srgbClr val="FFFFFF"/>
                    </a:solidFill>
                  </a:tcPr>
                </a:tc>
                <a:tc>
                  <a:txBody>
                    <a:bodyPr wrap="square"/>
                    <a:lstStyle/>
                    <a:p>
                      <a:pPr algn="ctr"/>
                      <a:r>
                        <a:rPr sz="1050" b="0">
                          <a:solidFill>
                            <a:srgbClr val="0B0B0B"/>
                          </a:solidFill>
                          <a:latin typeface="Calibri"/>
                        </a:rPr>
                        <a:t>None</a:t>
                      </a:r>
                    </a:p>
                  </a:txBody>
                  <a:tcPr anchor="ctr" marL="91440" marR="91440" marT="45720" marB="45720">
                    <a:solidFill>
                      <a:srgbClr val="FFFFFF"/>
                    </a:solidFill>
                  </a:tcPr>
                </a:tc>
                <a:tc>
                  <a:txBody>
                    <a:bodyPr wrap="square"/>
                    <a:lstStyle/>
                    <a:p>
                      <a:pPr algn="ctr"/>
                      <a:r>
                        <a:rPr sz="1050" b="0">
                          <a:solidFill>
                            <a:srgbClr val="0B0B0B"/>
                          </a:solidFill>
                          <a:latin typeface="Calibri"/>
                        </a:rPr>
                        <a:t>Receives raw key bytes over UART/USB as a MSG_TYPE_KEY frame and stores them — no TLS stack, no libsst linked</a:t>
                      </a:r>
                    </a:p>
                  </a:txBody>
                  <a:tcPr anchor="ctr" marL="91440" marR="91440" marT="45720" marB="45720">
                    <a:solidFill>
                      <a:srgbClr val="FFFFFF"/>
                    </a:solidFill>
                  </a:tcPr>
                </a:tc>
              </a:tr>
              <a:tr h="713232">
                <a:tc>
                  <a:txBody>
                    <a:bodyPr wrap="square"/>
                    <a:lstStyle/>
                    <a:p>
                      <a:pPr algn="l"/>
                      <a:r>
                        <a:rPr sz="1050" b="0">
                          <a:solidFill>
                            <a:srgbClr val="0B0B0B"/>
                          </a:solidFill>
                          <a:latin typeface="Calibri"/>
                        </a:rPr>
                        <a:t>receiver_pico (Pico 2)</a:t>
                      </a:r>
                    </a:p>
                  </a:txBody>
                  <a:tcPr anchor="ctr" marL="91440" marR="91440" marT="45720" marB="45720">
                    <a:solidFill>
                      <a:srgbClr val="F0EFEC"/>
                    </a:solidFill>
                  </a:tcPr>
                </a:tc>
                <a:tc>
                  <a:txBody>
                    <a:bodyPr wrap="square"/>
                    <a:lstStyle/>
                    <a:p>
                      <a:pPr algn="ctr"/>
                      <a:r>
                        <a:rPr sz="1050" b="0">
                          <a:solidFill>
                            <a:srgbClr val="0B0B0B"/>
                          </a:solidFill>
                          <a:latin typeface="Calibri"/>
                        </a:rPr>
                        <a:t>C, RP2350 firmware</a:t>
                      </a:r>
                    </a:p>
                  </a:txBody>
                  <a:tcPr anchor="ctr" marL="91440" marR="91440" marT="45720" marB="45720">
                    <a:solidFill>
                      <a:srgbClr val="F0EFEC"/>
                    </a:solidFill>
                  </a:tcPr>
                </a:tc>
                <a:tc>
                  <a:txBody>
                    <a:bodyPr wrap="square"/>
                    <a:lstStyle/>
                    <a:p>
                      <a:pPr algn="ctr"/>
                      <a:r>
                        <a:rPr sz="1050" b="0">
                          <a:solidFill>
                            <a:srgbClr val="0B0B0B"/>
                          </a:solidFill>
                          <a:latin typeface="Calibri"/>
                        </a:rPr>
                        <a:t>None</a:t>
                      </a:r>
                    </a:p>
                  </a:txBody>
                  <a:tcPr anchor="ctr" marL="91440" marR="91440" marT="45720" marB="45720">
                    <a:solidFill>
                      <a:srgbClr val="F0EFEC"/>
                    </a:solidFill>
                  </a:tcPr>
                </a:tc>
                <a:tc>
                  <a:txBody>
                    <a:bodyPr wrap="square"/>
                    <a:lstStyle/>
                    <a:p>
                      <a:pPr algn="ctr"/>
                      <a:r>
                        <a:rPr sz="1050" b="0">
                          <a:solidFill>
                            <a:srgbClr val="0B0B0B"/>
                          </a:solidFill>
                          <a:latin typeface="Calibri"/>
                        </a:rPr>
                        <a:t>Same story — key is pasted via USB console (key &lt;hex&gt;); no network credentials, no SST client</a:t>
                      </a:r>
                    </a:p>
                  </a:txBody>
                  <a:tcPr anchor="ctr" marL="91440" marR="91440" marT="45720" marB="45720">
                    <a:solidFill>
                      <a:srgbClr val="F0EFEC"/>
                    </a:solidFill>
                  </a:tcPr>
                </a:tc>
              </a:tr>
            </a:tbl>
          </a:graphicData>
        </a:graphic>
      </p:graphicFrame>
      <p:sp>
        <p:nvSpPr>
          <p:cNvPr id="5" name="TextBox 4"/>
          <p:cNvSpPr txBox="1"/>
          <p:nvPr/>
        </p:nvSpPr>
        <p:spPr>
          <a:xfrm>
            <a:off x="685800" y="5394960"/>
            <a:ext cx="10789920" cy="4572000"/>
          </a:xfrm>
          <a:prstGeom prst="rect">
            <a:avLst/>
          </a:prstGeom>
          <a:noFill/>
        </p:spPr>
        <p:txBody>
          <a:bodyPr wrap="square">
            <a:spAutoFit/>
          </a:bodyPr>
          <a:lstStyle/>
          <a:p>
            <a:pPr>
              <a:spcAft>
                <a:spcPts val="600"/>
              </a:spcAft>
            </a:pPr>
            <a:r>
              <a:rPr sz="1200">
                <a:solidFill>
                  <a:srgbClr val="0B0B0B"/>
                </a:solidFill>
                <a:latin typeface="Calibri"/>
              </a:rPr>
              <a:t>●   init_SST(config_path) → loads the entity's config, its X.509 cert/key pair, and the distribution key; returns the SST_ctx_t used for every subsequent call.</a:t>
            </a:r>
          </a:p>
          <a:p>
            <a:pPr>
              <a:spcAft>
                <a:spcPts val="600"/>
              </a:spcAft>
            </a:pPr>
            <a:r>
              <a:rPr sz="1200">
                <a:solidFill>
                  <a:srgbClr val="0B0B0B"/>
                </a:solidFill>
                <a:latin typeface="Calibri"/>
              </a:rPr>
              <a:t>●   get_session_key(ctx, NULL) → does the actual authenticated request to Auth over the SST protocol and returns a session_key_list_t; s_key[0] holds { key_id[8], cipher_key[16], mac_key[32] }.</a:t>
            </a:r>
          </a:p>
          <a:p>
            <a:pPr>
              <a:spcAft>
                <a:spcPts val="600"/>
              </a:spcAft>
            </a:pPr>
            <a:r>
              <a:rPr sz="1200">
                <a:solidFill>
                  <a:srgbClr val="0B0B0B"/>
                </a:solidFill>
                <a:latin typeface="Calibri"/>
              </a:rPr>
              <a:t>●   That key is then written to session_key.json (for the dashboard/Pi4) and pushed to the Pico verbatim over UART as [PREAMBLE:4][MSG_TYPE_KEY][LEN:2][KEY_ID:8][CIPHER_KEY:16][MAC_KEY:32] — the exact frame apply_new_key() in the Pico firmware already knows how to parse.</a:t>
            </a:r>
          </a:p>
        </p:txBody>
      </p:sp>
      <p:sp>
        <p:nvSpPr>
          <p:cNvPr id="6" name="TextBox 5"/>
          <p:cNvSpPr txBox="1"/>
          <p:nvPr/>
        </p:nvSpPr>
        <p:spPr>
          <a:xfrm>
            <a:off x="502920" y="6309360"/>
            <a:ext cx="11155680" cy="548640"/>
          </a:xfrm>
          <a:prstGeom prst="rect">
            <a:avLst/>
          </a:prstGeom>
          <a:noFill/>
        </p:spPr>
        <p:txBody>
          <a:bodyPr wrap="square">
            <a:spAutoFit/>
          </a:bodyPr>
          <a:lstStyle/>
          <a:p>
            <a:pPr algn="ctr"/>
            <a:r>
              <a:rPr sz="1250" i="0" b="1">
                <a:solidFill>
                  <a:srgbClr val="0B0B0B"/>
                </a:solidFill>
                <a:latin typeface="Calibri"/>
              </a:rPr>
              <a:t>Refresh uses the identical two calls: get_session_key() run again returns a brand-new key, which overwrites session_key.json and gets re-pushed — there is no separate ‘refresh’ API.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G4 — Revocation on Interruption</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One signal, five causes — there is no line-of-sight sensor</a:t>
            </a:r>
          </a:p>
        </p:txBody>
      </p:sp>
      <p:sp>
        <p:nvSpPr>
          <p:cNvPr id="4" name="TextBox 3"/>
          <p:cNvSpPr txBox="1"/>
          <p:nvPr/>
        </p:nvSpPr>
        <p:spPr>
          <a:xfrm>
            <a:off x="685800" y="1600200"/>
            <a:ext cx="10789920" cy="4572000"/>
          </a:xfrm>
          <a:prstGeom prst="rect">
            <a:avLst/>
          </a:prstGeom>
          <a:noFill/>
        </p:spPr>
        <p:txBody>
          <a:bodyPr wrap="square">
            <a:spAutoFit/>
          </a:bodyPr>
          <a:lstStyle/>
          <a:p>
            <a:pPr>
              <a:spcAft>
                <a:spcPts val="1100"/>
              </a:spcAft>
            </a:pPr>
            <a:r>
              <a:rPr sz="1550">
                <a:solidFill>
                  <a:srgbClr val="0B0B0B"/>
                </a:solidFill>
                <a:latin typeface="Calibri"/>
              </a:rPr>
              <a:t>●   Mechanism: the receiver tracks t_last, the timestamp of the most recent frame to pass GCM tag verification and nonce validation. If t_last is more than Δ seconds old, authorization is false. No explicit revoke message exists — the absence of a fresh, valid frame is itself the revocation event.</a:t>
            </a:r>
          </a:p>
          <a:p>
            <a:pPr>
              <a:spcAft>
                <a:spcPts val="1100"/>
              </a:spcAft>
            </a:pPr>
            <a:r>
              <a:rPr sz="1550">
                <a:solidFill>
                  <a:srgbClr val="0B0B0B"/>
                </a:solidFill>
                <a:latin typeface="Calibri"/>
              </a:rPr>
              <a:t>●   That one criterion — 'was a fresh, valid frame verified in the last Δ seconds' — goes false for several physically distinct reasons, and the receiver cannot tell them apart:</a:t>
            </a:r>
          </a:p>
          <a:p>
            <a:pPr lvl="1">
              <a:spcAft>
                <a:spcPts val="700"/>
              </a:spcAft>
            </a:pPr>
            <a:r>
              <a:rPr sz="1450">
                <a:solidFill>
                  <a:srgbClr val="52514E"/>
                </a:solidFill>
                <a:latin typeface="Calibri"/>
              </a:rPr>
              <a:t>‒   Physical occlusion, misalignment, or movement out of the cone — the condition the occlusion test actually exercises.</a:t>
            </a:r>
          </a:p>
          <a:p>
            <a:pPr lvl="1">
              <a:spcAft>
                <a:spcPts val="700"/>
              </a:spcAft>
            </a:pPr>
            <a:r>
              <a:rPr sz="1450">
                <a:solidFill>
                  <a:srgbClr val="52514E"/>
                </a:solidFill>
                <a:latin typeface="Calibri"/>
              </a:rPr>
              <a:t>‒   A rotated key the receiver hasn't picked up yet — GCM tag verification fails even with a clean, unobstructed beam.</a:t>
            </a:r>
          </a:p>
          <a:p>
            <a:pPr lvl="1">
              <a:spcAft>
                <a:spcPts val="700"/>
              </a:spcAft>
            </a:pPr>
            <a:r>
              <a:rPr sz="1450">
                <a:solidFill>
                  <a:srgbClr val="52514E"/>
                </a:solidFill>
                <a:latin typeface="Calibri"/>
              </a:rPr>
              <a:t>‒   A replayed frame rejected by G2's nonce window — bytes arrive, but don't count as fresh.</a:t>
            </a:r>
          </a:p>
          <a:p>
            <a:pPr lvl="1">
              <a:spcAft>
                <a:spcPts val="700"/>
              </a:spcAft>
            </a:pPr>
            <a:r>
              <a:rPr sz="1450">
                <a:solidFill>
                  <a:srgbClr val="52514E"/>
                </a:solidFill>
                <a:latin typeface="Calibri"/>
              </a:rPr>
              <a:t>‒   A decode/CRC failure from noise, ambient-light saturation, or marginal SNR.</a:t>
            </a:r>
          </a:p>
          <a:p>
            <a:pPr lvl="1">
              <a:spcAft>
                <a:spcPts val="700"/>
              </a:spcAft>
            </a:pPr>
            <a:r>
              <a:rPr sz="1450">
                <a:solidFill>
                  <a:srgbClr val="52514E"/>
                </a:solidFill>
                <a:latin typeface="Calibri"/>
              </a:rPr>
              <a:t>‒   Sender-side stoppage — power loss, crash, or an upstream key revocation at the Auth server.</a:t>
            </a:r>
          </a:p>
          <a:p>
            <a:pPr>
              <a:spcAft>
                <a:spcPts val="1100"/>
              </a:spcAft>
            </a:pPr>
            <a:r>
              <a:rPr sz="1550">
                <a:solidFill>
                  <a:srgbClr val="0B0B0B"/>
                </a:solidFill>
                <a:latin typeface="Calibri"/>
              </a:rPr>
              <a:t>●   By design, revocation is fail-closed and cause-agnostic: all five look identical from the outside — authorization drops within Δ regardless of which one occurred. That's also why the defense-in-depth claim against theft holds without qualification: theft isn't a special case the system recognizes, it's just one more way the same signal goes stale.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G4 — Measured: Revocation Fires at Exactly Δ</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Occlusion (shadowing) test — 21 + 20 + 25 trials, receiver_pico platform</a:t>
            </a:r>
          </a:p>
        </p:txBody>
      </p:sp>
      <p:pic>
        <p:nvPicPr>
          <p:cNvPr id="4" name="Picture 3" descr="revocation_latency.png"/>
          <p:cNvPicPr>
            <a:picLocks noChangeAspect="1"/>
          </p:cNvPicPr>
          <p:nvPr/>
        </p:nvPicPr>
        <p:blipFill>
          <a:blip r:embed="rId2"/>
          <a:stretch>
            <a:fillRect/>
          </a:stretch>
        </p:blipFill>
        <p:spPr>
          <a:xfrm>
            <a:off x="458571" y="1417320"/>
            <a:ext cx="11274552" cy="3989456"/>
          </a:xfrm>
          <a:prstGeom prst="rect">
            <a:avLst/>
          </a:prstGeom>
        </p:spPr>
      </p:pic>
      <p:sp>
        <p:nvSpPr>
          <p:cNvPr id="5" name="TextBox 4"/>
          <p:cNvSpPr txBox="1"/>
          <p:nvPr/>
        </p:nvSpPr>
        <p:spPr>
          <a:xfrm>
            <a:off x="502920" y="5715000"/>
            <a:ext cx="11155680" cy="548640"/>
          </a:xfrm>
          <a:prstGeom prst="rect">
            <a:avLst/>
          </a:prstGeom>
          <a:noFill/>
        </p:spPr>
        <p:txBody>
          <a:bodyPr wrap="square">
            <a:spAutoFit/>
          </a:bodyPr>
          <a:lstStyle/>
          <a:p>
            <a:pPr algn="ctr"/>
            <a:r>
              <a:rPr sz="1250" i="0" b="1">
                <a:solidFill>
                  <a:srgbClr val="898781"/>
                </a:solidFill>
                <a:latin typeface="Calibri"/>
              </a:rPr>
              <a:t>On-device [PRESENCE] transitions (n=25, zero external polling): time-to-revoke = 15.001s ± 0.000s — every trial. That's Δ (15s) plus ~0.11s fixed overhead, enforced exactly.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G3 — Location Confinement Is Not Distance Bounding</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What we're actually arguing, and why it's named rather than discovered</a:t>
            </a:r>
          </a:p>
        </p:txBody>
      </p:sp>
      <p:sp>
        <p:nvSpPr>
          <p:cNvPr id="4" name="TextBox 3"/>
          <p:cNvSpPr txBox="1"/>
          <p:nvPr/>
        </p:nvSpPr>
        <p:spPr>
          <a:xfrm>
            <a:off x="685800" y="1600200"/>
            <a:ext cx="10789920" cy="4572000"/>
          </a:xfrm>
          <a:prstGeom prst="rect">
            <a:avLst/>
          </a:prstGeom>
          <a:noFill/>
        </p:spPr>
        <p:txBody>
          <a:bodyPr wrap="square">
            <a:spAutoFit/>
          </a:bodyPr>
          <a:lstStyle/>
          <a:p>
            <a:pPr>
              <a:spcAft>
                <a:spcPts val="1000"/>
              </a:spcAft>
            </a:pPr>
            <a:r>
              <a:rPr sz="1500">
                <a:solidFill>
                  <a:srgbClr val="0B0B0B"/>
                </a:solidFill>
                <a:latin typeface="Calibri"/>
              </a:rPr>
              <a:t>●   The physics of light gives you ‘where’ for free: a valid frame proves the receiver shares the sender's optically-bounded space. It does not give you ‘how far’ or ‘how fast’ — nothing on the data path measures round-trip time.</a:t>
            </a:r>
          </a:p>
          <a:p>
            <a:pPr>
              <a:spcAft>
                <a:spcPts val="1000"/>
              </a:spcAft>
            </a:pPr>
            <a:r>
              <a:rPr sz="1500">
                <a:solidFill>
                  <a:srgbClr val="0B0B0B"/>
                </a:solidFill>
                <a:latin typeface="Calibri"/>
              </a:rPr>
              <a:t>●   G1 (Δ freshness) bounds how long a captured, no-longer-live frame stays useful. G2 (nonce window) rejects a byte-identical resend. Neither examines WHEN a frame arrived relative to when it was sent.</a:t>
            </a:r>
          </a:p>
          <a:p>
            <a:pPr lvl="1">
              <a:spcAft>
                <a:spcPts val="600"/>
              </a:spcAft>
            </a:pPr>
            <a:r>
              <a:rPr sz="1450">
                <a:solidFill>
                  <a:srgbClr val="52514E"/>
                </a:solidFill>
                <a:latin typeface="Calibri"/>
              </a:rPr>
              <a:t>‒   A live optical relay — light→electrical→light, forwarding genuinely fresh frames with added latency δ_relay — passes every check the receiver runs: new nonce (G2 ✓), valid GCM tag (integrity ✓), t_last continuously refreshed (G1 ✓). Verified directly against the receiver implementation, not inferred.</a:t>
            </a:r>
          </a:p>
          <a:p>
            <a:pPr>
              <a:spcAft>
                <a:spcPts val="1000"/>
              </a:spcAft>
            </a:pPr>
            <a:r>
              <a:rPr sz="1500">
                <a:solidFill>
                  <a:srgbClr val="0B0B0B"/>
                </a:solidFill>
                <a:latin typeface="Calibri"/>
              </a:rPr>
              <a:t>●   Named explicitly rather than left to be discovered: being precise about what the system does and doesn't defend against is more defensible at review than a gap a reviewer finds first.</a:t>
            </a:r>
          </a:p>
          <a:p>
            <a:pPr>
              <a:spcAft>
                <a:spcPts val="1000"/>
              </a:spcAft>
            </a:pPr>
            <a:r>
              <a:rPr sz="1500">
                <a:solidFill>
                  <a:srgbClr val="0B0B0B"/>
                </a:solidFill>
                <a:latin typeface="Calibri"/>
              </a:rPr>
              <a:t>●   What closing it requires: a Brands–Chaum-style distance-bounding challenge-response over the existing bidirectional UART link — architecturally compatible, not implemented.</a:t>
            </a:r>
          </a:p>
          <a:p>
            <a:pPr lvl="1">
              <a:spcAft>
                <a:spcPts val="600"/>
              </a:spcAft>
            </a:pPr>
            <a:r>
              <a:rPr sz="1450">
                <a:solidFill>
                  <a:srgbClr val="52514E"/>
                </a:solidFill>
                <a:latin typeface="Calibri"/>
              </a:rPr>
              <a:t>‒   Feasibility evidence, not a guarantee: measured end-to-end frame latency is 3–6ms, leaving ample timing margin for a bounded RTT check without a hardware redesign.</a:t>
            </a:r>
          </a:p>
          <a:p>
            <a:pPr>
              <a:spcAft>
                <a:spcPts val="1000"/>
              </a:spcAft>
            </a:pPr>
            <a:r>
              <a:rPr sz="1500">
                <a:solidFill>
                  <a:srgbClr val="0B0B0B"/>
                </a:solidFill>
                <a:latin typeface="Calibri"/>
              </a:rPr>
              <a:t>●   Doesn't undercut the core RF-comparison claim — automatic revocation on physical departure is still structurally impossible for RF without environmental modification. G3 scopes out one specific attacker capability (live real-time optical relay), not the whole security model.</a:t>
            </a:r>
          </a:p>
        </p:txBody>
      </p:sp>
      <p:sp>
        <p:nvSpPr>
          <p:cNvPr id="5" name="TextBox 4"/>
          <p:cNvSpPr txBox="1"/>
          <p:nvPr/>
        </p:nvSpPr>
        <p:spPr>
          <a:xfrm>
            <a:off x="502920" y="6263640"/>
            <a:ext cx="11155680" cy="548640"/>
          </a:xfrm>
          <a:prstGeom prst="rect">
            <a:avLst/>
          </a:prstGeom>
          <a:noFill/>
        </p:spPr>
        <p:txBody>
          <a:bodyPr wrap="square">
            <a:spAutoFit/>
          </a:bodyPr>
          <a:lstStyle/>
          <a:p>
            <a:pPr algn="ctr"/>
            <a:r>
              <a:rPr sz="1250" i="0" b="1">
                <a:solidFill>
                  <a:srgbClr val="0B0B0B"/>
                </a:solidFill>
                <a:latin typeface="Calibri"/>
              </a:rPr>
              <a:t>The line this thesis draws: physics gives location confinement for free; distance bounding still has to be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Trust Assumptions — What We're Not Attacking</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The five things the security analysis takes as given, not as defended</a:t>
            </a:r>
          </a:p>
        </p:txBody>
      </p:sp>
      <p:graphicFrame>
        <p:nvGraphicFramePr>
          <p:cNvPr id="4" name="Table 3"/>
          <p:cNvGraphicFramePr>
            <a:graphicFrameLocks noGrp="1"/>
          </p:cNvGraphicFramePr>
          <p:nvPr/>
        </p:nvGraphicFramePr>
        <p:xfrm>
          <a:off x="685800" y="1645920"/>
          <a:ext cx="10972800" cy="4023360"/>
        </p:xfrm>
        <a:graphic>
          <a:graphicData uri="http://schemas.openxmlformats.org/drawingml/2006/table">
            <a:tbl>
              <a:tblPr firstRow="1" bandRow="1">
                <a:tableStyleId>{5C22544A-7EE6-4342-B048-85BDC9FD1C3A}</a:tableStyleId>
              </a:tblPr>
              <a:tblGrid>
                <a:gridCol w="2286000"/>
                <a:gridCol w="4297680"/>
                <a:gridCol w="4389120"/>
              </a:tblGrid>
              <a:tr h="670560">
                <a:tc>
                  <a:txBody>
                    <a:bodyPr wrap="square"/>
                    <a:lstStyle/>
                    <a:p>
                      <a:pPr algn="l"/>
                      <a:r>
                        <a:rPr sz="1350" b="1">
                          <a:solidFill>
                            <a:srgbClr val="FFFFFF"/>
                          </a:solidFill>
                          <a:latin typeface="Calibri"/>
                        </a:rPr>
                        <a:t>Assumption</a:t>
                      </a:r>
                    </a:p>
                  </a:txBody>
                  <a:tcPr anchor="ctr" marL="91440" marR="91440" marT="45720" marB="45720">
                    <a:solidFill>
                      <a:srgbClr val="0B0B0B"/>
                    </a:solidFill>
                  </a:tcPr>
                </a:tc>
                <a:tc>
                  <a:txBody>
                    <a:bodyPr wrap="square"/>
                    <a:lstStyle/>
                    <a:p>
                      <a:pPr algn="ctr"/>
                      <a:r>
                        <a:rPr sz="1350" b="1">
                          <a:solidFill>
                            <a:srgbClr val="FFFFFF"/>
                          </a:solidFill>
                          <a:latin typeface="Calibri"/>
                        </a:rPr>
                        <a:t>What it means</a:t>
                      </a:r>
                    </a:p>
                  </a:txBody>
                  <a:tcPr anchor="ctr" marL="91440" marR="91440" marT="45720" marB="45720">
                    <a:solidFill>
                      <a:srgbClr val="0B0B0B"/>
                    </a:solidFill>
                  </a:tcPr>
                </a:tc>
                <a:tc>
                  <a:txBody>
                    <a:bodyPr wrap="square"/>
                    <a:lstStyle/>
                    <a:p>
                      <a:pPr algn="ctr"/>
                      <a:r>
                        <a:rPr sz="1350" b="1">
                          <a:solidFill>
                            <a:srgbClr val="FFFFFF"/>
                          </a:solidFill>
                          <a:latin typeface="Calibri"/>
                        </a:rPr>
                        <a:t>What it does / doesn't cover</a:t>
                      </a:r>
                    </a:p>
                  </a:txBody>
                  <a:tcPr anchor="ctr" marL="91440" marR="91440" marT="45720" marB="45720">
                    <a:solidFill>
                      <a:srgbClr val="0B0B0B"/>
                    </a:solidFill>
                  </a:tcPr>
                </a:tc>
              </a:tr>
              <a:tr h="670560">
                <a:tc>
                  <a:txBody>
                    <a:bodyPr wrap="square"/>
                    <a:lstStyle/>
                    <a:p>
                      <a:pPr algn="l"/>
                      <a:r>
                        <a:rPr sz="1000" b="0">
                          <a:solidFill>
                            <a:srgbClr val="0B0B0B"/>
                          </a:solidFill>
                          <a:latin typeface="Calibri"/>
                        </a:rPr>
                        <a:t>Trusted provisioning service</a:t>
                      </a:r>
                    </a:p>
                  </a:txBody>
                  <a:tcPr anchor="ctr" marL="91440" marR="91440" marT="45720" marB="45720">
                    <a:solidFill>
                      <a:srgbClr val="FFFFFF"/>
                    </a:solidFill>
                  </a:tcPr>
                </a:tc>
                <a:tc>
                  <a:txBody>
                    <a:bodyPr wrap="square"/>
                    <a:lstStyle/>
                    <a:p>
                      <a:pPr algn="ctr"/>
                      <a:r>
                        <a:rPr sz="1000" b="0">
                          <a:solidFill>
                            <a:srgbClr val="0B0B0B"/>
                          </a:solidFill>
                          <a:latin typeface="Calibri"/>
                        </a:rPr>
                        <a:t>IoTAuth and its X.509 keys are not compromised; it authenticates entities correctly and only distributes keys to authorized parties</a:t>
                      </a:r>
                    </a:p>
                  </a:txBody>
                  <a:tcPr anchor="ctr" marL="91440" marR="91440" marT="45720" marB="45720">
                    <a:solidFill>
                      <a:srgbClr val="FFFFFF"/>
                    </a:solidFill>
                  </a:tcPr>
                </a:tc>
                <a:tc>
                  <a:txBody>
                    <a:bodyPr wrap="square"/>
                    <a:lstStyle/>
                    <a:p>
                      <a:pPr algn="ctr"/>
                      <a:r>
                        <a:rPr sz="1000" b="0">
                          <a:solidFill>
                            <a:srgbClr val="0B0B0B"/>
                          </a:solidFill>
                          <a:latin typeface="Calibri"/>
                        </a:rPr>
                        <a:t>This is the root of trust — assumed, not defended. Every downstream key is only as good as this holding.</a:t>
                      </a:r>
                    </a:p>
                  </a:txBody>
                  <a:tcPr anchor="ctr" marL="91440" marR="91440" marT="45720" marB="45720">
                    <a:solidFill>
                      <a:srgbClr val="FFFFFF"/>
                    </a:solidFill>
                  </a:tcPr>
                </a:tc>
              </a:tr>
              <a:tr h="670560">
                <a:tc>
                  <a:txBody>
                    <a:bodyPr wrap="square"/>
                    <a:lstStyle/>
                    <a:p>
                      <a:pPr algn="l"/>
                      <a:r>
                        <a:rPr sz="1000" b="0">
                          <a:solidFill>
                            <a:srgbClr val="0B0B0B"/>
                          </a:solidFill>
                          <a:latin typeface="Calibri"/>
                        </a:rPr>
                        <a:t>Trusted sender hardware</a:t>
                      </a:r>
                    </a:p>
                  </a:txBody>
                  <a:tcPr anchor="ctr" marL="91440" marR="91440" marT="45720" marB="45720">
                    <a:solidFill>
                      <a:srgbClr val="F0EFEC"/>
                    </a:solidFill>
                  </a:tcPr>
                </a:tc>
                <a:tc>
                  <a:txBody>
                    <a:bodyPr wrap="square"/>
                    <a:lstStyle/>
                    <a:p>
                      <a:pPr algn="ctr"/>
                      <a:r>
                        <a:rPr sz="1000" b="0">
                          <a:solidFill>
                            <a:srgbClr val="0B0B0B"/>
                          </a:solidFill>
                          <a:latin typeface="Calibri"/>
                        </a:rPr>
                        <a:t>The optical beacon is physically secured against tampering</a:t>
                      </a:r>
                    </a:p>
                  </a:txBody>
                  <a:tcPr anchor="ctr" marL="91440" marR="91440" marT="45720" marB="45720">
                    <a:solidFill>
                      <a:srgbClr val="F0EFEC"/>
                    </a:solidFill>
                  </a:tcPr>
                </a:tc>
                <a:tc>
                  <a:txBody>
                    <a:bodyPr wrap="square"/>
                    <a:lstStyle/>
                    <a:p>
                      <a:pPr algn="ctr"/>
                      <a:r>
                        <a:rPr sz="1000" b="0">
                          <a:solidFill>
                            <a:srgbClr val="0B0B0B"/>
                          </a:solidFill>
                          <a:latin typeface="Calibri"/>
                        </a:rPr>
                        <a:t>Physical access → key extraction from flash is treated as full compromise, out of scope by design (→ Limitations: no hardware key protection).</a:t>
                      </a:r>
                    </a:p>
                  </a:txBody>
                  <a:tcPr anchor="ctr" marL="91440" marR="91440" marT="45720" marB="45720">
                    <a:solidFill>
                      <a:srgbClr val="F0EFEC"/>
                    </a:solidFill>
                  </a:tcPr>
                </a:tc>
              </a:tr>
              <a:tr h="670560">
                <a:tc>
                  <a:txBody>
                    <a:bodyPr wrap="square"/>
                    <a:lstStyle/>
                    <a:p>
                      <a:pPr algn="l"/>
                      <a:r>
                        <a:rPr sz="1000" b="0">
                          <a:solidFill>
                            <a:srgbClr val="0B0B0B"/>
                          </a:solidFill>
                          <a:latin typeface="Calibri"/>
                        </a:rPr>
                        <a:t>Standard cryptographic assumptions</a:t>
                      </a:r>
                    </a:p>
                  </a:txBody>
                  <a:tcPr anchor="ctr" marL="91440" marR="91440" marT="45720" marB="45720">
                    <a:solidFill>
                      <a:srgbClr val="FFFFFF"/>
                    </a:solidFill>
                  </a:tcPr>
                </a:tc>
                <a:tc>
                  <a:txBody>
                    <a:bodyPr wrap="square"/>
                    <a:lstStyle/>
                    <a:p>
                      <a:pPr algn="ctr"/>
                      <a:r>
                        <a:rPr sz="1000" b="0">
                          <a:solidFill>
                            <a:srgbClr val="0B0B0B"/>
                          </a:solidFill>
                          <a:latin typeface="Calibri"/>
                        </a:rPr>
                        <a:t>AES-128-GCM IND-CPA/INT-CTXT, HMAC-SHA256 secure MAC, SHA-256 collision-resistant, CTR_DRBG indistinguishable output</a:t>
                      </a:r>
                    </a:p>
                  </a:txBody>
                  <a:tcPr anchor="ctr" marL="91440" marR="91440" marT="45720" marB="45720">
                    <a:solidFill>
                      <a:srgbClr val="FFFFFF"/>
                    </a:solidFill>
                  </a:tcPr>
                </a:tc>
                <a:tc>
                  <a:txBody>
                    <a:bodyPr wrap="square"/>
                    <a:lstStyle/>
                    <a:p>
                      <a:pPr algn="ctr"/>
                      <a:r>
                        <a:rPr sz="1000" b="0">
                          <a:solidFill>
                            <a:srgbClr val="0B0B0B"/>
                          </a:solidFill>
                          <a:latin typeface="Calibri"/>
                        </a:rPr>
                        <a:t>Generic, not thesis-specific — a break here breaks the primitives themselves, not this protocol.</a:t>
                      </a:r>
                    </a:p>
                  </a:txBody>
                  <a:tcPr anchor="ctr" marL="91440" marR="91440" marT="45720" marB="45720">
                    <a:solidFill>
                      <a:srgbClr val="FFFFFF"/>
                    </a:solidFill>
                  </a:tcPr>
                </a:tc>
              </a:tr>
              <a:tr h="670560">
                <a:tc>
                  <a:txBody>
                    <a:bodyPr wrap="square"/>
                    <a:lstStyle/>
                    <a:p>
                      <a:pPr algn="l"/>
                      <a:r>
                        <a:rPr sz="1000" b="0">
                          <a:solidFill>
                            <a:srgbClr val="0B0B0B"/>
                          </a:solidFill>
                          <a:latin typeface="Calibri"/>
                        </a:rPr>
                        <a:t>Bounded clock drift</a:t>
                      </a:r>
                    </a:p>
                  </a:txBody>
                  <a:tcPr anchor="ctr" marL="91440" marR="91440" marT="45720" marB="45720">
                    <a:solidFill>
                      <a:srgbClr val="F0EFEC"/>
                    </a:solidFill>
                  </a:tcPr>
                </a:tc>
                <a:tc>
                  <a:txBody>
                    <a:bodyPr wrap="square"/>
                    <a:lstStyle/>
                    <a:p>
                      <a:pPr algn="ctr"/>
                      <a:r>
                        <a:rPr sz="1000" b="0">
                          <a:solidFill>
                            <a:srgbClr val="0B0B0B"/>
                          </a:solidFill>
                          <a:latin typeface="Calibri"/>
                        </a:rPr>
                        <a:t>RP2040/RP2350 local clocks support the Δ window without external time sync</a:t>
                      </a:r>
                    </a:p>
                  </a:txBody>
                  <a:tcPr anchor="ctr" marL="91440" marR="91440" marT="45720" marB="45720">
                    <a:solidFill>
                      <a:srgbClr val="F0EFEC"/>
                    </a:solidFill>
                  </a:tcPr>
                </a:tc>
                <a:tc>
                  <a:txBody>
                    <a:bodyPr wrap="square"/>
                    <a:lstStyle/>
                    <a:p>
                      <a:pPr algn="ctr"/>
                      <a:r>
                        <a:rPr sz="1000" b="0">
                          <a:solidFill>
                            <a:srgbClr val="0B0B0B"/>
                          </a:solidFill>
                          <a:latin typeface="Calibri"/>
                        </a:rPr>
                        <a:t>Millisecond resolution is adequate for Δ in the hundreds-of-ms-to-seconds range actually used.</a:t>
                      </a:r>
                    </a:p>
                  </a:txBody>
                  <a:tcPr anchor="ctr" marL="91440" marR="91440" marT="45720" marB="45720">
                    <a:solidFill>
                      <a:srgbClr val="F0EFEC"/>
                    </a:solidFill>
                  </a:tcPr>
                </a:tc>
              </a:tr>
              <a:tr h="670560">
                <a:tc>
                  <a:txBody>
                    <a:bodyPr wrap="square"/>
                    <a:lstStyle/>
                    <a:p>
                      <a:pPr algn="l"/>
                      <a:r>
                        <a:rPr sz="1000" b="0">
                          <a:solidFill>
                            <a:srgbClr val="0B0B0B"/>
                          </a:solidFill>
                          <a:latin typeface="Calibri"/>
                        </a:rPr>
                        <a:t>No full client compromise</a:t>
                      </a:r>
                    </a:p>
                  </a:txBody>
                  <a:tcPr anchor="ctr" marL="91440" marR="91440" marT="45720" marB="45720">
                    <a:solidFill>
                      <a:srgbClr val="FFFFFF"/>
                    </a:solidFill>
                  </a:tcPr>
                </a:tc>
                <a:tc>
                  <a:txBody>
                    <a:bodyPr wrap="square"/>
                    <a:lstStyle/>
                    <a:p>
                      <a:pPr algn="ctr"/>
                      <a:r>
                        <a:rPr sz="1000" b="0">
                          <a:solidFill>
                            <a:srgbClr val="0B0B0B"/>
                          </a:solidFill>
                          <a:latin typeface="Calibri"/>
                        </a:rPr>
                        <a:t>Receiver hasn't been compromised by malware extracting keys or manipulating authorization logic; side-channels not considered</a:t>
                      </a:r>
                    </a:p>
                  </a:txBody>
                  <a:tcPr anchor="ctr" marL="91440" marR="91440" marT="45720" marB="45720">
                    <a:solidFill>
                      <a:srgbClr val="FFFFFF"/>
                    </a:solidFill>
                  </a:tcPr>
                </a:tc>
                <a:tc>
                  <a:txBody>
                    <a:bodyPr wrap="square"/>
                    <a:lstStyle/>
                    <a:p>
                      <a:pPr algn="ctr"/>
                      <a:r>
                        <a:rPr sz="1000" b="0">
                          <a:solidFill>
                            <a:srgbClr val="0B0B0B"/>
                          </a:solidFill>
                          <a:latin typeface="Calibri"/>
                        </a:rPr>
                        <a:t>A fully compromised receiver bypasses any software policy trivially — true of any system. Narrower: this covers runtime compromise, not provisioning-time key substitution (→ manual key-paste gap).</a:t>
                      </a:r>
                    </a:p>
                  </a:txBody>
                  <a:tcPr anchor="ctr" marL="91440" marR="91440" marT="45720" marB="45720">
                    <a:solidFill>
                      <a:srgbClr val="FFFFFF"/>
                    </a:solidFill>
                  </a:tcPr>
                </a:tc>
              </a:tr>
            </a:tbl>
          </a:graphicData>
        </a:graphic>
      </p:graphicFrame>
      <p:sp>
        <p:nvSpPr>
          <p:cNvPr id="5" name="TextBox 4"/>
          <p:cNvSpPr txBox="1"/>
          <p:nvPr/>
        </p:nvSpPr>
        <p:spPr>
          <a:xfrm>
            <a:off x="502920" y="5852160"/>
            <a:ext cx="11155680" cy="548640"/>
          </a:xfrm>
          <a:prstGeom prst="rect">
            <a:avLst/>
          </a:prstGeom>
          <a:noFill/>
        </p:spPr>
        <p:txBody>
          <a:bodyPr wrap="square">
            <a:spAutoFit/>
          </a:bodyPr>
          <a:lstStyle/>
          <a:p>
            <a:pPr algn="ctr"/>
            <a:r>
              <a:rPr sz="1250" i="0" b="1">
                <a:solidFill>
                  <a:srgbClr val="0B0B0B"/>
                </a:solidFill>
                <a:latin typeface="Calibri"/>
              </a:rPr>
              <a:t>Assumptions 2 and 5 are the ones worth having ready — they're exactly where the receiver's manual key-paste limitation and lack of hardware key protection actually live.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Adversary Model — Five Capabilities, Four Answers and One G3</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A computationally bounded A trying to get authorized without legitimate physical presence</a:t>
            </a:r>
          </a:p>
        </p:txBody>
      </p:sp>
      <p:graphicFrame>
        <p:nvGraphicFramePr>
          <p:cNvPr id="4" name="Table 3"/>
          <p:cNvGraphicFramePr>
            <a:graphicFrameLocks noGrp="1"/>
          </p:cNvGraphicFramePr>
          <p:nvPr/>
        </p:nvGraphicFramePr>
        <p:xfrm>
          <a:off x="685800" y="1600200"/>
          <a:ext cx="10972800" cy="3977639"/>
        </p:xfrm>
        <a:graphic>
          <a:graphicData uri="http://schemas.openxmlformats.org/drawingml/2006/table">
            <a:tbl>
              <a:tblPr firstRow="1" bandRow="1">
                <a:tableStyleId>{5C22544A-7EE6-4342-B048-85BDC9FD1C3A}</a:tableStyleId>
              </a:tblPr>
              <a:tblGrid>
                <a:gridCol w="1828800"/>
                <a:gridCol w="4206240"/>
                <a:gridCol w="4937760"/>
              </a:tblGrid>
              <a:tr h="662939">
                <a:tc>
                  <a:txBody>
                    <a:bodyPr wrap="square"/>
                    <a:lstStyle/>
                    <a:p>
                      <a:pPr algn="l"/>
                      <a:r>
                        <a:rPr sz="1350" b="1">
                          <a:solidFill>
                            <a:srgbClr val="FFFFFF"/>
                          </a:solidFill>
                          <a:latin typeface="Calibri"/>
                        </a:rPr>
                        <a:t>Capability</a:t>
                      </a:r>
                    </a:p>
                  </a:txBody>
                  <a:tcPr anchor="ctr" marL="91440" marR="91440" marT="45720" marB="45720">
                    <a:solidFill>
                      <a:srgbClr val="0B0B0B"/>
                    </a:solidFill>
                  </a:tcPr>
                </a:tc>
                <a:tc>
                  <a:txBody>
                    <a:bodyPr wrap="square"/>
                    <a:lstStyle/>
                    <a:p>
                      <a:pPr algn="ctr"/>
                      <a:r>
                        <a:rPr sz="1350" b="1">
                          <a:solidFill>
                            <a:srgbClr val="FFFFFF"/>
                          </a:solidFill>
                          <a:latin typeface="Calibri"/>
                        </a:rPr>
                        <a:t>What A can do</a:t>
                      </a:r>
                    </a:p>
                  </a:txBody>
                  <a:tcPr anchor="ctr" marL="91440" marR="91440" marT="45720" marB="45720">
                    <a:solidFill>
                      <a:srgbClr val="0B0B0B"/>
                    </a:solidFill>
                  </a:tcPr>
                </a:tc>
                <a:tc>
                  <a:txBody>
                    <a:bodyPr wrap="square"/>
                    <a:lstStyle/>
                    <a:p>
                      <a:pPr algn="ctr"/>
                      <a:r>
                        <a:rPr sz="1350" b="1">
                          <a:solidFill>
                            <a:srgbClr val="FFFFFF"/>
                          </a:solidFill>
                          <a:latin typeface="Calibri"/>
                        </a:rPr>
                        <a:t>How it's handled</a:t>
                      </a:r>
                    </a:p>
                  </a:txBody>
                  <a:tcPr anchor="ctr" marL="91440" marR="91440" marT="45720" marB="45720">
                    <a:solidFill>
                      <a:srgbClr val="0B0B0B"/>
                    </a:solidFill>
                  </a:tcPr>
                </a:tc>
              </a:tr>
              <a:tr h="662939">
                <a:tc>
                  <a:txBody>
                    <a:bodyPr wrap="square"/>
                    <a:lstStyle/>
                    <a:p>
                      <a:pPr algn="l"/>
                      <a:r>
                        <a:rPr sz="1000" b="0">
                          <a:solidFill>
                            <a:srgbClr val="0B0B0B"/>
                          </a:solidFill>
                          <a:latin typeface="Calibri"/>
                        </a:rPr>
                        <a:t>Network Control</a:t>
                      </a:r>
                    </a:p>
                  </a:txBody>
                  <a:tcPr anchor="ctr" marL="91440" marR="91440" marT="45720" marB="45720">
                    <a:solidFill>
                      <a:srgbClr val="FFFFFF"/>
                    </a:solidFill>
                  </a:tcPr>
                </a:tc>
                <a:tc>
                  <a:txBody>
                    <a:bodyPr wrap="square"/>
                    <a:lstStyle/>
                    <a:p>
                      <a:pPr algn="ctr"/>
                      <a:r>
                        <a:rPr sz="1000" b="0">
                          <a:solidFill>
                            <a:srgbClr val="0B0B0B"/>
                          </a:solidFill>
                          <a:latin typeface="Calibri"/>
                        </a:rPr>
                        <a:t>Full Dolev-Yao control of RF/wired links to the provisioning service — eavesdrop, replay, delay, drop, reorder, inject</a:t>
                      </a:r>
                    </a:p>
                  </a:txBody>
                  <a:tcPr anchor="ctr" marL="91440" marR="91440" marT="45720" marB="45720">
                    <a:solidFill>
                      <a:srgbClr val="FFFFFF"/>
                    </a:solidFill>
                  </a:tcPr>
                </a:tc>
                <a:tc>
                  <a:txBody>
                    <a:bodyPr wrap="square"/>
                    <a:lstStyle/>
                    <a:p>
                      <a:pPr algn="ctr"/>
                      <a:r>
                        <a:rPr sz="1000" b="0">
                          <a:solidFill>
                            <a:srgbClr val="0B0B0B"/>
                          </a:solidFill>
                          <a:latin typeface="Calibri"/>
                        </a:rPr>
                        <a:t>TLS + mutual X.509 auth on that link. Explicitly excluded from the optical link — A cannot inject into the beam without physical access to the cone.</a:t>
                      </a:r>
                    </a:p>
                  </a:txBody>
                  <a:tcPr anchor="ctr" marL="91440" marR="91440" marT="45720" marB="45720">
                    <a:solidFill>
                      <a:srgbClr val="FFFFFF"/>
                    </a:solidFill>
                  </a:tcPr>
                </a:tc>
              </a:tr>
              <a:tr h="662939">
                <a:tc>
                  <a:txBody>
                    <a:bodyPr wrap="square"/>
                    <a:lstStyle/>
                    <a:p>
                      <a:pPr algn="l"/>
                      <a:r>
                        <a:rPr sz="1000" b="0">
                          <a:solidFill>
                            <a:srgbClr val="0B0B0B"/>
                          </a:solidFill>
                          <a:latin typeface="Calibri"/>
                        </a:rPr>
                        <a:t>Optical Observation</a:t>
                      </a:r>
                    </a:p>
                  </a:txBody>
                  <a:tcPr anchor="ctr" marL="91440" marR="91440" marT="45720" marB="45720">
                    <a:solidFill>
                      <a:srgbClr val="F0EFEC"/>
                    </a:solidFill>
                  </a:tcPr>
                </a:tc>
                <a:tc>
                  <a:txBody>
                    <a:bodyPr wrap="square"/>
                    <a:lstStyle/>
                    <a:p>
                      <a:pPr algn="ctr"/>
                      <a:r>
                        <a:rPr sz="1000" b="0">
                          <a:solidFill>
                            <a:srgbClr val="0B0B0B"/>
                          </a:solidFill>
                          <a:latin typeface="Calibri"/>
                        </a:rPr>
                        <a:t>Passive cameras/photodiodes in the space capture ciphertext, tags, nonces (e.g. an outdoor deployment visible from a distance)</a:t>
                      </a:r>
                    </a:p>
                  </a:txBody>
                  <a:tcPr anchor="ctr" marL="91440" marR="91440" marT="45720" marB="45720">
                    <a:solidFill>
                      <a:srgbClr val="F0EFEC"/>
                    </a:solidFill>
                  </a:tcPr>
                </a:tc>
                <a:tc>
                  <a:txBody>
                    <a:bodyPr wrap="square"/>
                    <a:lstStyle/>
                    <a:p>
                      <a:pPr algn="ctr"/>
                      <a:r>
                        <a:rPr sz="1000" b="0">
                          <a:solidFill>
                            <a:srgbClr val="0B0B0B"/>
                          </a:solidFill>
                          <a:latin typeface="Calibri"/>
                        </a:rPr>
                        <a:t>AES-128-GCM confidentiality — plaintext/key never exposed. A confidentiality answer, not a presence-authorization one.</a:t>
                      </a:r>
                    </a:p>
                  </a:txBody>
                  <a:tcPr anchor="ctr" marL="91440" marR="91440" marT="45720" marB="45720">
                    <a:solidFill>
                      <a:srgbClr val="F0EFEC"/>
                    </a:solidFill>
                  </a:tcPr>
                </a:tc>
              </a:tr>
              <a:tr h="662939">
                <a:tc>
                  <a:txBody>
                    <a:bodyPr wrap="square"/>
                    <a:lstStyle/>
                    <a:p>
                      <a:pPr algn="l"/>
                      <a:r>
                        <a:rPr sz="1000" b="0">
                          <a:solidFill>
                            <a:srgbClr val="0B0B0B"/>
                          </a:solidFill>
                          <a:latin typeface="Calibri"/>
                        </a:rPr>
                        <a:t>Relay</a:t>
                      </a:r>
                    </a:p>
                  </a:txBody>
                  <a:tcPr anchor="ctr" marL="91440" marR="91440" marT="45720" marB="45720">
                    <a:solidFill>
                      <a:srgbClr val="FBEAEA"/>
                    </a:solidFill>
                  </a:tcPr>
                </a:tc>
                <a:tc>
                  <a:txBody>
                    <a:bodyPr wrap="square"/>
                    <a:lstStyle/>
                    <a:p>
                      <a:pPr algn="ctr"/>
                      <a:r>
                        <a:rPr sz="1000" b="0">
                          <a:solidFill>
                            <a:srgbClr val="0B0B0B"/>
                          </a:solidFill>
                          <a:latin typeface="Calibri"/>
                        </a:rPr>
                        <a:t>Capture the signal at the legit site, transport over an arbitrary medium (fiber/coax/RF), re-emit from a rogue source elsewhere, with latency δ_relay</a:t>
                      </a:r>
                    </a:p>
                  </a:txBody>
                  <a:tcPr anchor="ctr" marL="91440" marR="91440" marT="45720" marB="45720">
                    <a:solidFill>
                      <a:srgbClr val="FBEAEA"/>
                    </a:solidFill>
                  </a:tcPr>
                </a:tc>
                <a:tc>
                  <a:txBody>
                    <a:bodyPr wrap="square"/>
                    <a:lstStyle/>
                    <a:p>
                      <a:pPr algn="ctr"/>
                      <a:r>
                        <a:rPr sz="1000" b="0">
                          <a:solidFill>
                            <a:srgbClr val="0B0B0B"/>
                          </a:solidFill>
                          <a:latin typeface="Calibri"/>
                        </a:rPr>
                        <a:t>Not defended — this is G3, named explicitly as unachieved, not overlooked.</a:t>
                      </a:r>
                    </a:p>
                  </a:txBody>
                  <a:tcPr anchor="ctr" marL="91440" marR="91440" marT="45720" marB="45720">
                    <a:solidFill>
                      <a:srgbClr val="FBEAEA"/>
                    </a:solidFill>
                  </a:tcPr>
                </a:tc>
              </a:tr>
              <a:tr h="662939">
                <a:tc>
                  <a:txBody>
                    <a:bodyPr wrap="square"/>
                    <a:lstStyle/>
                    <a:p>
                      <a:pPr algn="l"/>
                      <a:r>
                        <a:rPr sz="1000" b="0">
                          <a:solidFill>
                            <a:srgbClr val="0B0B0B"/>
                          </a:solidFill>
                          <a:latin typeface="Calibri"/>
                        </a:rPr>
                        <a:t>Optical Injection</a:t>
                      </a:r>
                    </a:p>
                  </a:txBody>
                  <a:tcPr anchor="ctr" marL="91440" marR="91440" marT="45720" marB="45720">
                    <a:solidFill>
                      <a:srgbClr val="F0EFEC"/>
                    </a:solidFill>
                  </a:tcPr>
                </a:tc>
                <a:tc>
                  <a:txBody>
                    <a:bodyPr wrap="square"/>
                    <a:lstStyle/>
                    <a:p>
                      <a:pPr algn="ctr"/>
                      <a:r>
                        <a:rPr sz="1000" b="0">
                          <a:solidFill>
                            <a:srgbClr val="0B0B0B"/>
                          </a:solidFill>
                          <a:latin typeface="Calibri"/>
                        </a:rPr>
                        <a:t>Rogue light source in the receiver's field of view, attempting crafted frames</a:t>
                      </a:r>
                    </a:p>
                  </a:txBody>
                  <a:tcPr anchor="ctr" marL="91440" marR="91440" marT="45720" marB="45720">
                    <a:solidFill>
                      <a:srgbClr val="F0EFEC"/>
                    </a:solidFill>
                  </a:tcPr>
                </a:tc>
                <a:tc>
                  <a:txBody>
                    <a:bodyPr wrap="square"/>
                    <a:lstStyle/>
                    <a:p>
                      <a:pPr algn="ctr"/>
                      <a:r>
                        <a:rPr sz="1000" b="0">
                          <a:solidFill>
                            <a:srgbClr val="0B0B0B"/>
                          </a:solidFill>
                          <a:latin typeface="Calibri"/>
                        </a:rPr>
                        <a:t>Fails GCM tag verification without the session key. Injecting a captured frame is a replay — caught by G2's nonce window.</a:t>
                      </a:r>
                    </a:p>
                  </a:txBody>
                  <a:tcPr anchor="ctr" marL="91440" marR="91440" marT="45720" marB="45720">
                    <a:solidFill>
                      <a:srgbClr val="F0EFEC"/>
                    </a:solidFill>
                  </a:tcPr>
                </a:tc>
              </a:tr>
              <a:tr h="662944">
                <a:tc>
                  <a:txBody>
                    <a:bodyPr wrap="square"/>
                    <a:lstStyle/>
                    <a:p>
                      <a:pPr algn="l"/>
                      <a:r>
                        <a:rPr sz="1000" b="0">
                          <a:solidFill>
                            <a:srgbClr val="0B0B0B"/>
                          </a:solidFill>
                          <a:latin typeface="Calibri"/>
                        </a:rPr>
                        <a:t>Denial of Service</a:t>
                      </a:r>
                    </a:p>
                  </a:txBody>
                  <a:tcPr anchor="ctr" marL="91440" marR="91440" marT="45720" marB="45720">
                    <a:solidFill>
                      <a:srgbClr val="FFFFFF"/>
                    </a:solidFill>
                  </a:tcPr>
                </a:tc>
                <a:tc>
                  <a:txBody>
                    <a:bodyPr wrap="square"/>
                    <a:lstStyle/>
                    <a:p>
                      <a:pPr algn="ctr"/>
                      <a:r>
                        <a:rPr sz="1000" b="0">
                          <a:solidFill>
                            <a:srgbClr val="0B0B0B"/>
                          </a:solidFill>
                          <a:latin typeface="Calibri"/>
                        </a:rPr>
                        <a:t>Physical obstruction, ambient-light saturation of the front-end, or RF jamming of the provisioning link</a:t>
                      </a:r>
                    </a:p>
                  </a:txBody>
                  <a:tcPr anchor="ctr" marL="91440" marR="91440" marT="45720" marB="45720">
                    <a:solidFill>
                      <a:srgbClr val="FFFFFF"/>
                    </a:solidFill>
                  </a:tcPr>
                </a:tc>
                <a:tc>
                  <a:txBody>
                    <a:bodyPr wrap="square"/>
                    <a:lstStyle/>
                    <a:p>
                      <a:pPr algn="ctr"/>
                      <a:r>
                        <a:rPr sz="1000" b="0">
                          <a:solidFill>
                            <a:srgbClr val="0B0B0B"/>
                          </a:solidFill>
                          <a:latin typeface="Calibri"/>
                        </a:rPr>
                        <a:t>Explicitly not prevented — by design. Fails closed: DoS produces revocation, not persistence.</a:t>
                      </a:r>
                    </a:p>
                  </a:txBody>
                  <a:tcPr anchor="ctr" marL="91440" marR="91440" marT="45720" marB="45720">
                    <a:solidFill>
                      <a:srgbClr val="FFFFFF"/>
                    </a:solidFill>
                  </a:tcPr>
                </a:tc>
              </a:tr>
            </a:tbl>
          </a:graphicData>
        </a:graphic>
      </p:graphicFrame>
      <p:sp>
        <p:nvSpPr>
          <p:cNvPr id="5" name="TextBox 4"/>
          <p:cNvSpPr txBox="1"/>
          <p:nvPr/>
        </p:nvSpPr>
        <p:spPr>
          <a:xfrm>
            <a:off x="685800" y="5760720"/>
            <a:ext cx="10789920" cy="4572000"/>
          </a:xfrm>
          <a:prstGeom prst="rect">
            <a:avLst/>
          </a:prstGeom>
          <a:noFill/>
        </p:spPr>
        <p:txBody>
          <a:bodyPr wrap="square">
            <a:spAutoFit/>
          </a:bodyPr>
          <a:lstStyle/>
          <a:p>
            <a:pPr>
              <a:spcAft>
                <a:spcPts val="600"/>
              </a:spcAft>
            </a:pPr>
            <a:r>
              <a:rPr sz="1100">
                <a:solidFill>
                  <a:srgbClr val="0B0B0B"/>
                </a:solidFill>
                <a:latin typeface="Calibri"/>
              </a:rPr>
              <a:t>●   Is this a good model? Two real strengths: it separates a fully adversarial network channel (standard Dolev-Yao) from a physically-bounded optical channel that needs physical presence to touch — that separation is the thesis's actual argument, not a checkbox threat list. And DoS is scoped as an accepted, named tradeoff (fail-closed) rather than silently ignored.</a:t>
            </a:r>
          </a:p>
          <a:p>
            <a:pPr lvl="1">
              <a:spcAft>
                <a:spcPts val="200"/>
              </a:spcAft>
            </a:pPr>
            <a:r>
              <a:rPr sz="1450">
                <a:solidFill>
                  <a:srgbClr val="52514E"/>
                </a:solidFill>
                <a:latin typeface="Calibri"/>
              </a:rPr>
              <a:t>‒   One real tension: the System Model states communication between ‘the receiver’ and the provisioning service happens over TCP/TLS — but receiver_pico, the hardware actually evaluated for G1/G2/G4, has no TLS client at all; its key arrives by hand over USB (Section: Key Delivery to Receiver). Not fatal, and the paper does caveat it — just not in the Threat Model section itself, where the general claim is made. Worth having the cross-reference ready.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G1–G4 at a Glance</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Status, mechanism, and measured evidence for each — one table</a:t>
            </a:r>
          </a:p>
        </p:txBody>
      </p:sp>
      <p:graphicFrame>
        <p:nvGraphicFramePr>
          <p:cNvPr id="4" name="Table 3"/>
          <p:cNvGraphicFramePr>
            <a:graphicFrameLocks noGrp="1"/>
          </p:cNvGraphicFramePr>
          <p:nvPr/>
        </p:nvGraphicFramePr>
        <p:xfrm>
          <a:off x="685800" y="1691640"/>
          <a:ext cx="11887200" cy="3749039"/>
        </p:xfrm>
        <a:graphic>
          <a:graphicData uri="http://schemas.openxmlformats.org/drawingml/2006/table">
            <a:tbl>
              <a:tblPr firstRow="1" bandRow="1">
                <a:tableStyleId>{5C22544A-7EE6-4342-B048-85BDC9FD1C3A}</a:tableStyleId>
              </a:tblPr>
              <a:tblGrid>
                <a:gridCol w="2651760"/>
                <a:gridCol w="1737360"/>
                <a:gridCol w="3108960"/>
                <a:gridCol w="4389120"/>
              </a:tblGrid>
              <a:tr h="749807">
                <a:tc>
                  <a:txBody>
                    <a:bodyPr wrap="square"/>
                    <a:lstStyle/>
                    <a:p>
                      <a:pPr algn="l"/>
                      <a:r>
                        <a:rPr sz="1350" b="1">
                          <a:solidFill>
                            <a:srgbClr val="FFFFFF"/>
                          </a:solidFill>
                          <a:latin typeface="Calibri"/>
                        </a:rPr>
                        <a:t>Goal</a:t>
                      </a:r>
                    </a:p>
                  </a:txBody>
                  <a:tcPr anchor="ctr" marL="91440" marR="91440" marT="45720" marB="45720">
                    <a:solidFill>
                      <a:srgbClr val="0B0B0B"/>
                    </a:solidFill>
                  </a:tcPr>
                </a:tc>
                <a:tc>
                  <a:txBody>
                    <a:bodyPr wrap="square"/>
                    <a:lstStyle/>
                    <a:p>
                      <a:pPr algn="ctr"/>
                      <a:r>
                        <a:rPr sz="1350" b="1">
                          <a:solidFill>
                            <a:srgbClr val="FFFFFF"/>
                          </a:solidFill>
                          <a:latin typeface="Calibri"/>
                        </a:rPr>
                        <a:t>Status</a:t>
                      </a:r>
                    </a:p>
                  </a:txBody>
                  <a:tcPr anchor="ctr" marL="91440" marR="91440" marT="45720" marB="45720">
                    <a:solidFill>
                      <a:srgbClr val="0B0B0B"/>
                    </a:solidFill>
                  </a:tcPr>
                </a:tc>
                <a:tc>
                  <a:txBody>
                    <a:bodyPr wrap="square"/>
                    <a:lstStyle/>
                    <a:p>
                      <a:pPr algn="ctr"/>
                      <a:r>
                        <a:rPr sz="1350" b="1">
                          <a:solidFill>
                            <a:srgbClr val="FFFFFF"/>
                          </a:solidFill>
                          <a:latin typeface="Calibri"/>
                        </a:rPr>
                        <a:t>Mechanism</a:t>
                      </a:r>
                    </a:p>
                  </a:txBody>
                  <a:tcPr anchor="ctr" marL="91440" marR="91440" marT="45720" marB="45720">
                    <a:solidFill>
                      <a:srgbClr val="0B0B0B"/>
                    </a:solidFill>
                  </a:tcPr>
                </a:tc>
                <a:tc>
                  <a:txBody>
                    <a:bodyPr wrap="square"/>
                    <a:lstStyle/>
                    <a:p>
                      <a:pPr algn="ctr"/>
                      <a:r>
                        <a:rPr sz="1350" b="1">
                          <a:solidFill>
                            <a:srgbClr val="FFFFFF"/>
                          </a:solidFill>
                          <a:latin typeface="Calibri"/>
                        </a:rPr>
                        <a:t>Measured evidence</a:t>
                      </a:r>
                    </a:p>
                  </a:txBody>
                  <a:tcPr anchor="ctr" marL="91440" marR="91440" marT="45720" marB="45720">
                    <a:solidFill>
                      <a:srgbClr val="0B0B0B"/>
                    </a:solidFill>
                  </a:tcPr>
                </a:tc>
              </a:tr>
              <a:tr h="749807">
                <a:tc>
                  <a:txBody>
                    <a:bodyPr wrap="square"/>
                    <a:lstStyle/>
                    <a:p>
                      <a:pPr algn="l"/>
                      <a:r>
                        <a:rPr sz="1050" b="0">
                          <a:solidFill>
                            <a:srgbClr val="0B0B0B"/>
                          </a:solidFill>
                          <a:latin typeface="Calibri"/>
                        </a:rPr>
                        <a:t>G1 — Freshness &amp; Expiration</a:t>
                      </a:r>
                    </a:p>
                  </a:txBody>
                  <a:tcPr anchor="ctr" marL="91440" marR="91440" marT="45720" marB="45720">
                    <a:solidFill>
                      <a:srgbClr val="FFFFFF"/>
                    </a:solidFill>
                  </a:tcPr>
                </a:tc>
                <a:tc>
                  <a:txBody>
                    <a:bodyPr wrap="square"/>
                    <a:lstStyle/>
                    <a:p>
                      <a:pPr algn="ctr"/>
                      <a:r>
                        <a:rPr sz="1050" b="1">
                          <a:solidFill>
                            <a:srgbClr val="0CA30C"/>
                          </a:solidFill>
                          <a:latin typeface="Calibri"/>
                        </a:rPr>
                        <a:t>Achieved</a:t>
                      </a:r>
                    </a:p>
                  </a:txBody>
                  <a:tcPr anchor="ctr" marL="91440" marR="91440" marT="45720" marB="45720">
                    <a:solidFill>
                      <a:srgbClr val="FFFFFF"/>
                    </a:solidFill>
                  </a:tcPr>
                </a:tc>
                <a:tc>
                  <a:txBody>
                    <a:bodyPr wrap="square"/>
                    <a:lstStyle/>
                    <a:p>
                      <a:pPr algn="ctr"/>
                      <a:r>
                        <a:rPr sz="1050" b="0">
                          <a:solidFill>
                            <a:srgbClr val="0B0B0B"/>
                          </a:solidFill>
                          <a:latin typeface="Calibri"/>
                        </a:rPr>
                        <a:t>t_last vs Δ=15s window</a:t>
                      </a:r>
                    </a:p>
                  </a:txBody>
                  <a:tcPr anchor="ctr" marL="91440" marR="91440" marT="45720" marB="45720">
                    <a:solidFill>
                      <a:srgbClr val="FFFFFF"/>
                    </a:solidFill>
                  </a:tcPr>
                </a:tc>
                <a:tc>
                  <a:txBody>
                    <a:bodyPr wrap="square"/>
                    <a:lstStyle/>
                    <a:p>
                      <a:pPr algn="ctr"/>
                      <a:r>
                        <a:rPr sz="1050" b="0">
                          <a:solidFill>
                            <a:srgbClr val="0B0B0B"/>
                          </a:solidFill>
                          <a:latin typeface="Calibri"/>
                        </a:rPr>
                        <a:t>960-frame / 40-min benign session: 0% false-revoke at every candidate Δ tested (3–30s)</a:t>
                      </a:r>
                    </a:p>
                  </a:txBody>
                  <a:tcPr anchor="ctr" marL="91440" marR="91440" marT="45720" marB="45720">
                    <a:solidFill>
                      <a:srgbClr val="FFFFFF"/>
                    </a:solidFill>
                  </a:tcPr>
                </a:tc>
              </a:tr>
              <a:tr h="749807">
                <a:tc>
                  <a:txBody>
                    <a:bodyPr wrap="square"/>
                    <a:lstStyle/>
                    <a:p>
                      <a:pPr algn="l"/>
                      <a:r>
                        <a:rPr sz="1050" b="0">
                          <a:solidFill>
                            <a:srgbClr val="0B0B0B"/>
                          </a:solidFill>
                          <a:latin typeface="Calibri"/>
                        </a:rPr>
                        <a:t>G2 — Replay Resistance</a:t>
                      </a:r>
                    </a:p>
                  </a:txBody>
                  <a:tcPr anchor="ctr" marL="91440" marR="91440" marT="45720" marB="45720">
                    <a:solidFill>
                      <a:srgbClr val="F0EFEC"/>
                    </a:solidFill>
                  </a:tcPr>
                </a:tc>
                <a:tc>
                  <a:txBody>
                    <a:bodyPr wrap="square"/>
                    <a:lstStyle/>
                    <a:p>
                      <a:pPr algn="ctr"/>
                      <a:r>
                        <a:rPr sz="1050" b="1">
                          <a:solidFill>
                            <a:srgbClr val="FAB219"/>
                          </a:solidFill>
                          <a:latin typeface="Calibri"/>
                        </a:rPr>
                        <a:t>Achieved, bounded</a:t>
                      </a:r>
                    </a:p>
                  </a:txBody>
                  <a:tcPr anchor="ctr" marL="91440" marR="91440" marT="45720" marB="45720">
                    <a:solidFill>
                      <a:srgbClr val="F0EFEC"/>
                    </a:solidFill>
                  </a:tcPr>
                </a:tc>
                <a:tc>
                  <a:txBody>
                    <a:bodyPr wrap="square"/>
                    <a:lstStyle/>
                    <a:p>
                      <a:pPr algn="ctr"/>
                      <a:r>
                        <a:rPr sz="1050" b="0">
                          <a:solidFill>
                            <a:srgbClr val="0B0B0B"/>
                          </a:solidFill>
                          <a:latin typeface="Calibri"/>
                        </a:rPr>
                        <a:t>64-entry nonce sliding window, checked before decryption</a:t>
                      </a:r>
                    </a:p>
                  </a:txBody>
                  <a:tcPr anchor="ctr" marL="91440" marR="91440" marT="45720" marB="45720">
                    <a:solidFill>
                      <a:srgbClr val="F0EFEC"/>
                    </a:solidFill>
                  </a:tcPr>
                </a:tc>
                <a:tc>
                  <a:txBody>
                    <a:bodyPr wrap="square"/>
                    <a:lstStyle/>
                    <a:p>
                      <a:pPr algn="ctr"/>
                      <a:r>
                        <a:rPr sz="1050" b="0">
                          <a:solidFill>
                            <a:srgbClr val="0B0B0B"/>
                          </a:solidFill>
                          <a:latin typeface="Calibri"/>
                        </a:rPr>
                        <a:t>25/25 replayed frames rejected. Boundary test (2-entry window): 25/25 accepted once the nonce aged out — real, disclosed edge case.</a:t>
                      </a:r>
                    </a:p>
                  </a:txBody>
                  <a:tcPr anchor="ctr" marL="91440" marR="91440" marT="45720" marB="45720">
                    <a:solidFill>
                      <a:srgbClr val="F0EFEC"/>
                    </a:solidFill>
                  </a:tcPr>
                </a:tc>
              </a:tr>
              <a:tr h="749807">
                <a:tc>
                  <a:txBody>
                    <a:bodyPr wrap="square"/>
                    <a:lstStyle/>
                    <a:p>
                      <a:pPr algn="l"/>
                      <a:r>
                        <a:rPr sz="1050" b="0">
                          <a:solidFill>
                            <a:srgbClr val="0B0B0B"/>
                          </a:solidFill>
                          <a:latin typeface="Calibri"/>
                        </a:rPr>
                        <a:t>G3 — Relay-Bounded Authorization</a:t>
                      </a:r>
                    </a:p>
                  </a:txBody>
                  <a:tcPr anchor="ctr" marL="91440" marR="91440" marT="45720" marB="45720">
                    <a:solidFill>
                      <a:srgbClr val="FFFFFF"/>
                    </a:solidFill>
                  </a:tcPr>
                </a:tc>
                <a:tc>
                  <a:txBody>
                    <a:bodyPr wrap="square"/>
                    <a:lstStyle/>
                    <a:p>
                      <a:pPr algn="ctr"/>
                      <a:r>
                        <a:rPr sz="1050" b="1">
                          <a:solidFill>
                            <a:srgbClr val="D03B3B"/>
                          </a:solidFill>
                          <a:latin typeface="Calibri"/>
                        </a:rPr>
                        <a:t>Not achieved (named)</a:t>
                      </a:r>
                    </a:p>
                  </a:txBody>
                  <a:tcPr anchor="ctr" marL="91440" marR="91440" marT="45720" marB="45720">
                    <a:solidFill>
                      <a:srgbClr val="FFFFFF"/>
                    </a:solidFill>
                  </a:tcPr>
                </a:tc>
                <a:tc>
                  <a:txBody>
                    <a:bodyPr wrap="square"/>
                    <a:lstStyle/>
                    <a:p>
                      <a:pPr algn="ctr"/>
                      <a:r>
                        <a:rPr sz="1050" b="0">
                          <a:solidFill>
                            <a:srgbClr val="0B0B0B"/>
                          </a:solidFill>
                          <a:latin typeface="Calibri"/>
                        </a:rPr>
                        <a:t>Would require a Brands–Chaum RTT challenge-response</a:t>
                      </a:r>
                    </a:p>
                  </a:txBody>
                  <a:tcPr anchor="ctr" marL="91440" marR="91440" marT="45720" marB="45720">
                    <a:solidFill>
                      <a:srgbClr val="FFFFFF"/>
                    </a:solidFill>
                  </a:tcPr>
                </a:tc>
                <a:tc>
                  <a:txBody>
                    <a:bodyPr wrap="square"/>
                    <a:lstStyle/>
                    <a:p>
                      <a:pPr algn="ctr"/>
                      <a:r>
                        <a:rPr sz="1050" b="0">
                          <a:solidFill>
                            <a:srgbClr val="0B0B0B"/>
                          </a:solidFill>
                          <a:latin typeface="Calibri"/>
                        </a:rPr>
                        <a:t>Verified against source: no timestamp/RTT field on the data path. 3–6ms frame latency margin suggests room to add one.</a:t>
                      </a:r>
                    </a:p>
                  </a:txBody>
                  <a:tcPr anchor="ctr" marL="91440" marR="91440" marT="45720" marB="45720">
                    <a:solidFill>
                      <a:srgbClr val="FFFFFF"/>
                    </a:solidFill>
                  </a:tcPr>
                </a:tc>
              </a:tr>
              <a:tr h="749811">
                <a:tc>
                  <a:txBody>
                    <a:bodyPr wrap="square"/>
                    <a:lstStyle/>
                    <a:p>
                      <a:pPr algn="l"/>
                      <a:r>
                        <a:rPr sz="1050" b="0">
                          <a:solidFill>
                            <a:srgbClr val="0B0B0B"/>
                          </a:solidFill>
                          <a:latin typeface="Calibri"/>
                        </a:rPr>
                        <a:t>G4 — Revocation on Interruption</a:t>
                      </a:r>
                    </a:p>
                  </a:txBody>
                  <a:tcPr anchor="ctr" marL="91440" marR="91440" marT="45720" marB="45720">
                    <a:solidFill>
                      <a:srgbClr val="F0EFEC"/>
                    </a:solidFill>
                  </a:tcPr>
                </a:tc>
                <a:tc>
                  <a:txBody>
                    <a:bodyPr wrap="square"/>
                    <a:lstStyle/>
                    <a:p>
                      <a:pPr algn="ctr"/>
                      <a:r>
                        <a:rPr sz="1050" b="1">
                          <a:solidFill>
                            <a:srgbClr val="0CA30C"/>
                          </a:solidFill>
                          <a:latin typeface="Calibri"/>
                        </a:rPr>
                        <a:t>Achieved</a:t>
                      </a:r>
                    </a:p>
                  </a:txBody>
                  <a:tcPr anchor="ctr" marL="91440" marR="91440" marT="45720" marB="45720">
                    <a:solidFill>
                      <a:srgbClr val="F0EFEC"/>
                    </a:solidFill>
                  </a:tcPr>
                </a:tc>
                <a:tc>
                  <a:txBody>
                    <a:bodyPr wrap="square"/>
                    <a:lstStyle/>
                    <a:p>
                      <a:pPr algn="ctr"/>
                      <a:r>
                        <a:rPr sz="1050" b="0">
                          <a:solidFill>
                            <a:srgbClr val="0B0B0B"/>
                          </a:solidFill>
                          <a:latin typeface="Calibri"/>
                        </a:rPr>
                        <a:t>Direct corollary of G1 — absence of a fresh frame is itself the revocation event</a:t>
                      </a:r>
                    </a:p>
                  </a:txBody>
                  <a:tcPr anchor="ctr" marL="91440" marR="91440" marT="45720" marB="45720">
                    <a:solidFill>
                      <a:srgbClr val="F0EFEC"/>
                    </a:solidFill>
                  </a:tcPr>
                </a:tc>
                <a:tc>
                  <a:txBody>
                    <a:bodyPr wrap="square"/>
                    <a:lstStyle/>
                    <a:p>
                      <a:pPr algn="ctr"/>
                      <a:r>
                        <a:rPr sz="1050" b="0">
                          <a:solidFill>
                            <a:srgbClr val="0B0B0B"/>
                          </a:solidFill>
                          <a:latin typeface="Calibri"/>
                        </a:rPr>
                        <a:t>25 on-device trials: 15.001s ± 0.000s time-to-revoke, every trial. ~1.3s time-to-reverify.</a:t>
                      </a:r>
                    </a:p>
                  </a:txBody>
                  <a:tcPr anchor="ctr" marL="91440" marR="91440" marT="45720" marB="45720">
                    <a:solidFill>
                      <a:srgbClr val="F0EFEC"/>
                    </a:solidFill>
                  </a:tcPr>
                </a:tc>
              </a:tr>
            </a:tbl>
          </a:graphicData>
        </a:graphic>
      </p:graphicFrame>
      <p:sp>
        <p:nvSpPr>
          <p:cNvPr id="5" name="TextBox 4"/>
          <p:cNvSpPr txBox="1"/>
          <p:nvPr/>
        </p:nvSpPr>
        <p:spPr>
          <a:xfrm>
            <a:off x="502920" y="5760720"/>
            <a:ext cx="11155680" cy="548640"/>
          </a:xfrm>
          <a:prstGeom prst="rect">
            <a:avLst/>
          </a:prstGeom>
          <a:noFill/>
        </p:spPr>
        <p:txBody>
          <a:bodyPr wrap="square">
            <a:spAutoFit/>
          </a:bodyPr>
          <a:lstStyle/>
          <a:p>
            <a:pPr algn="ctr"/>
            <a:r>
              <a:rPr sz="1250" i="0" b="1">
                <a:solidFill>
                  <a:srgbClr val="0B0B0B"/>
                </a:solidFill>
                <a:latin typeface="Calibri"/>
              </a:rPr>
              <a:t>Three goals achieved and measured, each with its own honestly-disclosed edge case. One goal explicitly not achieved, with a named reason and a concrete path to closing it. That's the whole security story in one 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Known Limitations, Ranked</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Every row below is already in the paper's own text — none were found by a reviewer first</a:t>
            </a:r>
          </a:p>
        </p:txBody>
      </p:sp>
      <p:graphicFrame>
        <p:nvGraphicFramePr>
          <p:cNvPr id="4" name="Table 3"/>
          <p:cNvGraphicFramePr>
            <a:graphicFrameLocks noGrp="1"/>
          </p:cNvGraphicFramePr>
          <p:nvPr/>
        </p:nvGraphicFramePr>
        <p:xfrm>
          <a:off x="685800" y="1600200"/>
          <a:ext cx="11430000" cy="3977639"/>
        </p:xfrm>
        <a:graphic>
          <a:graphicData uri="http://schemas.openxmlformats.org/drawingml/2006/table">
            <a:tbl>
              <a:tblPr firstRow="1" bandRow="1">
                <a:tableStyleId>{5C22544A-7EE6-4342-B048-85BDC9FD1C3A}</a:tableStyleId>
              </a:tblPr>
              <a:tblGrid>
                <a:gridCol w="457200"/>
                <a:gridCol w="3108960"/>
                <a:gridCol w="3108960"/>
                <a:gridCol w="4754880"/>
              </a:tblGrid>
              <a:tr h="568234">
                <a:tc>
                  <a:txBody>
                    <a:bodyPr wrap="square"/>
                    <a:lstStyle/>
                    <a:p>
                      <a:pPr algn="l"/>
                      <a:r>
                        <a:rPr sz="1350" b="1">
                          <a:solidFill>
                            <a:srgbClr val="FFFFFF"/>
                          </a:solidFill>
                          <a:latin typeface="Calibri"/>
                        </a:rPr>
                        <a:t>#</a:t>
                      </a:r>
                    </a:p>
                  </a:txBody>
                  <a:tcPr anchor="ctr" marL="91440" marR="91440" marT="45720" marB="45720">
                    <a:solidFill>
                      <a:srgbClr val="0B0B0B"/>
                    </a:solidFill>
                  </a:tcPr>
                </a:tc>
                <a:tc>
                  <a:txBody>
                    <a:bodyPr wrap="square"/>
                    <a:lstStyle/>
                    <a:p>
                      <a:pPr algn="ctr"/>
                      <a:r>
                        <a:rPr sz="1350" b="1">
                          <a:solidFill>
                            <a:srgbClr val="FFFFFF"/>
                          </a:solidFill>
                          <a:latin typeface="Calibri"/>
                        </a:rPr>
                        <a:t>Limitation</a:t>
                      </a:r>
                    </a:p>
                  </a:txBody>
                  <a:tcPr anchor="ctr" marL="91440" marR="91440" marT="45720" marB="45720">
                    <a:solidFill>
                      <a:srgbClr val="0B0B0B"/>
                    </a:solidFill>
                  </a:tcPr>
                </a:tc>
                <a:tc>
                  <a:txBody>
                    <a:bodyPr wrap="square"/>
                    <a:lstStyle/>
                    <a:p>
                      <a:pPr algn="ctr"/>
                      <a:r>
                        <a:rPr sz="1350" b="1">
                          <a:solidFill>
                            <a:srgbClr val="FFFFFF"/>
                          </a:solidFill>
                          <a:latin typeface="Calibri"/>
                        </a:rPr>
                        <a:t>Already acknowledged where</a:t>
                      </a:r>
                    </a:p>
                  </a:txBody>
                  <a:tcPr anchor="ctr" marL="91440" marR="91440" marT="45720" marB="45720">
                    <a:solidFill>
                      <a:srgbClr val="0B0B0B"/>
                    </a:solidFill>
                  </a:tcPr>
                </a:tc>
                <a:tc>
                  <a:txBody>
                    <a:bodyPr wrap="square"/>
                    <a:lstStyle/>
                    <a:p>
                      <a:pPr algn="ctr"/>
                      <a:r>
                        <a:rPr sz="1350" b="1">
                          <a:solidFill>
                            <a:srgbClr val="FFFFFF"/>
                          </a:solidFill>
                          <a:latin typeface="Calibri"/>
                        </a:rPr>
                        <a:t>Why it matters</a:t>
                      </a:r>
                    </a:p>
                  </a:txBody>
                  <a:tcPr anchor="ctr" marL="91440" marR="91440" marT="45720" marB="45720">
                    <a:solidFill>
                      <a:srgbClr val="0B0B0B"/>
                    </a:solidFill>
                  </a:tcPr>
                </a:tc>
              </a:tr>
              <a:tr h="568234">
                <a:tc>
                  <a:txBody>
                    <a:bodyPr wrap="square"/>
                    <a:lstStyle/>
                    <a:p>
                      <a:pPr algn="l"/>
                      <a:r>
                        <a:rPr sz="1000" b="0">
                          <a:solidFill>
                            <a:srgbClr val="0B0B0B"/>
                          </a:solidFill>
                          <a:latin typeface="Calibri"/>
                        </a:rPr>
                        <a:t>1</a:t>
                      </a:r>
                    </a:p>
                  </a:txBody>
                  <a:tcPr anchor="ctr" marL="91440" marR="91440" marT="45720" marB="45720">
                    <a:solidFill>
                      <a:srgbClr val="FFFFFF"/>
                    </a:solidFill>
                  </a:tcPr>
                </a:tc>
                <a:tc>
                  <a:txBody>
                    <a:bodyPr wrap="square"/>
                    <a:lstStyle/>
                    <a:p>
                      <a:pPr algn="ctr"/>
                      <a:r>
                        <a:rPr sz="1000" b="0">
                          <a:solidFill>
                            <a:srgbClr val="0B0B0B"/>
                          </a:solidFill>
                          <a:latin typeface="Calibri"/>
                        </a:rPr>
                        <a:t>No relay resistance (G3)</a:t>
                      </a:r>
                    </a:p>
                  </a:txBody>
                  <a:tcPr anchor="ctr" marL="91440" marR="91440" marT="45720" marB="45720">
                    <a:solidFill>
                      <a:srgbClr val="FFFFFF"/>
                    </a:solidFill>
                  </a:tcPr>
                </a:tc>
                <a:tc>
                  <a:txBody>
                    <a:bodyPr wrap="square"/>
                    <a:lstStyle/>
                    <a:p>
                      <a:pPr algn="ctr"/>
                      <a:r>
                        <a:rPr sz="1000" b="0">
                          <a:solidFill>
                            <a:srgbClr val="0B0B0B"/>
                          </a:solidFill>
                          <a:latin typeface="Calibri"/>
                        </a:rPr>
                        <a:t>Threat Model §G3, Discussion, Limitations #2</a:t>
                      </a:r>
                    </a:p>
                  </a:txBody>
                  <a:tcPr anchor="ctr" marL="91440" marR="91440" marT="45720" marB="45720">
                    <a:solidFill>
                      <a:srgbClr val="FFFFFF"/>
                    </a:solidFill>
                  </a:tcPr>
                </a:tc>
                <a:tc>
                  <a:txBody>
                    <a:bodyPr wrap="square"/>
                    <a:lstStyle/>
                    <a:p>
                      <a:pPr algn="ctr"/>
                      <a:r>
                        <a:rPr sz="1000" b="0">
                          <a:solidFill>
                            <a:srgbClr val="0B0B0B"/>
                          </a:solidFill>
                          <a:latin typeface="Calibri"/>
                        </a:rPr>
                        <a:t>Already has 2 dedicated slides here — the single most likely question overall</a:t>
                      </a:r>
                    </a:p>
                  </a:txBody>
                  <a:tcPr anchor="ctr" marL="91440" marR="91440" marT="45720" marB="45720">
                    <a:solidFill>
                      <a:srgbClr val="FFFFFF"/>
                    </a:solidFill>
                  </a:tcPr>
                </a:tc>
              </a:tr>
              <a:tr h="568234">
                <a:tc>
                  <a:txBody>
                    <a:bodyPr wrap="square"/>
                    <a:lstStyle/>
                    <a:p>
                      <a:pPr algn="l"/>
                      <a:r>
                        <a:rPr sz="1000" b="0">
                          <a:solidFill>
                            <a:srgbClr val="0B0B0B"/>
                          </a:solidFill>
                          <a:latin typeface="Calibri"/>
                        </a:rPr>
                        <a:t>2</a:t>
                      </a:r>
                    </a:p>
                  </a:txBody>
                  <a:tcPr anchor="ctr" marL="91440" marR="91440" marT="45720" marB="45720">
                    <a:solidFill>
                      <a:srgbClr val="F0EFEC"/>
                    </a:solidFill>
                  </a:tcPr>
                </a:tc>
                <a:tc>
                  <a:txBody>
                    <a:bodyPr wrap="square"/>
                    <a:lstStyle/>
                    <a:p>
                      <a:pPr algn="ctr"/>
                      <a:r>
                        <a:rPr sz="1000" b="0">
                          <a:solidFill>
                            <a:srgbClr val="0B0B0B"/>
                          </a:solidFill>
                          <a:latin typeface="Calibri"/>
                        </a:rPr>
                        <a:t>Receiver key delivery is manual, not independently authenticated</a:t>
                      </a:r>
                    </a:p>
                  </a:txBody>
                  <a:tcPr anchor="ctr" marL="91440" marR="91440" marT="45720" marB="45720">
                    <a:solidFill>
                      <a:srgbClr val="F0EFEC"/>
                    </a:solidFill>
                  </a:tcPr>
                </a:tc>
                <a:tc>
                  <a:txBody>
                    <a:bodyPr wrap="square"/>
                    <a:lstStyle/>
                    <a:p>
                      <a:pPr algn="ctr"/>
                      <a:r>
                        <a:rPr sz="1000" b="0">
                          <a:solidFill>
                            <a:srgbClr val="0B0B0B"/>
                          </a:solidFill>
                          <a:latin typeface="Calibri"/>
                        </a:rPr>
                        <a:t>Limitations #6</a:t>
                      </a:r>
                    </a:p>
                  </a:txBody>
                  <a:tcPr anchor="ctr" marL="91440" marR="91440" marT="45720" marB="45720">
                    <a:solidFill>
                      <a:srgbClr val="F0EFEC"/>
                    </a:solidFill>
                  </a:tcPr>
                </a:tc>
                <a:tc>
                  <a:txBody>
                    <a:bodyPr wrap="square"/>
                    <a:lstStyle/>
                    <a:p>
                      <a:pPr algn="ctr"/>
                      <a:r>
                        <a:rPr sz="1000" b="0">
                          <a:solidFill>
                            <a:srgbClr val="0B0B0B"/>
                          </a:solidFill>
                          <a:latin typeface="Calibri"/>
                        </a:rPr>
                        <a:t>No second corroborating channel, unlike the sender's HMAC handshake (→ Trust Assumption #5's boundary)</a:t>
                      </a:r>
                    </a:p>
                  </a:txBody>
                  <a:tcPr anchor="ctr" marL="91440" marR="91440" marT="45720" marB="45720">
                    <a:solidFill>
                      <a:srgbClr val="F0EFEC"/>
                    </a:solidFill>
                  </a:tcPr>
                </a:tc>
              </a:tr>
              <a:tr h="568234">
                <a:tc>
                  <a:txBody>
                    <a:bodyPr wrap="square"/>
                    <a:lstStyle/>
                    <a:p>
                      <a:pPr algn="l"/>
                      <a:r>
                        <a:rPr sz="1000" b="0">
                          <a:solidFill>
                            <a:srgbClr val="0B0B0B"/>
                          </a:solidFill>
                          <a:latin typeface="Calibri"/>
                        </a:rPr>
                        <a:t>3</a:t>
                      </a:r>
                    </a:p>
                  </a:txBody>
                  <a:tcPr anchor="ctr" marL="91440" marR="91440" marT="45720" marB="45720">
                    <a:solidFill>
                      <a:srgbClr val="FFFFFF"/>
                    </a:solidFill>
                  </a:tcPr>
                </a:tc>
                <a:tc>
                  <a:txBody>
                    <a:bodyPr wrap="square"/>
                    <a:lstStyle/>
                    <a:p>
                      <a:pPr algn="ctr"/>
                      <a:r>
                        <a:rPr sz="1000" b="0">
                          <a:solidFill>
                            <a:srgbClr val="0B0B0B"/>
                          </a:solidFill>
                          <a:latin typeface="Calibri"/>
                        </a:rPr>
                        <a:t>No hardware key protection</a:t>
                      </a:r>
                    </a:p>
                  </a:txBody>
                  <a:tcPr anchor="ctr" marL="91440" marR="91440" marT="45720" marB="45720">
                    <a:solidFill>
                      <a:srgbClr val="FFFFFF"/>
                    </a:solidFill>
                  </a:tcPr>
                </a:tc>
                <a:tc>
                  <a:txBody>
                    <a:bodyPr wrap="square"/>
                    <a:lstStyle/>
                    <a:p>
                      <a:pPr algn="ctr"/>
                      <a:r>
                        <a:rPr sz="1000" b="0">
                          <a:solidFill>
                            <a:srgbClr val="0B0B0B"/>
                          </a:solidFill>
                          <a:latin typeface="Calibri"/>
                        </a:rPr>
                        <a:t>Limitations #5</a:t>
                      </a:r>
                    </a:p>
                  </a:txBody>
                  <a:tcPr anchor="ctr" marL="91440" marR="91440" marT="45720" marB="45720">
                    <a:solidFill>
                      <a:srgbClr val="FFFFFF"/>
                    </a:solidFill>
                  </a:tcPr>
                </a:tc>
                <a:tc>
                  <a:txBody>
                    <a:bodyPr wrap="square"/>
                    <a:lstStyle/>
                    <a:p>
                      <a:pPr algn="ctr"/>
                      <a:r>
                        <a:rPr sz="1000" b="0">
                          <a:solidFill>
                            <a:srgbClr val="0B0B0B"/>
                          </a:solidFill>
                          <a:latin typeface="Calibri"/>
                        </a:rPr>
                        <a:t>Session key extractable via physical access + debugger (→ Trust Assumption #2)</a:t>
                      </a:r>
                    </a:p>
                  </a:txBody>
                  <a:tcPr anchor="ctr" marL="91440" marR="91440" marT="45720" marB="45720">
                    <a:solidFill>
                      <a:srgbClr val="FFFFFF"/>
                    </a:solidFill>
                  </a:tcPr>
                </a:tc>
              </a:tr>
              <a:tr h="568234">
                <a:tc>
                  <a:txBody>
                    <a:bodyPr wrap="square"/>
                    <a:lstStyle/>
                    <a:p>
                      <a:pPr algn="l"/>
                      <a:r>
                        <a:rPr sz="1000" b="0">
                          <a:solidFill>
                            <a:srgbClr val="0B0B0B"/>
                          </a:solidFill>
                          <a:latin typeface="Calibri"/>
                        </a:rPr>
                        <a:t>4</a:t>
                      </a:r>
                    </a:p>
                  </a:txBody>
                  <a:tcPr anchor="ctr" marL="91440" marR="91440" marT="45720" marB="45720">
                    <a:solidFill>
                      <a:srgbClr val="F0EFEC"/>
                    </a:solidFill>
                  </a:tcPr>
                </a:tc>
                <a:tc>
                  <a:txBody>
                    <a:bodyPr wrap="square"/>
                    <a:lstStyle/>
                    <a:p>
                      <a:pPr algn="ctr"/>
                      <a:r>
                        <a:rPr sz="1000" b="0">
                          <a:solidFill>
                            <a:srgbClr val="0B0B0B"/>
                          </a:solidFill>
                          <a:latin typeface="Calibri"/>
                        </a:rPr>
                        <a:t>Replay window is bounded, not permanent</a:t>
                      </a:r>
                    </a:p>
                  </a:txBody>
                  <a:tcPr anchor="ctr" marL="91440" marR="91440" marT="45720" marB="45720">
                    <a:solidFill>
                      <a:srgbClr val="F0EFEC"/>
                    </a:solidFill>
                  </a:tcPr>
                </a:tc>
                <a:tc>
                  <a:txBody>
                    <a:bodyPr wrap="square"/>
                    <a:lstStyle/>
                    <a:p>
                      <a:pPr algn="ctr"/>
                      <a:r>
                        <a:rPr sz="1000" b="0">
                          <a:solidFill>
                            <a:srgbClr val="0B0B0B"/>
                          </a:solidFill>
                          <a:latin typeface="Calibri"/>
                        </a:rPr>
                        <a:t>Security Validation — replay window boundary test</a:t>
                      </a:r>
                    </a:p>
                  </a:txBody>
                  <a:tcPr anchor="ctr" marL="91440" marR="91440" marT="45720" marB="45720">
                    <a:solidFill>
                      <a:srgbClr val="F0EFEC"/>
                    </a:solidFill>
                  </a:tcPr>
                </a:tc>
                <a:tc>
                  <a:txBody>
                    <a:bodyPr wrap="square"/>
                    <a:lstStyle/>
                    <a:p>
                      <a:pPr algn="ctr"/>
                      <a:r>
                        <a:rPr sz="1000" b="0">
                          <a:solidFill>
                            <a:srgbClr val="0B0B0B"/>
                          </a:solidFill>
                          <a:latin typeface="Calibri"/>
                        </a:rPr>
                        <a:t>Demonstrated directly: 25/25 replayed frames accepted once a shrunk window aged the nonce out</a:t>
                      </a:r>
                    </a:p>
                  </a:txBody>
                  <a:tcPr anchor="ctr" marL="91440" marR="91440" marT="45720" marB="45720">
                    <a:solidFill>
                      <a:srgbClr val="F0EFEC"/>
                    </a:solidFill>
                  </a:tcPr>
                </a:tc>
              </a:tr>
              <a:tr h="568234">
                <a:tc>
                  <a:txBody>
                    <a:bodyPr wrap="square"/>
                    <a:lstStyle/>
                    <a:p>
                      <a:pPr algn="l"/>
                      <a:r>
                        <a:rPr sz="1000" b="0">
                          <a:solidFill>
                            <a:srgbClr val="0B0B0B"/>
                          </a:solidFill>
                          <a:latin typeface="Calibri"/>
                        </a:rPr>
                        <a:t>5</a:t>
                      </a:r>
                    </a:p>
                  </a:txBody>
                  <a:tcPr anchor="ctr" marL="91440" marR="91440" marT="45720" marB="45720">
                    <a:solidFill>
                      <a:srgbClr val="FFFFFF"/>
                    </a:solidFill>
                  </a:tcPr>
                </a:tc>
                <a:tc>
                  <a:txBody>
                    <a:bodyPr wrap="square"/>
                    <a:lstStyle/>
                    <a:p>
                      <a:pPr algn="ctr"/>
                      <a:r>
                        <a:rPr sz="1000" b="0">
                          <a:solidFill>
                            <a:srgbClr val="0B0B0B"/>
                          </a:solidFill>
                          <a:latin typeface="Calibri"/>
                        </a:rPr>
                        <a:t>Δ=15s validated only against heartbeat-only traffic</a:t>
                      </a:r>
                    </a:p>
                  </a:txBody>
                  <a:tcPr anchor="ctr" marL="91440" marR="91440" marT="45720" marB="45720">
                    <a:solidFill>
                      <a:srgbClr val="FFFFFF"/>
                    </a:solidFill>
                  </a:tcPr>
                </a:tc>
                <a:tc>
                  <a:txBody>
                    <a:bodyPr wrap="square"/>
                    <a:lstStyle/>
                    <a:p>
                      <a:pPr algn="ctr"/>
                      <a:r>
                        <a:rPr sz="1000" b="0">
                          <a:solidFill>
                            <a:srgbClr val="0B0B0B"/>
                          </a:solidFill>
                          <a:latin typeface="Calibri"/>
                        </a:rPr>
                        <a:t>Evaluation — Δ sensitivity</a:t>
                      </a:r>
                    </a:p>
                  </a:txBody>
                  <a:tcPr anchor="ctr" marL="91440" marR="91440" marT="45720" marB="45720">
                    <a:solidFill>
                      <a:srgbClr val="FFFFFF"/>
                    </a:solidFill>
                  </a:tcPr>
                </a:tc>
                <a:tc>
                  <a:txBody>
                    <a:bodyPr wrap="square"/>
                    <a:lstStyle/>
                    <a:p>
                      <a:pPr algn="ctr"/>
                      <a:r>
                        <a:rPr sz="1000" b="0">
                          <a:solidFill>
                            <a:srgbClr val="0B0B0B"/>
                          </a:solidFill>
                          <a:latin typeface="Calibri"/>
                        </a:rPr>
                        <a:t>Paper's own words: “degenerate rather than informative” — real degraded-signal validation is future work</a:t>
                      </a:r>
                    </a:p>
                  </a:txBody>
                  <a:tcPr anchor="ctr" marL="91440" marR="91440" marT="45720" marB="45720">
                    <a:solidFill>
                      <a:srgbClr val="FFFFFF"/>
                    </a:solidFill>
                  </a:tcPr>
                </a:tc>
              </a:tr>
              <a:tr h="568235">
                <a:tc>
                  <a:txBody>
                    <a:bodyPr wrap="square"/>
                    <a:lstStyle/>
                    <a:p>
                      <a:pPr algn="l"/>
                      <a:r>
                        <a:rPr sz="1000" b="0">
                          <a:solidFill>
                            <a:srgbClr val="0B0B0B"/>
                          </a:solidFill>
                          <a:latin typeface="Calibri"/>
                        </a:rPr>
                        <a:t>6</a:t>
                      </a:r>
                    </a:p>
                  </a:txBody>
                  <a:tcPr anchor="ctr" marL="91440" marR="91440" marT="45720" marB="45720">
                    <a:solidFill>
                      <a:srgbClr val="F0EFEC"/>
                    </a:solidFill>
                  </a:tcPr>
                </a:tc>
                <a:tc>
                  <a:txBody>
                    <a:bodyPr wrap="square"/>
                    <a:lstStyle/>
                    <a:p>
                      <a:pPr algn="ctr"/>
                      <a:r>
                        <a:rPr sz="1000" b="0">
                          <a:solidFill>
                            <a:srgbClr val="0B0B0B"/>
                          </a:solidFill>
                          <a:latin typeface="Calibri"/>
                        </a:rPr>
                        <a:t>Line-of-sight / ambient-light sensitivity</a:t>
                      </a:r>
                    </a:p>
                  </a:txBody>
                  <a:tcPr anchor="ctr" marL="91440" marR="91440" marT="45720" marB="45720">
                    <a:solidFill>
                      <a:srgbClr val="F0EFEC"/>
                    </a:solidFill>
                  </a:tcPr>
                </a:tc>
                <a:tc>
                  <a:txBody>
                    <a:bodyPr wrap="square"/>
                    <a:lstStyle/>
                    <a:p>
                      <a:pPr algn="ctr"/>
                      <a:r>
                        <a:rPr sz="1000" b="0">
                          <a:solidFill>
                            <a:srgbClr val="0B0B0B"/>
                          </a:solidFill>
                          <a:latin typeface="Calibri"/>
                        </a:rPr>
                        <a:t>Limitations #1, #4</a:t>
                      </a:r>
                    </a:p>
                  </a:txBody>
                  <a:tcPr anchor="ctr" marL="91440" marR="91440" marT="45720" marB="45720">
                    <a:solidFill>
                      <a:srgbClr val="F0EFEC"/>
                    </a:solidFill>
                  </a:tcPr>
                </a:tc>
                <a:tc>
                  <a:txBody>
                    <a:bodyPr wrap="square"/>
                    <a:lstStyle/>
                    <a:p>
                      <a:pPr algn="ctr"/>
                      <a:r>
                        <a:rPr sz="1000" b="0">
                          <a:solidFill>
                            <a:srgbClr val="0B0B0B"/>
                          </a:solidFill>
                          <a:latin typeface="Calibri"/>
                        </a:rPr>
                        <a:t>Dust, fog, vibration, or strong ambient light can trigger false revocation if Δ is set too aggressively</a:t>
                      </a:r>
                    </a:p>
                  </a:txBody>
                  <a:tcPr anchor="ctr" marL="91440" marR="91440" marT="45720" marB="45720">
                    <a:solidFill>
                      <a:srgbClr val="F0EFEC"/>
                    </a:solidFill>
                  </a:tcPr>
                </a:tc>
              </a:tr>
            </a:tbl>
          </a:graphicData>
        </a:graphic>
      </p:graphicFrame>
      <p:sp>
        <p:nvSpPr>
          <p:cNvPr id="5" name="TextBox 4"/>
          <p:cNvSpPr txBox="1"/>
          <p:nvPr/>
        </p:nvSpPr>
        <p:spPr>
          <a:xfrm>
            <a:off x="685800" y="5715000"/>
            <a:ext cx="10789920" cy="4572000"/>
          </a:xfrm>
          <a:prstGeom prst="rect">
            <a:avLst/>
          </a:prstGeom>
          <a:noFill/>
        </p:spPr>
        <p:txBody>
          <a:bodyPr wrap="square">
            <a:spAutoFit/>
          </a:bodyPr>
          <a:lstStyle/>
          <a:p>
            <a:pPr>
              <a:spcAft>
                <a:spcPts val="500"/>
              </a:spcAft>
            </a:pPr>
            <a:r>
              <a:rPr sz="1050">
                <a:solidFill>
                  <a:srgbClr val="0B0B0B"/>
                </a:solidFill>
                <a:latin typeface="Calibri"/>
              </a:rPr>
              <a:t>●   Lower-stakes, mention only if asked: single-channel reception (Limitations #3); single-sender assumption (Non-Goals — architecturally supported via the key-ID field, not implemented).</a:t>
            </a:r>
          </a:p>
          <a:p>
            <a:pPr lvl="1">
              <a:spcAft>
                <a:spcPts val="100"/>
              </a:spcAft>
            </a:pPr>
            <a:r>
              <a:rPr sz="1450">
                <a:solidFill>
                  <a:srgbClr val="52514E"/>
                </a:solidFill>
                <a:latin typeface="Calibri"/>
              </a:rPr>
              <a:t>‒   Not in the paper's text — my own cross-read finding, not a stated limitation: the System Model says the receiver talks TCP/TLS to the provisioning service, which doesn't match receiver_pico specifically (see the Adversary Model slide). Have the cross-reference ready if it comes 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Why Not Just Use UWB Secure Ranging?</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The realistic ‘you're solving an already-solved problem’ question</a:t>
            </a:r>
          </a:p>
        </p:txBody>
      </p:sp>
      <p:sp>
        <p:nvSpPr>
          <p:cNvPr id="4" name="TextBox 3"/>
          <p:cNvSpPr txBox="1"/>
          <p:nvPr/>
        </p:nvSpPr>
        <p:spPr>
          <a:xfrm>
            <a:off x="685800" y="1645920"/>
            <a:ext cx="10789920" cy="4572000"/>
          </a:xfrm>
          <a:prstGeom prst="rect">
            <a:avLst/>
          </a:prstGeom>
          <a:noFill/>
        </p:spPr>
        <p:txBody>
          <a:bodyPr wrap="square">
            <a:spAutoFit/>
          </a:bodyPr>
          <a:lstStyle/>
          <a:p>
            <a:pPr>
              <a:spcAft>
                <a:spcPts val="1000"/>
              </a:spcAft>
            </a:pPr>
            <a:r>
              <a:rPr sz="1450">
                <a:solidFill>
                  <a:srgbClr val="0B0B0B"/>
                </a:solidFill>
                <a:latin typeface="Calibri"/>
              </a:rPr>
              <a:t>●   UWB (IEEE 802.15.4z HRP, commercialized via the FiRa Consortium — the tech behind Apple/Samsung ‘precision finding’) already does cryptographically secured distance-bounding: a Scrambled Timestamp Sequence (STS) encrypts the ranging waveform itself, so round-trip time can't be spoofed the way an unauthenticated time-of-flight measurement could. That's exactly the capability G3 names as missing here.</a:t>
            </a:r>
          </a:p>
          <a:p>
            <a:pPr>
              <a:spcAft>
                <a:spcPts val="1000"/>
              </a:spcAft>
            </a:pPr>
            <a:r>
              <a:rPr sz="1450">
                <a:solidFill>
                  <a:srgbClr val="0B0B0B"/>
                </a:solidFill>
                <a:latin typeface="Calibri"/>
              </a:rPr>
              <a:t>●   So why not just use UWB for presence-gated authorization instead of an optical system?</a:t>
            </a:r>
          </a:p>
          <a:p>
            <a:pPr lvl="1">
              <a:spcAft>
                <a:spcPts val="600"/>
              </a:spcAft>
            </a:pPr>
            <a:r>
              <a:rPr sz="1450">
                <a:solidFill>
                  <a:srgbClr val="52514E"/>
                </a:solidFill>
                <a:latin typeface="Calibri"/>
              </a:rPr>
              <a:t>‒   UWB proves distance, not confinement. It bounds ‘how far,’ not ‘which room’ — RF isn't blocked by a wall the way light is, so ranging to under a meter doesn't stop someone the right distance away in the next room.</a:t>
            </a:r>
          </a:p>
          <a:p>
            <a:pPr lvl="1">
              <a:spcAft>
                <a:spcPts val="600"/>
              </a:spcAft>
            </a:pPr>
            <a:r>
              <a:rPr sz="1450">
                <a:solidFill>
                  <a:srgbClr val="52514E"/>
                </a:solidFill>
                <a:latin typeface="Calibri"/>
              </a:rPr>
              <a:t>‒   UWB needs purpose-built radio silicon — a dedicated UWB transceiver, antenna design, a certified FiRa-compliant stack. This system's entire ~$82 BOM uses COTS parts already doing a communications job, not a radio-ranging one.</a:t>
            </a:r>
          </a:p>
          <a:p>
            <a:pPr lvl="1">
              <a:spcAft>
                <a:spcPts val="600"/>
              </a:spcAft>
            </a:pPr>
            <a:r>
              <a:rPr sz="1450">
                <a:solidFill>
                  <a:srgbClr val="52514E"/>
                </a:solidFill>
                <a:latin typeface="Calibri"/>
              </a:rPr>
              <a:t>‒   RF-denied or interference-sensitive environments (SCIFs, hospitals, EMI-heavy industrial floors) can't always add more RF radios. An optical channel doesn't compete for spectrum or need RF emissions certification.</a:t>
            </a:r>
          </a:p>
          <a:p>
            <a:pPr lvl="1">
              <a:spcAft>
                <a:spcPts val="600"/>
              </a:spcAft>
            </a:pPr>
            <a:r>
              <a:rPr sz="1450">
                <a:solidFill>
                  <a:srgbClr val="52514E"/>
                </a:solidFill>
                <a:latin typeface="Calibri"/>
              </a:rPr>
              <a:t>‒   They're not mutually exclusive — G3's own ‘what would be required’ answer (a Brands–Chaum-style RTT challenge-response over the existing bidirectional link) is the same idea UWB implements in radio. Future work could borrow the pattern optically rather than adopting UWB wholesale.</a:t>
            </a:r>
          </a:p>
        </p:txBody>
      </p:sp>
      <p:sp>
        <p:nvSpPr>
          <p:cNvPr id="5" name="TextBox 4"/>
          <p:cNvSpPr txBox="1"/>
          <p:nvPr/>
        </p:nvSpPr>
        <p:spPr>
          <a:xfrm>
            <a:off x="502920" y="6035040"/>
            <a:ext cx="11155680" cy="548640"/>
          </a:xfrm>
          <a:prstGeom prst="rect">
            <a:avLst/>
          </a:prstGeom>
          <a:noFill/>
        </p:spPr>
        <p:txBody>
          <a:bodyPr wrap="square">
            <a:spAutoFit/>
          </a:bodyPr>
          <a:lstStyle/>
          <a:p>
            <a:pPr algn="ctr"/>
            <a:r>
              <a:rPr sz="1250" i="0" b="1">
                <a:solidFill>
                  <a:srgbClr val="0B0B0B"/>
                </a:solidFill>
                <a:latin typeface="Calibri"/>
              </a:rPr>
              <a:t>Honest answer: UWB already solves distance-bounding, and does it better than this system currently does. This thesis was never trying to out-range UWB — it solves confinement, and G3 names the one place a UWB-style RTT check could still add value on top.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Physical-Layer Challenge-Response is a Live 2025 Research Thread</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Cetindere Vela, Vela &amp; Tomasin — “Physical Layer Authentication With Colored RIS in Visible Light Communications” (arXiv:2504.13666, Apr. 2025)</a:t>
            </a:r>
          </a:p>
        </p:txBody>
      </p:sp>
      <p:sp>
        <p:nvSpPr>
          <p:cNvPr id="4" name="TextBox 3"/>
          <p:cNvSpPr txBox="1"/>
          <p:nvPr/>
        </p:nvSpPr>
        <p:spPr>
          <a:xfrm>
            <a:off x="685800" y="2194560"/>
            <a:ext cx="10789920" cy="4572000"/>
          </a:xfrm>
          <a:prstGeom prst="rect">
            <a:avLst/>
          </a:prstGeom>
          <a:noFill/>
        </p:spPr>
        <p:txBody>
          <a:bodyPr wrap="square">
            <a:spAutoFit/>
          </a:bodyPr>
          <a:lstStyle/>
          <a:p>
            <a:pPr>
              <a:spcAft>
                <a:spcPts val="1100"/>
              </a:spcAft>
            </a:pPr>
            <a:r>
              <a:rPr sz="1650">
                <a:solidFill>
                  <a:srgbClr val="0B0B0B"/>
                </a:solidFill>
                <a:latin typeface="Calibri"/>
              </a:rPr>
              <a:t>●   A colored reconfigurable intelligent surface (dichroic-mirror RIS) reflects VLC light in a multicolor pattern that depends on a dynamic, verifier-known configuration.</a:t>
            </a:r>
          </a:p>
          <a:p>
            <a:pPr>
              <a:spcAft>
                <a:spcPts val="1100"/>
              </a:spcAft>
            </a:pPr>
            <a:r>
              <a:rPr sz="1650">
                <a:solidFill>
                  <a:srgbClr val="0B0B0B"/>
                </a:solidFill>
                <a:latin typeface="Calibri"/>
              </a:rPr>
              <a:t>●   The verifier compares received multicolor power profiles to the expected pattern — a challenge-response scheme built entirely at the physical layer.</a:t>
            </a:r>
          </a:p>
          <a:p>
            <a:pPr>
              <a:spcAft>
                <a:spcPts val="1100"/>
              </a:spcAft>
            </a:pPr>
            <a:r>
              <a:rPr sz="1650">
                <a:solidFill>
                  <a:srgbClr val="0B0B0B"/>
                </a:solidFill>
                <a:latin typeface="Calibri"/>
              </a:rPr>
              <a:t>●   Randomized, dynamic configurations authenticate best; static ones are easiest to spoof.</a:t>
            </a:r>
          </a:p>
          <a:p>
            <a:pPr lvl="1">
              <a:spcAft>
                <a:spcPts val="700"/>
              </a:spcAft>
            </a:pPr>
            <a:r>
              <a:rPr sz="1450">
                <a:solidFill>
                  <a:srgbClr val="52514E"/>
                </a:solidFill>
                <a:latin typeface="Calibri"/>
              </a:rPr>
              <a:t>‒   Confirms the field is actively moving toward PHY-layer challenge-response for VLC — but it authenticates individual messages against a known reflector configuration, not a device's continued physical presence in a coverage area.</a:t>
            </a:r>
          </a:p>
          <a:p>
            <a:pPr lvl="1">
              <a:spcAft>
                <a:spcPts val="700"/>
              </a:spcAft>
            </a:pPr>
            <a:r>
              <a:rPr sz="1450">
                <a:solidFill>
                  <a:srgbClr val="52514E"/>
                </a:solidFill>
                <a:latin typeface="Calibri"/>
              </a:rPr>
              <a:t>‒   No revocation model: it verifies one exchange is genuine, not that the link is still live a second later.</a:t>
            </a:r>
          </a:p>
        </p:txBody>
      </p:sp>
      <p:sp>
        <p:nvSpPr>
          <p:cNvPr id="5" name="TextBox 4"/>
          <p:cNvSpPr txBox="1"/>
          <p:nvPr/>
        </p:nvSpPr>
        <p:spPr>
          <a:xfrm>
            <a:off x="502920" y="5943600"/>
            <a:ext cx="11155680" cy="548640"/>
          </a:xfrm>
          <a:prstGeom prst="rect">
            <a:avLst/>
          </a:prstGeom>
          <a:noFill/>
        </p:spPr>
        <p:txBody>
          <a:bodyPr wrap="square">
            <a:spAutoFit/>
          </a:bodyPr>
          <a:lstStyle/>
          <a:p>
            <a:pPr algn="ctr"/>
            <a:r>
              <a:rPr sz="1250" i="0" b="1">
                <a:solidFill>
                  <a:srgbClr val="0B0B0B"/>
                </a:solidFill>
                <a:latin typeface="Calibri"/>
              </a:rPr>
              <a:t>Adjacent, concurrent, and a useful citation for ‘this is a live area’ — but it targets message authenticity, not session-level presence enforcement.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This Sits on a Well-Surveyed Foundation</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Three surveys, three years apart, same conclusion</a:t>
            </a:r>
          </a:p>
        </p:txBody>
      </p:sp>
      <p:graphicFrame>
        <p:nvGraphicFramePr>
          <p:cNvPr id="4" name="Table 3"/>
          <p:cNvGraphicFramePr>
            <a:graphicFrameLocks noGrp="1"/>
          </p:cNvGraphicFramePr>
          <p:nvPr/>
        </p:nvGraphicFramePr>
        <p:xfrm>
          <a:off x="685800" y="1737360"/>
          <a:ext cx="11338560" cy="3108960"/>
        </p:xfrm>
        <a:graphic>
          <a:graphicData uri="http://schemas.openxmlformats.org/drawingml/2006/table">
            <a:tbl>
              <a:tblPr firstRow="1" bandRow="1">
                <a:tableStyleId>{5C22544A-7EE6-4342-B048-85BDC9FD1C3A}</a:tableStyleId>
              </a:tblPr>
              <a:tblGrid>
                <a:gridCol w="3108960"/>
                <a:gridCol w="3108960"/>
                <a:gridCol w="5120640"/>
              </a:tblGrid>
              <a:tr h="777240">
                <a:tc>
                  <a:txBody>
                    <a:bodyPr wrap="square"/>
                    <a:lstStyle/>
                    <a:p>
                      <a:pPr algn="l"/>
                      <a:r>
                        <a:rPr sz="1350" b="1">
                          <a:solidFill>
                            <a:srgbClr val="FFFFFF"/>
                          </a:solidFill>
                          <a:latin typeface="Calibri"/>
                        </a:rPr>
                        <a:t>Survey</a:t>
                      </a:r>
                    </a:p>
                  </a:txBody>
                  <a:tcPr anchor="ctr" marL="91440" marR="91440" marT="45720" marB="45720">
                    <a:solidFill>
                      <a:srgbClr val="0B0B0B"/>
                    </a:solidFill>
                  </a:tcPr>
                </a:tc>
                <a:tc>
                  <a:txBody>
                    <a:bodyPr wrap="square"/>
                    <a:lstStyle/>
                    <a:p>
                      <a:pPr algn="ctr"/>
                      <a:r>
                        <a:rPr sz="1350" b="1">
                          <a:solidFill>
                            <a:srgbClr val="FFFFFF"/>
                          </a:solidFill>
                          <a:latin typeface="Calibri"/>
                        </a:rPr>
                        <a:t>Venue</a:t>
                      </a:r>
                    </a:p>
                  </a:txBody>
                  <a:tcPr anchor="ctr" marL="91440" marR="91440" marT="45720" marB="45720">
                    <a:solidFill>
                      <a:srgbClr val="0B0B0B"/>
                    </a:solidFill>
                  </a:tcPr>
                </a:tc>
                <a:tc>
                  <a:txBody>
                    <a:bodyPr wrap="square"/>
                    <a:lstStyle/>
                    <a:p>
                      <a:pPr algn="ctr"/>
                      <a:r>
                        <a:rPr sz="1350" b="1">
                          <a:solidFill>
                            <a:srgbClr val="FFFFFF"/>
                          </a:solidFill>
                          <a:latin typeface="Calibri"/>
                        </a:rPr>
                        <a:t>Scope</a:t>
                      </a:r>
                    </a:p>
                  </a:txBody>
                  <a:tcPr anchor="ctr" marL="91440" marR="91440" marT="45720" marB="45720">
                    <a:solidFill>
                      <a:srgbClr val="0B0B0B"/>
                    </a:solidFill>
                  </a:tcPr>
                </a:tc>
              </a:tr>
              <a:tr h="777240">
                <a:tc>
                  <a:txBody>
                    <a:bodyPr wrap="square"/>
                    <a:lstStyle/>
                    <a:p>
                      <a:pPr algn="l"/>
                      <a:r>
                        <a:rPr sz="1200" b="0">
                          <a:solidFill>
                            <a:srgbClr val="0B0B0B"/>
                          </a:solidFill>
                          <a:latin typeface="Calibri"/>
                        </a:rPr>
                        <a:t>Blinowski (2019)</a:t>
                      </a:r>
                    </a:p>
                  </a:txBody>
                  <a:tcPr anchor="ctr" marL="91440" marR="91440" marT="45720" marB="45720">
                    <a:solidFill>
                      <a:srgbClr val="FFFFFF"/>
                    </a:solidFill>
                  </a:tcPr>
                </a:tc>
                <a:tc>
                  <a:txBody>
                    <a:bodyPr wrap="square"/>
                    <a:lstStyle/>
                    <a:p>
                      <a:pPr algn="ctr"/>
                      <a:r>
                        <a:rPr sz="1200" b="0">
                          <a:solidFill>
                            <a:srgbClr val="0B0B0B"/>
                          </a:solidFill>
                          <a:latin typeface="Calibri"/>
                        </a:rPr>
                        <a:t>Physical Communication</a:t>
                      </a:r>
                    </a:p>
                  </a:txBody>
                  <a:tcPr anchor="ctr" marL="91440" marR="91440" marT="45720" marB="45720">
                    <a:solidFill>
                      <a:srgbClr val="FFFFFF"/>
                    </a:solidFill>
                  </a:tcPr>
                </a:tc>
                <a:tc>
                  <a:txBody>
                    <a:bodyPr wrap="square"/>
                    <a:lstStyle/>
                    <a:p>
                      <a:pPr algn="ctr"/>
                      <a:r>
                        <a:rPr sz="1200" b="0">
                          <a:solidFill>
                            <a:srgbClr val="0B0B0B"/>
                          </a:solidFill>
                          <a:latin typeface="Calibri"/>
                        </a:rPr>
                        <a:t>First comprehensive VLC security review — eavesdropping, jamming, node compromise; PLS/keygen/steganography/crypto taxonomy</a:t>
                      </a:r>
                    </a:p>
                  </a:txBody>
                  <a:tcPr anchor="ctr" marL="91440" marR="91440" marT="45720" marB="45720">
                    <a:solidFill>
                      <a:srgbClr val="FFFFFF"/>
                    </a:solidFill>
                  </a:tcPr>
                </a:tc>
              </a:tr>
              <a:tr h="777240">
                <a:tc>
                  <a:txBody>
                    <a:bodyPr wrap="square"/>
                    <a:lstStyle/>
                    <a:p>
                      <a:pPr algn="l"/>
                      <a:r>
                        <a:rPr sz="1200" b="0">
                          <a:solidFill>
                            <a:srgbClr val="0B0B0B"/>
                          </a:solidFill>
                          <a:latin typeface="Calibri"/>
                        </a:rPr>
                        <a:t>Arfaoui et al. (2020)</a:t>
                      </a:r>
                    </a:p>
                  </a:txBody>
                  <a:tcPr anchor="ctr" marL="91440" marR="91440" marT="45720" marB="45720">
                    <a:solidFill>
                      <a:srgbClr val="F0EFEC"/>
                    </a:solidFill>
                  </a:tcPr>
                </a:tc>
                <a:tc>
                  <a:txBody>
                    <a:bodyPr wrap="square"/>
                    <a:lstStyle/>
                    <a:p>
                      <a:pPr algn="ctr"/>
                      <a:r>
                        <a:rPr sz="1200" b="0">
                          <a:solidFill>
                            <a:srgbClr val="0B0B0B"/>
                          </a:solidFill>
                          <a:latin typeface="Calibri"/>
                        </a:rPr>
                        <a:t>IEEE Communications Surveys &amp; Tutorials</a:t>
                      </a:r>
                    </a:p>
                  </a:txBody>
                  <a:tcPr anchor="ctr" marL="91440" marR="91440" marT="45720" marB="45720">
                    <a:solidFill>
                      <a:srgbClr val="F0EFEC"/>
                    </a:solidFill>
                  </a:tcPr>
                </a:tc>
                <a:tc>
                  <a:txBody>
                    <a:bodyPr wrap="square"/>
                    <a:lstStyle/>
                    <a:p>
                      <a:pPr algn="ctr"/>
                      <a:r>
                        <a:rPr sz="1200" b="0">
                          <a:solidFill>
                            <a:srgbClr val="0B0B0B"/>
                          </a:solidFill>
                          <a:latin typeface="Calibri"/>
                        </a:rPr>
                        <a:t>Unified info-theoretic + signal-processing treatment of VLC physical-layer security; channel models, precoding, secrecy capacity</a:t>
                      </a:r>
                    </a:p>
                  </a:txBody>
                  <a:tcPr anchor="ctr" marL="91440" marR="91440" marT="45720" marB="45720">
                    <a:solidFill>
                      <a:srgbClr val="F0EFEC"/>
                    </a:solidFill>
                  </a:tcPr>
                </a:tc>
              </a:tr>
              <a:tr h="777240">
                <a:tc>
                  <a:txBody>
                    <a:bodyPr wrap="square"/>
                    <a:lstStyle/>
                    <a:p>
                      <a:pPr algn="l"/>
                      <a:r>
                        <a:rPr sz="1200" b="0">
                          <a:solidFill>
                            <a:srgbClr val="0B0B0B"/>
                          </a:solidFill>
                          <a:latin typeface="Calibri"/>
                        </a:rPr>
                        <a:t>Zhang, Klevering, Lei, Hu, Xiao, Tu (2023)</a:t>
                      </a:r>
                    </a:p>
                  </a:txBody>
                  <a:tcPr anchor="ctr" marL="91440" marR="91440" marT="45720" marB="45720">
                    <a:solidFill>
                      <a:srgbClr val="FFFFFF"/>
                    </a:solidFill>
                  </a:tcPr>
                </a:tc>
                <a:tc>
                  <a:txBody>
                    <a:bodyPr wrap="square"/>
                    <a:lstStyle/>
                    <a:p>
                      <a:pPr algn="ctr"/>
                      <a:r>
                        <a:rPr sz="1200" b="0">
                          <a:solidFill>
                            <a:srgbClr val="0B0B0B"/>
                          </a:solidFill>
                          <a:latin typeface="Calibri"/>
                        </a:rPr>
                        <a:t>ACM Computing Surveys</a:t>
                      </a:r>
                    </a:p>
                  </a:txBody>
                  <a:tcPr anchor="ctr" marL="91440" marR="91440" marT="45720" marB="45720">
                    <a:solidFill>
                      <a:srgbClr val="FFFFFF"/>
                    </a:solidFill>
                  </a:tcPr>
                </a:tc>
                <a:tc>
                  <a:txBody>
                    <a:bodyPr wrap="square"/>
                    <a:lstStyle/>
                    <a:p>
                      <a:pPr algn="ctr"/>
                      <a:r>
                        <a:rPr sz="1200" b="0">
                          <a:solidFill>
                            <a:srgbClr val="0B0B0B"/>
                          </a:solidFill>
                          <a:latin typeface="Calibri"/>
                        </a:rPr>
                        <a:t>Broader optical wireless security survey spanning VLC, LiFi, optical camera comms, free-space optical, and LiDAR</a:t>
                      </a:r>
                    </a:p>
                  </a:txBody>
                  <a:tcPr anchor="ctr" marL="91440" marR="91440" marT="45720" marB="45720">
                    <a:solidFill>
                      <a:srgbClr val="FFFFFF"/>
                    </a:solidFill>
                  </a:tcPr>
                </a:tc>
              </a:tr>
            </a:tbl>
          </a:graphicData>
        </a:graphic>
      </p:graphicFrame>
      <p:sp>
        <p:nvSpPr>
          <p:cNvPr id="5" name="TextBox 4"/>
          <p:cNvSpPr txBox="1"/>
          <p:nvPr/>
        </p:nvSpPr>
        <p:spPr>
          <a:xfrm>
            <a:off x="502920" y="5212080"/>
            <a:ext cx="11155680" cy="548640"/>
          </a:xfrm>
          <a:prstGeom prst="rect">
            <a:avLst/>
          </a:prstGeom>
          <a:noFill/>
        </p:spPr>
        <p:txBody>
          <a:bodyPr wrap="square">
            <a:spAutoFit/>
          </a:bodyPr>
          <a:lstStyle/>
          <a:p>
            <a:pPr algn="ctr"/>
            <a:r>
              <a:rPr sz="1250" i="0" b="1">
                <a:solidFill>
                  <a:srgbClr val="0B0B0B"/>
                </a:solidFill>
                <a:latin typeface="Calibri"/>
              </a:rPr>
              <a:t>All three conclude the same thing: light's spatial confinement is real, but it is not itself an authorization mechanism — something has to be built on top of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The Gap, Restated Against Named Prior Work</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“Authorized because you are here, now, in the light”</a:t>
            </a:r>
          </a:p>
        </p:txBody>
      </p:sp>
      <p:sp>
        <p:nvSpPr>
          <p:cNvPr id="4" name="TextBox 3"/>
          <p:cNvSpPr txBox="1"/>
          <p:nvPr/>
        </p:nvSpPr>
        <p:spPr>
          <a:xfrm>
            <a:off x="685800" y="1691640"/>
            <a:ext cx="10789920" cy="4572000"/>
          </a:xfrm>
          <a:prstGeom prst="rect">
            <a:avLst/>
          </a:prstGeom>
          <a:noFill/>
        </p:spPr>
        <p:txBody>
          <a:bodyPr wrap="square">
            <a:spAutoFit/>
          </a:bodyPr>
          <a:lstStyle/>
          <a:p>
            <a:pPr>
              <a:spcAft>
                <a:spcPts val="1300"/>
              </a:spcAft>
            </a:pPr>
            <a:r>
              <a:rPr sz="1650">
                <a:solidFill>
                  <a:srgbClr val="0B0B0B"/>
                </a:solidFill>
                <a:latin typeface="Calibri"/>
              </a:rPr>
              <a:t>●   Not LISA — light is not a one-time bootstrap channel here; it is the standing authorization signal.</a:t>
            </a:r>
          </a:p>
          <a:p>
            <a:pPr>
              <a:spcAft>
                <a:spcPts val="1300"/>
              </a:spcAft>
            </a:pPr>
            <a:r>
              <a:rPr sz="1650">
                <a:solidFill>
                  <a:srgbClr val="0B0B0B"/>
                </a:solidFill>
                <a:latin typeface="Calibri"/>
              </a:rPr>
              <a:t>●   Not Suduwella et al. — the optical check is not a gate you pass once at association; it must keep passing.</a:t>
            </a:r>
          </a:p>
          <a:p>
            <a:pPr>
              <a:spcAft>
                <a:spcPts val="1300"/>
              </a:spcAft>
            </a:pPr>
            <a:r>
              <a:rPr sz="1650">
                <a:solidFill>
                  <a:srgbClr val="0B0B0B"/>
                </a:solidFill>
                <a:latin typeface="Calibri"/>
              </a:rPr>
              <a:t>●   Not the CRIS challenge-response work — the unit being verified is not a single message; it is continued presence over time.</a:t>
            </a:r>
          </a:p>
          <a:p>
            <a:pPr>
              <a:spcAft>
                <a:spcPts val="1300"/>
              </a:spcAft>
            </a:pPr>
            <a:r>
              <a:rPr sz="1650">
                <a:solidFill>
                  <a:srgbClr val="0B0B0B"/>
                </a:solidFill>
                <a:latin typeface="Calibri"/>
              </a:rPr>
              <a:t>●   Not the commercial LiFi products — spatial confinement alone is not enforcement; this thesis adds the enforcement layer (automatic revocation on signal loss, G4).</a:t>
            </a:r>
          </a:p>
          <a:p>
            <a:pPr lvl="1">
              <a:spcAft>
                <a:spcPts val="900"/>
              </a:spcAft>
            </a:pPr>
            <a:r>
              <a:rPr sz="1450">
                <a:solidFill>
                  <a:srgbClr val="52514E"/>
                </a:solidFill>
                <a:latin typeface="Calibri"/>
              </a:rPr>
              <a:t>‒   No prior work formalizes, implements, and evaluates continuous optical-presence authorization with automatic revocation — that is the gap this thesis fills.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References — New to This Deck</a:t>
            </a:r>
          </a:p>
        </p:txBody>
      </p:sp>
      <p:sp>
        <p:nvSpPr>
          <p:cNvPr id="3" name="TextBox 2"/>
          <p:cNvSpPr txBox="1"/>
          <p:nvPr/>
        </p:nvSpPr>
        <p:spPr>
          <a:xfrm>
            <a:off x="685800" y="1691640"/>
            <a:ext cx="10789920" cy="4572000"/>
          </a:xfrm>
          <a:prstGeom prst="rect">
            <a:avLst/>
          </a:prstGeom>
          <a:noFill/>
        </p:spPr>
        <p:txBody>
          <a:bodyPr wrap="square">
            <a:spAutoFit/>
          </a:bodyPr>
          <a:lstStyle/>
          <a:p>
            <a:pPr>
              <a:spcAft>
                <a:spcPts val="1600"/>
              </a:spcAft>
            </a:pPr>
            <a:r>
              <a:rPr sz="1550">
                <a:solidFill>
                  <a:srgbClr val="0B0B0B"/>
                </a:solidFill>
                <a:latin typeface="Calibri"/>
              </a:rPr>
              <a:t>●   C. P. Suduwella, Y. S. Ranasinghe, and K. de Zoysa, “Visible light communication based authentication protocol designed for location based network connectivity,” in Proc. 2017 Seventeenth Int. Conf. Advances in ICT for Emerging Regions (ICTer), Sept. 2017, doi:10.1109/ICTER.2017.8257800.</a:t>
            </a:r>
          </a:p>
          <a:p>
            <a:pPr>
              <a:spcAft>
                <a:spcPts val="1600"/>
              </a:spcAft>
            </a:pPr>
            <a:r>
              <a:rPr sz="1550">
                <a:solidFill>
                  <a:srgbClr val="0B0B0B"/>
                </a:solidFill>
                <a:latin typeface="Calibri"/>
              </a:rPr>
              <a:t>●   B. Cetindere Vela, S. Vela, and S. Tomasin, “Physical Layer Authentication With Colored RIS in Visible Light Communications,” arXiv:2504.13666, Apr. 2025.</a:t>
            </a:r>
          </a:p>
          <a:p>
            <a:pPr>
              <a:spcAft>
                <a:spcPts val="1600"/>
              </a:spcAft>
            </a:pPr>
            <a:r>
              <a:rPr sz="1550">
                <a:solidFill>
                  <a:srgbClr val="0B0B0B"/>
                </a:solidFill>
                <a:latin typeface="Calibri"/>
              </a:rPr>
              <a:t>●   X. Zhang, G. Klevering, X. Lei, Y. Hu, L. Xiao, and G.-H. Tu, “The Security in Optical Wireless Communication: A Survey,” ACM Computing Surveys, vol. 55, no. 14s, Article 329, 2023, doi:10.1145/3594718.</a:t>
            </a:r>
          </a:p>
        </p:txBody>
      </p:sp>
      <p:sp>
        <p:nvSpPr>
          <p:cNvPr id="4" name="TextBox 3"/>
          <p:cNvSpPr txBox="1"/>
          <p:nvPr/>
        </p:nvSpPr>
        <p:spPr>
          <a:xfrm>
            <a:off x="502920" y="4937760"/>
            <a:ext cx="11155680" cy="548640"/>
          </a:xfrm>
          <a:prstGeom prst="rect">
            <a:avLst/>
          </a:prstGeom>
          <a:noFill/>
        </p:spPr>
        <p:txBody>
          <a:bodyPr wrap="square">
            <a:spAutoFit/>
          </a:bodyPr>
          <a:lstStyle/>
          <a:p>
            <a:pPr algn="ctr"/>
            <a:r>
              <a:rPr sz="1250" i="1" b="0">
                <a:solidFill>
                  <a:srgbClr val="898781"/>
                </a:solidFill>
                <a:latin typeface="Calibri"/>
              </a:rPr>
              <a:t>All other citations (Wyner, Brands &amp; Chaum, Haas, Blinowski, Arfaoui et al., LISA, and the commercial vendors) are already in the paper's bibliography — see conference_101719.tex.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G2 — Found and Fixed During Evaluation</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Unauthenticated window eviction: a gap the existing 'bounded window' disclosure didn't cover</a:t>
            </a:r>
          </a:p>
        </p:txBody>
      </p:sp>
      <p:sp>
        <p:nvSpPr>
          <p:cNvPr id="4" name="TextBox 3"/>
          <p:cNvSpPr txBox="1"/>
          <p:nvPr/>
        </p:nvSpPr>
        <p:spPr>
          <a:xfrm>
            <a:off x="685800" y="1691640"/>
            <a:ext cx="10789920" cy="4572000"/>
          </a:xfrm>
          <a:prstGeom prst="rect">
            <a:avLst/>
          </a:prstGeom>
          <a:noFill/>
        </p:spPr>
        <p:txBody>
          <a:bodyPr wrap="square">
            <a:spAutoFit/>
          </a:bodyPr>
          <a:lstStyle/>
          <a:p>
            <a:pPr>
              <a:spcAft>
                <a:spcPts val="1000"/>
              </a:spcAft>
            </a:pPr>
            <a:r>
              <a:rPr sz="1450">
                <a:solidFill>
                  <a:srgbClr val="0B0B0B"/>
                </a:solidFill>
                <a:latin typeface="Calibri"/>
              </a:rPr>
              <a:t>●   Known Limitations #4 already discloses that the replay window is bounded, not permanent — a nonce ages out once enough traffic cycles through a shrunk window (25/25 accepted once aged out, by design, using legitimate re-transmission to demonstrate the boundary).</a:t>
            </a:r>
          </a:p>
          <a:p>
            <a:pPr>
              <a:spcAft>
                <a:spcPts val="1000"/>
              </a:spcAft>
            </a:pPr>
            <a:r>
              <a:rPr sz="1450">
                <a:solidFill>
                  <a:srgbClr val="0B0B0B"/>
                </a:solidFill>
                <a:latin typeface="Calibri"/>
              </a:rPr>
              <a:t>●   That disclosure assumes only legitimate, key-holding traffic drives eviction. It didn't: insertion into the window happened on CRC-pass alone, before GCM verification ever ran — process_complete_frame() in receiver_pico/src/main.c added a nonce to Seen regardless of whether the frame later decrypted.</a:t>
            </a:r>
          </a:p>
          <a:p>
            <a:pPr lvl="1">
              <a:spcAft>
                <a:spcPts val="600"/>
              </a:spcAft>
            </a:pPr>
            <a:r>
              <a:rPr sz="1450">
                <a:solidFill>
                  <a:srgbClr val="52514E"/>
                </a:solidFill>
                <a:latin typeface="Calibri"/>
              </a:rPr>
              <a:t>‒   CRC-16 is a public, unkeyed checksum — computing one requires no session key. So an attacker holding zero cryptographic material could inject 64 CRC-valid junk frames to deliberately evict a genuinely captured nonce on their own schedule, then replay the captured (genuine) frame once its slot was freed — bypassing the |Seen|·T_beacon ≥ Δ margin entirely, since that margin assumed eviction paced by the 2.5s heartbeat, not by an attacker's injection rate.</a:t>
            </a:r>
          </a:p>
          <a:p>
            <a:pPr>
              <a:spcAft>
                <a:spcPts val="1000"/>
              </a:spcAft>
            </a:pPr>
            <a:r>
              <a:rPr sz="1450">
                <a:solidFill>
                  <a:srgbClr val="0B0B0B"/>
                </a:solidFill>
                <a:latin typeface="Calibri"/>
              </a:rPr>
              <a:t>●   Fix: nonce insertion now happens only after GCM authentication succeeds (dec == DEC_OK) — eviction requires possessing the session key, matching what the Novelty Predicate slide already assumed ('on accept'). Firmware rebuilt (receiver_pico/build/lifi_pico2_rx.uf2); reflash and G2 trial re-run against the fixed firmware pending.</a:t>
            </a:r>
          </a:p>
          <a:p>
            <a:pPr>
              <a:spcAft>
                <a:spcPts val="1000"/>
              </a:spcAft>
            </a:pPr>
            <a:r>
              <a:rPr sz="1450">
                <a:solidFill>
                  <a:srgbClr val="0B0B0B"/>
                </a:solidFill>
                <a:latin typeface="Calibri"/>
              </a:rPr>
              <a:t>●   Found via source review during defense prep, not by an external reviewer — same posture as the two protocol bugs already disclosed in the main deck's Limitations backup slide.</a:t>
            </a:r>
          </a:p>
        </p:txBody>
      </p:sp>
      <p:sp>
        <p:nvSpPr>
          <p:cNvPr id="5" name="TextBox 4"/>
          <p:cNvSpPr txBox="1"/>
          <p:nvPr/>
        </p:nvSpPr>
        <p:spPr>
          <a:xfrm>
            <a:off x="502920" y="6126480"/>
            <a:ext cx="11155680" cy="548640"/>
          </a:xfrm>
          <a:prstGeom prst="rect">
            <a:avLst/>
          </a:prstGeom>
          <a:noFill/>
        </p:spPr>
        <p:txBody>
          <a:bodyPr wrap="square">
            <a:spAutoFit/>
          </a:bodyPr>
          <a:lstStyle/>
          <a:p>
            <a:pPr algn="ctr"/>
            <a:r>
              <a:rPr sz="1250" i="0" b="1">
                <a:solidFill>
                  <a:srgbClr val="0B0B0B"/>
                </a:solidFill>
                <a:latin typeface="Calibri"/>
              </a:rPr>
              <a:t>The 25/25 replay-rejection result is unaffected — it never depended on this gap. What changes is the eviction-bound argument's soundness against an unauthenticated attacker, not the headline number.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02920" y="320040"/>
            <a:ext cx="11155680" cy="822960"/>
          </a:xfrm>
          <a:prstGeom prst="rect">
            <a:avLst/>
          </a:prstGeom>
          <a:noFill/>
        </p:spPr>
        <p:txBody>
          <a:bodyPr wrap="square">
            <a:spAutoFit/>
          </a:bodyPr>
          <a:lstStyle/>
          <a:p>
            <a:r>
              <a:rPr sz="2900" b="1">
                <a:solidFill>
                  <a:srgbClr val="0B0B0B"/>
                </a:solidFill>
                <a:latin typeface="Calibri"/>
              </a:rPr>
              <a:t>G3 Future Work — Correcting an Architecture Claim</a:t>
            </a:r>
          </a:p>
        </p:txBody>
      </p:sp>
      <p:sp>
        <p:nvSpPr>
          <p:cNvPr id="3" name="TextBox 2"/>
          <p:cNvSpPr txBox="1"/>
          <p:nvPr/>
        </p:nvSpPr>
        <p:spPr>
          <a:xfrm>
            <a:off x="502920" y="886968"/>
            <a:ext cx="11155680" cy="457200"/>
          </a:xfrm>
          <a:prstGeom prst="rect">
            <a:avLst/>
          </a:prstGeom>
          <a:noFill/>
        </p:spPr>
        <p:txBody>
          <a:bodyPr wrap="square">
            <a:spAutoFit/>
          </a:bodyPr>
          <a:lstStyle/>
          <a:p>
            <a:r>
              <a:rPr sz="1350" i="1">
                <a:solidFill>
                  <a:srgbClr val="898781"/>
                </a:solidFill>
                <a:latin typeface="Calibri"/>
              </a:rPr>
              <a:t>The proposed distance-bounding transport doesn't exist on the evaluated receiver</a:t>
            </a:r>
          </a:p>
        </p:txBody>
      </p:sp>
      <p:sp>
        <p:nvSpPr>
          <p:cNvPr id="4" name="TextBox 3"/>
          <p:cNvSpPr txBox="1"/>
          <p:nvPr/>
        </p:nvSpPr>
        <p:spPr>
          <a:xfrm>
            <a:off x="685800" y="1600200"/>
            <a:ext cx="10789920" cy="4572000"/>
          </a:xfrm>
          <a:prstGeom prst="rect">
            <a:avLst/>
          </a:prstGeom>
          <a:noFill/>
        </p:spPr>
        <p:txBody>
          <a:bodyPr wrap="square">
            <a:spAutoFit/>
          </a:bodyPr>
          <a:lstStyle/>
          <a:p>
            <a:pPr>
              <a:spcAft>
                <a:spcPts val="900"/>
              </a:spcAft>
            </a:pPr>
            <a:r>
              <a:rPr sz="1400">
                <a:solidFill>
                  <a:srgbClr val="0B0B0B"/>
                </a:solidFill>
                <a:latin typeface="Calibri"/>
              </a:rPr>
              <a:t>●   Both the paper (Section VI, future work) and this deck's G3 slides describe closing G3 via a Brands–Chaum-style challenge-response 'over the existing bidirectional UART link between sender and receiver' — called 'architecturally compatible... not implemented.'</a:t>
            </a:r>
          </a:p>
          <a:p>
            <a:pPr lvl="1">
              <a:spcAft>
                <a:spcPts val="500"/>
              </a:spcAft>
            </a:pPr>
            <a:r>
              <a:rPr sz="1450">
                <a:solidFill>
                  <a:srgbClr val="52514E"/>
                </a:solidFill>
                <a:latin typeface="Calibri"/>
              </a:rPr>
              <a:t>‒   Verified against source: receiver_pico/src/main.c — the RP2350, the receiver actually evaluated for G1/G2/G4 — initializes zero UART peripherals (grep for uart_init returns nothing). Its only interfaces are the PIO photodiode RX and a USB console for a human operator. There is no wired return path to the sender at all.</a:t>
            </a:r>
          </a:p>
          <a:p>
            <a:pPr lvl="1">
              <a:spcAft>
                <a:spcPts val="500"/>
              </a:spcAft>
            </a:pPr>
            <a:r>
              <a:rPr sz="1450">
                <a:solidFill>
                  <a:srgbClr val="52514E"/>
                </a:solidFill>
                <a:latin typeface="Calibri"/>
              </a:rPr>
              <a:t>‒   The bidirectional UART that does exist — lifi_session_sender.c's UART_ID/uart1, carrying the HS1/HS2/HS3 SST handshake — connects the sender to the Pi4, not to receiver_pico. That link belongs to the retired Pi4/dashboard stack (the same commit that cut the roaming/live-challenge claims), not the two-Pico system this thesis evaluates.</a:t>
            </a:r>
          </a:p>
          <a:p>
            <a:pPr>
              <a:spcAft>
                <a:spcPts val="900"/>
              </a:spcAft>
            </a:pPr>
            <a:r>
              <a:rPr sz="1400">
                <a:solidFill>
                  <a:srgbClr val="0B0B0B"/>
                </a:solidFill>
                <a:latin typeface="Calibri"/>
              </a:rPr>
              <a:t>●   Consequence: closing G3 for the evaluated system requires adding a new physical return channel — a UART line, or a second LED/photodiode pair for the reverse direction. It is not 'architecturally compatible... without a hardware redesign' as currently written; it requires one.</a:t>
            </a:r>
          </a:p>
          <a:p>
            <a:pPr>
              <a:spcAft>
                <a:spcPts val="900"/>
              </a:spcAft>
            </a:pPr>
            <a:r>
              <a:rPr sz="1400">
                <a:solidFill>
                  <a:srgbClr val="0B0B0B"/>
                </a:solidFill>
                <a:latin typeface="Calibri"/>
              </a:rPr>
              <a:t>●   Separately: even with a return channel, the achievable margin needs framing as a processing-time bound (Hancke–Kuhn style), not a propagation-time bound — light-speed transit at ~15cm is sub-nanosecond, negligible against microcontroller response jitter. The measured 3–6ms end-to-end frame-processing figure is a defensible starting point for that argument, but only once framed correctly.</a:t>
            </a:r>
          </a:p>
        </p:txBody>
      </p:sp>
      <p:sp>
        <p:nvSpPr>
          <p:cNvPr id="5" name="TextBox 4"/>
          <p:cNvSpPr txBox="1"/>
          <p:nvPr/>
        </p:nvSpPr>
        <p:spPr>
          <a:xfrm>
            <a:off x="502920" y="6263640"/>
            <a:ext cx="11155680" cy="548640"/>
          </a:xfrm>
          <a:prstGeom prst="rect">
            <a:avLst/>
          </a:prstGeom>
          <a:noFill/>
        </p:spPr>
        <p:txBody>
          <a:bodyPr wrap="square">
            <a:spAutoFit/>
          </a:bodyPr>
          <a:lstStyle/>
          <a:p>
            <a:pPr algn="ctr"/>
            <a:r>
              <a:rPr sz="1250" i="0" b="1">
                <a:solidFill>
                  <a:srgbClr val="D03B3B"/>
                </a:solidFill>
                <a:latin typeface="Calibri"/>
              </a:rPr>
              <a:t>Correction needed in both the paper and this deck: 'architecturally compatible, not implemented' → 'requires a new physical return channel, not present in the evaluated hardware.'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